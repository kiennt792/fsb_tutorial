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3" r:id="rId3"/>
    <p:sldId id="285" r:id="rId4"/>
    <p:sldId id="257" r:id="rId5"/>
    <p:sldId id="258" r:id="rId6"/>
    <p:sldId id="284" r:id="rId7"/>
    <p:sldId id="259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7" r:id="rId24"/>
    <p:sldId id="301" r:id="rId25"/>
    <p:sldId id="302" r:id="rId26"/>
    <p:sldId id="303" r:id="rId27"/>
    <p:sldId id="304" r:id="rId28"/>
    <p:sldId id="305" r:id="rId29"/>
    <p:sldId id="306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14" y="-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12/01/2021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3</a:t>
            </a:r>
            <a:r>
              <a:rPr lang="vi-VN" sz="4400" b="1" smtClean="0"/>
              <a:t> 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smtClean="0"/>
              <a:t>MATLAB BASICS </a:t>
            </a:r>
            <a:endParaRPr lang="vi-VN" sz="3200" b="1" dirty="0"/>
          </a:p>
        </p:txBody>
      </p:sp>
    </p:spTree>
    <p:extLst>
      <p:ext uri="{BB962C8B-B14F-4D97-AF65-F5344CB8AC3E}">
        <p14:creationId xmlns:p14="http://schemas.microsoft.com/office/powerpoint/2010/main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WHAT WILL WE LEARN?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What is MATLAB?</a:t>
            </a:r>
          </a:p>
          <a:p>
            <a:r>
              <a:rPr lang="en-US" smtClean="0"/>
              <a:t>What programming environment does MATLAB offer?</a:t>
            </a:r>
          </a:p>
          <a:p>
            <a:r>
              <a:rPr lang="en-US" smtClean="0"/>
              <a:t>What are M-files?</a:t>
            </a:r>
          </a:p>
          <a:p>
            <a:r>
              <a:rPr lang="en-US" smtClean="0"/>
              <a:t>What is the difference between MATLAB scripts and functions?</a:t>
            </a:r>
          </a:p>
          <a:p>
            <a:r>
              <a:rPr lang="en-US" smtClean="0"/>
              <a:t>How can I get started with MATLAB?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Matlab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smtClean="0"/>
              <a:t>MATLAB = MATrix LABoratory</a:t>
            </a:r>
          </a:p>
          <a:p>
            <a:r>
              <a:rPr lang="en-US" sz="2600" smtClean="0"/>
              <a:t>Rich sets of specialized functions—encapsulated in </a:t>
            </a:r>
            <a:r>
              <a:rPr lang="en-US" sz="2600" i="1" smtClean="0"/>
              <a:t>toolboxes</a:t>
            </a:r>
          </a:p>
          <a:p>
            <a:r>
              <a:rPr lang="en-US" sz="2600" smtClean="0"/>
              <a:t>MATLAB documentation:</a:t>
            </a:r>
          </a:p>
          <a:p>
            <a:pPr>
              <a:buNone/>
            </a:pPr>
            <a:r>
              <a:rPr lang="en-US" sz="2600" smtClean="0"/>
              <a:t>			Command line help</a:t>
            </a:r>
          </a:p>
          <a:p>
            <a:pPr>
              <a:buNone/>
            </a:pPr>
            <a:r>
              <a:rPr lang="en-US" sz="2600" smtClean="0"/>
              <a:t>			http://www.mathworks.com</a:t>
            </a:r>
            <a:endParaRPr lang="en-US" sz="2600" i="1" smtClean="0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MATLAB </a:t>
            </a:r>
            <a:r>
              <a:rPr lang="en-US" smtClean="0"/>
              <a:t>R2013b </a:t>
            </a:r>
            <a:r>
              <a:rPr lang="en-US" smtClean="0"/>
              <a:t>Environment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9508" y="2464012"/>
            <a:ext cx="6760413" cy="3682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MATLAB Data Types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/>
              <a:t>MATLAB’s basic data type is the </a:t>
            </a:r>
            <a:r>
              <a:rPr lang="en-US" sz="2400" i="1" smtClean="0"/>
              <a:t>matrix (or array). </a:t>
            </a:r>
          </a:p>
          <a:p>
            <a:r>
              <a:rPr lang="en-US" sz="2400" smtClean="0"/>
              <a:t>All data are considered to be matrices</a:t>
            </a:r>
          </a:p>
          <a:p>
            <a:r>
              <a:rPr lang="en-US" sz="2400" smtClean="0"/>
              <a:t>Single values are considered by MATLAB to be 1×1 matrices.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7212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MATLAB Data Class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b="1" smtClean="0"/>
              <a:t>uint8</a:t>
            </a:r>
            <a:r>
              <a:rPr lang="en-US" sz="2400" smtClean="0"/>
              <a:t> 8-Bit unsigned integers</a:t>
            </a:r>
          </a:p>
          <a:p>
            <a:r>
              <a:rPr lang="en-US" sz="2400" b="1" smtClean="0"/>
              <a:t>uint16</a:t>
            </a:r>
            <a:r>
              <a:rPr lang="en-US" sz="2400" smtClean="0"/>
              <a:t> 16-Bit unsigned integers</a:t>
            </a:r>
          </a:p>
          <a:p>
            <a:r>
              <a:rPr lang="en-US" sz="2400" b="1" smtClean="0"/>
              <a:t>uint32</a:t>
            </a:r>
            <a:r>
              <a:rPr lang="en-US" sz="2400" smtClean="0"/>
              <a:t> 32-Bit unsigned integers</a:t>
            </a:r>
          </a:p>
          <a:p>
            <a:r>
              <a:rPr lang="en-US" sz="2400" b="1" smtClean="0"/>
              <a:t>int8</a:t>
            </a:r>
            <a:r>
              <a:rPr lang="en-US" sz="2400" smtClean="0"/>
              <a:t> 8-Bit signed integers</a:t>
            </a:r>
          </a:p>
          <a:p>
            <a:r>
              <a:rPr lang="en-US" sz="2400" b="1" smtClean="0"/>
              <a:t>int16</a:t>
            </a:r>
            <a:r>
              <a:rPr lang="en-US" sz="2400" smtClean="0"/>
              <a:t> 16-Bit signed integers</a:t>
            </a:r>
          </a:p>
          <a:p>
            <a:r>
              <a:rPr lang="en-US" sz="2400" b="1" smtClean="0"/>
              <a:t>int32</a:t>
            </a:r>
            <a:r>
              <a:rPr lang="en-US" sz="2400" smtClean="0"/>
              <a:t> 32-Bit signed integers</a:t>
            </a:r>
          </a:p>
          <a:p>
            <a:endParaRPr lang="en-US" sz="240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400" b="1" smtClean="0"/>
              <a:t>single</a:t>
            </a:r>
            <a:r>
              <a:rPr lang="en-US" sz="2400" smtClean="0"/>
              <a:t> Single-precision floating numbers (4 bytes)</a:t>
            </a:r>
          </a:p>
          <a:p>
            <a:r>
              <a:rPr lang="en-US" sz="2400" b="1" smtClean="0"/>
              <a:t>double</a:t>
            </a:r>
            <a:r>
              <a:rPr lang="en-US" sz="2400" smtClean="0"/>
              <a:t> Double-precision floating numbers (8 bytes)</a:t>
            </a:r>
          </a:p>
          <a:p>
            <a:r>
              <a:rPr lang="en-US" sz="2400" b="1" smtClean="0"/>
              <a:t>logical</a:t>
            </a:r>
            <a:r>
              <a:rPr lang="en-US" sz="2400" smtClean="0"/>
              <a:t> Values are 0 (false) or 1 (true) (1 bytes)</a:t>
            </a:r>
          </a:p>
          <a:p>
            <a:r>
              <a:rPr lang="en-US" sz="2400" b="1" smtClean="0"/>
              <a:t>char</a:t>
            </a:r>
            <a:r>
              <a:rPr lang="en-US" sz="2400" smtClean="0"/>
              <a:t> Characters (2 bytes)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vi-VN" sz="43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91846" y="666208"/>
            <a:ext cx="9013372" cy="558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438607" y="2147777"/>
            <a:ext cx="34502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class(), whos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5792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5126" y="385198"/>
            <a:ext cx="7990765" cy="5845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940056" y="1232848"/>
            <a:ext cx="271484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Some Constants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and Variables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Inf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NaN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pi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ans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eps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i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j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1623" y="454320"/>
            <a:ext cx="8058150" cy="607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854996" y="1254113"/>
            <a:ext cx="307635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Display format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compact/loose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long/short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longE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rat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hex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bank</a:t>
            </a:r>
          </a:p>
          <a:p>
            <a:r>
              <a:rPr lang="en-US" sz="2400" smtClean="0">
                <a:solidFill>
                  <a:srgbClr val="FF420E"/>
                </a:solidFill>
                <a:latin typeface="LiberationSans"/>
              </a:rPr>
              <a:t>...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1613" y="257175"/>
            <a:ext cx="9248775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348417" y="1212112"/>
            <a:ext cx="5114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>
                <a:solidFill>
                  <a:srgbClr val="FF6633"/>
                </a:solidFill>
                <a:latin typeface="LiberationSans"/>
              </a:rPr>
              <a:t>Strings are 1xn arrays of char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0966" y="544743"/>
            <a:ext cx="9271591" cy="564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77240" y="1828799"/>
            <a:ext cx="21500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Structures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9219" y="257175"/>
            <a:ext cx="10061169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462550" y="1054027"/>
            <a:ext cx="19233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Cell Arrays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507" y="129585"/>
            <a:ext cx="11206716" cy="6600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834270" y="1233952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Function Handles</a:t>
            </a:r>
          </a:p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similar to</a:t>
            </a:r>
          </a:p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function pointers in C/C++</a:t>
            </a:r>
          </a:p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delegates in C#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6029" y="577116"/>
            <a:ext cx="9399180" cy="5764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805347" y="1925897"/>
            <a:ext cx="1824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input, disp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037" y="302254"/>
            <a:ext cx="11164185" cy="629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429154" y="1021854"/>
            <a:ext cx="41821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Array and Matrix</a:t>
            </a:r>
          </a:p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Indexing and Slicing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Standard Arrays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78195" y="2560320"/>
            <a:ext cx="5465135" cy="3310128"/>
          </a:xfrm>
        </p:spPr>
        <p:txBody>
          <a:bodyPr>
            <a:noAutofit/>
          </a:bodyPr>
          <a:lstStyle/>
          <a:p>
            <a:pPr marL="274320" indent="-274320">
              <a:spcBef>
                <a:spcPts val="0"/>
              </a:spcBef>
              <a:spcAft>
                <a:spcPts val="0"/>
              </a:spcAft>
            </a:pPr>
            <a:r>
              <a:rPr lang="pt-BR" sz="2200" b="1" smtClean="0"/>
              <a:t>zeros(m,n) creates an m × n matrix of zeros.</a:t>
            </a:r>
          </a:p>
          <a:p>
            <a:pPr marL="274320" indent="-274320">
              <a:spcBef>
                <a:spcPts val="0"/>
              </a:spcBef>
              <a:spcAft>
                <a:spcPts val="0"/>
              </a:spcAft>
            </a:pPr>
            <a:r>
              <a:rPr lang="en-US" sz="2200" b="1" smtClean="0"/>
              <a:t>ones(m,n) creates an m × n matrix of ones.</a:t>
            </a:r>
          </a:p>
          <a:p>
            <a:pPr marL="274320" indent="-274320">
              <a:spcBef>
                <a:spcPts val="0"/>
              </a:spcBef>
              <a:spcAft>
                <a:spcPts val="0"/>
              </a:spcAft>
            </a:pPr>
            <a:r>
              <a:rPr lang="en-US" sz="2200" b="1" smtClean="0"/>
              <a:t>true(m,n) creates an m × n matrix of logical ones.</a:t>
            </a:r>
          </a:p>
          <a:p>
            <a:pPr marL="274320" indent="-274320">
              <a:spcBef>
                <a:spcPts val="0"/>
              </a:spcBef>
              <a:spcAft>
                <a:spcPts val="0"/>
              </a:spcAft>
            </a:pPr>
            <a:r>
              <a:rPr lang="en-US" sz="2200" b="1" smtClean="0"/>
              <a:t>false(m,n) creates an m × n matrix of logical zeros.</a:t>
            </a:r>
          </a:p>
          <a:p>
            <a:pPr marL="274320" indent="-274320">
              <a:spcBef>
                <a:spcPts val="0"/>
              </a:spcBef>
              <a:spcAft>
                <a:spcPts val="0"/>
              </a:spcAft>
            </a:pPr>
            <a:r>
              <a:rPr lang="en-US" sz="2200" b="1" smtClean="0"/>
              <a:t>eye(n) returns an n × n identity matrix.</a:t>
            </a:r>
          </a:p>
          <a:p>
            <a:pPr marL="274320" indent="-274320">
              <a:spcBef>
                <a:spcPts val="0"/>
              </a:spcBef>
              <a:spcAft>
                <a:spcPts val="0"/>
              </a:spcAft>
            </a:pPr>
            <a:r>
              <a:rPr lang="en-US" sz="2200" b="1" smtClean="0"/>
              <a:t>magic(m) returns a magic square2 of order m.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358270" y="2560320"/>
            <a:ext cx="4541378" cy="3310128"/>
          </a:xfrm>
        </p:spPr>
        <p:txBody>
          <a:bodyPr>
            <a:noAutofit/>
          </a:bodyPr>
          <a:lstStyle/>
          <a:p>
            <a:r>
              <a:rPr lang="en-US" sz="2200" b="1" smtClean="0"/>
              <a:t>rand(m,n) creates an m × n matrix whose entries are </a:t>
            </a:r>
            <a:r>
              <a:rPr lang="en-US" sz="2200" smtClean="0"/>
              <a:t>pseudorandom numbers uniformly distributed in the interval [0, 1].</a:t>
            </a:r>
          </a:p>
          <a:p>
            <a:r>
              <a:rPr lang="en-US" sz="2200" b="1" smtClean="0"/>
              <a:t>randn(m,n) creates an m × n matrix whose entries are </a:t>
            </a:r>
            <a:r>
              <a:rPr lang="en-US" sz="2200" smtClean="0"/>
              <a:t>pseudorandom numbers that follow a normal (i.e., Gaussian) distribution with mean 0 and variance 1.</a:t>
            </a:r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6567" y="0"/>
            <a:ext cx="11334307" cy="702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185891" y="1628185"/>
            <a:ext cx="49600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zeros, ones, eye, true, rand ...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3559" y="502388"/>
            <a:ext cx="11297315" cy="615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498200" y="4222530"/>
            <a:ext cx="2263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0000"/>
                </a:solidFill>
                <a:latin typeface="LiberationSans"/>
              </a:rPr>
              <a:t>M-file (script)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871330" y="999460"/>
            <a:ext cx="893135" cy="4678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2892" y="467833"/>
            <a:ext cx="11259569" cy="5847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517213" y="4286325"/>
            <a:ext cx="26645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0000"/>
                </a:solidFill>
                <a:latin typeface="LiberationSans"/>
              </a:rPr>
              <a:t>M-file (function)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871330" y="999460"/>
            <a:ext cx="893135" cy="3189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32290" y="1488555"/>
            <a:ext cx="893135" cy="4678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833" y="295096"/>
            <a:ext cx="11249246" cy="612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941272" y="4562772"/>
            <a:ext cx="4536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if … [elseif …] [else …] end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628" y="446568"/>
            <a:ext cx="11164186" cy="608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190565" y="2627645"/>
            <a:ext cx="26228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for/while ... end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425" y="395399"/>
            <a:ext cx="11111798" cy="6143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587873" y="458603"/>
            <a:ext cx="3642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Arithmetic Operations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4400" y="637954"/>
            <a:ext cx="9611833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smtClean="0">
                <a:solidFill>
                  <a:srgbClr val="FF0000"/>
                </a:solidFill>
              </a:rPr>
              <a:t>Exercises:</a:t>
            </a:r>
          </a:p>
          <a:p>
            <a:r>
              <a:rPr lang="en-US" sz="2800" smtClean="0"/>
              <a:t>1.  Perform matrix multiplication on two matrices.</a:t>
            </a:r>
          </a:p>
          <a:p>
            <a:pPr lvl="1"/>
            <a:r>
              <a:rPr lang="en-US" sz="2800" b="1" smtClean="0"/>
              <a:t>X = [1 2 -2; 0 -3 4; 7 3 0]</a:t>
            </a:r>
          </a:p>
          <a:p>
            <a:pPr lvl="1"/>
            <a:r>
              <a:rPr lang="es-ES" sz="2800" b="1" smtClean="0"/>
              <a:t>Y = [1 0 -1; 2 3 -5; 1 3 5]</a:t>
            </a:r>
          </a:p>
          <a:p>
            <a:pPr lvl="1"/>
            <a:r>
              <a:rPr lang="en-US" sz="2800" b="1" smtClean="0"/>
              <a:t>X * Y</a:t>
            </a:r>
          </a:p>
          <a:p>
            <a:r>
              <a:rPr lang="en-US" sz="2800" smtClean="0"/>
              <a:t>2. Perform element-by-element multiplication.</a:t>
            </a:r>
          </a:p>
          <a:p>
            <a:r>
              <a:rPr lang="en-US" sz="2800" b="1" smtClean="0"/>
              <a:t>	X .* Y</a:t>
            </a:r>
          </a:p>
          <a:p>
            <a:r>
              <a:rPr lang="en-US" sz="2800" smtClean="0"/>
              <a:t>3. Perform another matrix multiplication on two matrices.</a:t>
            </a:r>
          </a:p>
          <a:p>
            <a:pPr lvl="1"/>
            <a:r>
              <a:rPr lang="en-US" sz="2800" b="1" smtClean="0"/>
              <a:t>X = eye(3,4)</a:t>
            </a:r>
          </a:p>
          <a:p>
            <a:pPr lvl="1"/>
            <a:r>
              <a:rPr lang="en-US" sz="2800" b="1" smtClean="0"/>
              <a:t>Y = rand(4,2)</a:t>
            </a:r>
          </a:p>
          <a:p>
            <a:pPr lvl="1"/>
            <a:r>
              <a:rPr lang="en-US" sz="2800" b="1" smtClean="0"/>
              <a:t>X * Y</a:t>
            </a:r>
          </a:p>
          <a:p>
            <a:pPr lvl="1"/>
            <a:r>
              <a:rPr lang="en-US" sz="2800" b="1" smtClean="0"/>
              <a:t>Y * X</a:t>
            </a:r>
            <a:endParaRPr 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5544" y="1224457"/>
            <a:ext cx="10802679" cy="5155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486761" y="692520"/>
            <a:ext cx="49632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Specialized Matrix Operations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5142" y="440919"/>
            <a:ext cx="481965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890438" y="1117821"/>
            <a:ext cx="42027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Relational Operators</a:t>
            </a:r>
            <a:endParaRPr lang="en-US" sz="2800"/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464050" y="2771775"/>
            <a:ext cx="7727950" cy="373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67293" y="1009318"/>
            <a:ext cx="4137025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91869" y="3161635"/>
            <a:ext cx="970597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950076" y="1045911"/>
            <a:ext cx="5448026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30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a typeface="+mj-ea"/>
                <a:cs typeface="Arial" panose="020B0604020202020204" pitchFamily="34" charset="0"/>
              </a:rPr>
              <a:t>Logical Operators and Logical Functions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9098" y="467832"/>
            <a:ext cx="11249246" cy="6018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554730" y="968966"/>
            <a:ext cx="39502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Logical Operators and Logical Functions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0243" y="446568"/>
            <a:ext cx="11313042" cy="6018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838705" y="1309208"/>
            <a:ext cx="26939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>
                <a:solidFill>
                  <a:srgbClr val="FF420E"/>
                </a:solidFill>
                <a:latin typeface="LiberationSans"/>
              </a:rPr>
              <a:t>Fun in MATLAB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0967" y="1616149"/>
            <a:ext cx="91227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smtClean="0">
                <a:solidFill>
                  <a:srgbClr val="3C3C3C"/>
                </a:solidFill>
                <a:latin typeface="LiberationSans"/>
              </a:rPr>
              <a:t>Homework</a:t>
            </a:r>
            <a:endParaRPr lang="en-US" sz="4800" smtClean="0">
              <a:solidFill>
                <a:srgbClr val="FF0000"/>
              </a:solidFill>
              <a:latin typeface="LiberationSans"/>
            </a:endParaRPr>
          </a:p>
          <a:p>
            <a:r>
              <a:rPr lang="en-US" sz="3200" smtClean="0">
                <a:solidFill>
                  <a:srgbClr val="3C3C3C"/>
                </a:solidFill>
                <a:latin typeface="OpenSymbol"/>
              </a:rPr>
              <a:t>● </a:t>
            </a:r>
            <a:r>
              <a:rPr lang="en-US" sz="3200" smtClean="0">
                <a:solidFill>
                  <a:srgbClr val="3C3C3C"/>
                </a:solidFill>
                <a:latin typeface="LiberationSans"/>
              </a:rPr>
              <a:t>Exercises in the end of </a:t>
            </a:r>
            <a:r>
              <a:rPr lang="en-US" sz="3200" b="1" smtClean="0">
                <a:solidFill>
                  <a:srgbClr val="3C3C3C"/>
                </a:solidFill>
                <a:latin typeface="LiberationSans-Bold"/>
              </a:rPr>
              <a:t>Chapter 3 </a:t>
            </a:r>
            <a:r>
              <a:rPr lang="en-US" sz="3200" b="1" smtClean="0">
                <a:solidFill>
                  <a:srgbClr val="3C3C3C"/>
                </a:solidFill>
                <a:latin typeface="LiberationSans"/>
              </a:rPr>
              <a:t>of textbook.</a:t>
            </a:r>
            <a:endParaRPr lang="en-US"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1 - Introduction and Overview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1 - Introduction and Overview</Template>
  <TotalTime>678</TotalTime>
  <Words>450</Words>
  <Application>Microsoft Office PowerPoint</Application>
  <PresentationFormat>Custom</PresentationFormat>
  <Paragraphs>92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Chapter 1 - Introduction and Overview</vt:lpstr>
      <vt:lpstr>CHAPTER 3 </vt:lpstr>
      <vt:lpstr>WHAT WILL WE LEARN?</vt:lpstr>
      <vt:lpstr>Introduction to Matlab</vt:lpstr>
      <vt:lpstr>MATLAB R2013b Environment</vt:lpstr>
      <vt:lpstr>MATLAB Data Types</vt:lpstr>
      <vt:lpstr>MATLAB Data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Standard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Thuy Nguyen</dc:creator>
  <cp:lastModifiedBy>Nguyen </cp:lastModifiedBy>
  <cp:revision>41</cp:revision>
  <dcterms:created xsi:type="dcterms:W3CDTF">2017-05-10T07:52:44Z</dcterms:created>
  <dcterms:modified xsi:type="dcterms:W3CDTF">2021-01-12T08:14:02Z</dcterms:modified>
</cp:coreProperties>
</file>
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-486" y="-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4099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89758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73321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9028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3774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0997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2295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66013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8191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8177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95454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5930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9270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175601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8492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38428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42135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1622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EF59C9-AC0B-4896-9217-64A6B5201B25}" type="datetimeFigureOut">
              <a:rPr lang="vi-VN" smtClean="0"/>
              <a:pPr/>
              <a:t>19/05/2017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2706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smtClean="0"/>
              <a:t>CHAPTER 5</a:t>
            </a:r>
            <a:endParaRPr lang="vi-V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smtClean="0"/>
              <a:t>IMAGE SENSING AND ACQUISITION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xmlns="" val="122089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WHAT WILL WE LEARN?</a:t>
            </a:r>
            <a:endParaRPr lang="vi-VN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What are the main parameters involved in the design of an image acquisition solution?</a:t>
            </a:r>
          </a:p>
          <a:p>
            <a:r>
              <a:rPr lang="en-US" smtClean="0"/>
              <a:t>How do contemporary image sensors work?</a:t>
            </a:r>
          </a:p>
          <a:p>
            <a:r>
              <a:rPr lang="en-US" smtClean="0"/>
              <a:t>What is image digitization and what are the main parameters that impact the digitization of an image or video clip?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What is sampling?</a:t>
            </a:r>
          </a:p>
          <a:p>
            <a:r>
              <a:rPr lang="en-US" smtClean="0"/>
              <a:t>What is quantization?</a:t>
            </a:r>
          </a:p>
          <a:p>
            <a:r>
              <a:rPr lang="en-US" smtClean="0"/>
              <a:t>How can I use MATLAB to resample or requantize an image?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46310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Image acquisition, formation, and digitization</a:t>
            </a:r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81312" y="2582863"/>
            <a:ext cx="6429375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Types of Images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smtClean="0">
                <a:latin typeface="Arial" pitchFamily="34" charset="0"/>
                <a:cs typeface="Arial" pitchFamily="34" charset="0"/>
              </a:rPr>
              <a:t>Images can be classified into </a:t>
            </a:r>
            <a:r>
              <a:rPr lang="en-US" sz="3200" smtClean="0">
                <a:latin typeface="Arial" pitchFamily="34" charset="0"/>
                <a:cs typeface="Arial" pitchFamily="34" charset="0"/>
              </a:rPr>
              <a:t>three </a:t>
            </a:r>
            <a:r>
              <a:rPr lang="en-US" sz="3200" smtClean="0">
                <a:latin typeface="Arial" pitchFamily="34" charset="0"/>
                <a:cs typeface="Arial" pitchFamily="34" charset="0"/>
              </a:rPr>
              <a:t>categories</a:t>
            </a:r>
          </a:p>
          <a:p>
            <a:pPr lvl="1"/>
            <a:r>
              <a:rPr lang="en-US" sz="2400" i="1" smtClean="0">
                <a:latin typeface="Arial" pitchFamily="34" charset="0"/>
                <a:cs typeface="Arial" pitchFamily="34" charset="0"/>
              </a:rPr>
              <a:t>Reflection Images (ảnh phản chiếu - </a:t>
            </a:r>
            <a:r>
              <a:rPr lang="en-US" sz="2400" smtClean="0">
                <a:latin typeface="Arial" pitchFamily="34" charset="0"/>
                <a:cs typeface="Arial" pitchFamily="34" charset="0"/>
              </a:rPr>
              <a:t>surfaces </a:t>
            </a:r>
            <a:r>
              <a:rPr lang="en-US" sz="2400" smtClean="0">
                <a:latin typeface="Arial" pitchFamily="34" charset="0"/>
                <a:cs typeface="Arial" pitchFamily="34" charset="0"/>
              </a:rPr>
              <a:t>of </a:t>
            </a:r>
            <a:r>
              <a:rPr lang="en-US" sz="2400" smtClean="0">
                <a:latin typeface="Arial" pitchFamily="34" charset="0"/>
                <a:cs typeface="Arial" pitchFamily="34" charset="0"/>
              </a:rPr>
              <a:t>objects</a:t>
            </a:r>
            <a:r>
              <a:rPr lang="en-US" sz="2400" i="1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lvl="1"/>
            <a:r>
              <a:rPr lang="en-US" sz="2400" i="1" smtClean="0">
                <a:latin typeface="Arial" pitchFamily="34" charset="0"/>
                <a:cs typeface="Arial" pitchFamily="34" charset="0"/>
              </a:rPr>
              <a:t>Emission Images (ảnh phát xạ - stars and light bulbs)</a:t>
            </a:r>
          </a:p>
          <a:p>
            <a:pPr lvl="1"/>
            <a:r>
              <a:rPr lang="en-US" sz="2400" i="1" smtClean="0">
                <a:latin typeface="Arial" pitchFamily="34" charset="0"/>
                <a:cs typeface="Arial" pitchFamily="34" charset="0"/>
              </a:rPr>
              <a:t>Absorption Images (ảnh hấp thụ) (X-ray image)</a:t>
            </a:r>
            <a:endParaRPr lang="en-US" i="1" smtClean="0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smtClean="0"/>
              <a:t>Color Encoding and Representation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Human perception </a:t>
            </a:r>
            <a:r>
              <a:rPr lang="en-US" smtClean="0"/>
              <a:t>of </a:t>
            </a:r>
            <a:r>
              <a:rPr lang="en-US" smtClean="0"/>
              <a:t>light is describded in 3 parameters:</a:t>
            </a:r>
          </a:p>
          <a:p>
            <a:pPr lvl="1"/>
            <a:r>
              <a:rPr lang="en-US" i="1" smtClean="0"/>
              <a:t>Brightness</a:t>
            </a:r>
          </a:p>
          <a:p>
            <a:pPr lvl="1"/>
            <a:r>
              <a:rPr lang="en-US" i="1" smtClean="0"/>
              <a:t>Hue</a:t>
            </a:r>
          </a:p>
          <a:p>
            <a:pPr lvl="1"/>
            <a:r>
              <a:rPr lang="en-US" i="1" smtClean="0"/>
              <a:t>Saturation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IMAGE </a:t>
            </a:r>
            <a:r>
              <a:rPr lang="en-US" b="1" smtClean="0"/>
              <a:t>ACQUISITION</a:t>
            </a:r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324640" y="2557463"/>
            <a:ext cx="3542720" cy="331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Camera Optics</a:t>
            </a:r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609975" y="2479674"/>
            <a:ext cx="4646598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235200" y="4826000"/>
            <a:ext cx="8953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smtClean="0"/>
              <a:t>Examples of lens aberrations</a:t>
            </a:r>
            <a:r>
              <a:rPr lang="en-US" sz="3600" smtClean="0"/>
              <a:t>: </a:t>
            </a:r>
            <a:endParaRPr lang="en-US" sz="3600" smtClean="0"/>
          </a:p>
          <a:p>
            <a:r>
              <a:rPr lang="en-US" sz="3600" smtClean="0"/>
              <a:t>(</a:t>
            </a:r>
            <a:r>
              <a:rPr lang="en-US" sz="3600" smtClean="0"/>
              <a:t>a) pincushion distortion; (b) barrel distortion</a:t>
            </a:r>
            <a:endParaRPr lang="en-US"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IMAGE DIGITIZATION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Two </a:t>
            </a:r>
            <a:r>
              <a:rPr lang="en-US" smtClean="0"/>
              <a:t>processes </a:t>
            </a:r>
            <a:endParaRPr lang="en-US" smtClean="0"/>
          </a:p>
          <a:p>
            <a:pPr lvl="1"/>
            <a:r>
              <a:rPr lang="en-US" i="1" smtClean="0"/>
              <a:t>Sampling</a:t>
            </a:r>
          </a:p>
          <a:p>
            <a:pPr lvl="1"/>
            <a:r>
              <a:rPr lang="en-US" i="1" smtClean="0"/>
              <a:t>Quantization</a:t>
            </a:r>
          </a:p>
          <a:p>
            <a:pPr lvl="1"/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401460" y="2286000"/>
            <a:ext cx="2757102" cy="400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IMAGE DIGITIZATION</a:t>
            </a:r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076700" y="3016250"/>
            <a:ext cx="403860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3467100" y="5664200"/>
            <a:ext cx="5219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/>
              <a:t>Digitization = sampling + quantization</a:t>
            </a:r>
            <a:endParaRPr 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Sampling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Sampling is the process of measuring the value of a 2D function at </a:t>
            </a:r>
            <a:r>
              <a:rPr lang="en-US" smtClean="0"/>
              <a:t>discrete </a:t>
            </a:r>
            <a:r>
              <a:rPr lang="en-US" smtClean="0"/>
              <a:t>intervals along </a:t>
            </a:r>
            <a:r>
              <a:rPr lang="en-US" smtClean="0"/>
              <a:t>the x and y </a:t>
            </a:r>
            <a:r>
              <a:rPr lang="en-US" smtClean="0"/>
              <a:t>dimensions</a:t>
            </a:r>
            <a:r>
              <a:rPr lang="en-US" smtClean="0"/>
              <a:t>.</a:t>
            </a:r>
          </a:p>
          <a:p>
            <a:r>
              <a:rPr lang="en-US" smtClean="0"/>
              <a:t>Two parameters must be taken into account when </a:t>
            </a:r>
            <a:r>
              <a:rPr lang="en-US" smtClean="0"/>
              <a:t>sampling </a:t>
            </a:r>
            <a:r>
              <a:rPr lang="en-US" smtClean="0"/>
              <a:t>images</a:t>
            </a:r>
          </a:p>
          <a:p>
            <a:pPr lvl="1"/>
            <a:r>
              <a:rPr lang="en-US" i="1" smtClean="0"/>
              <a:t>sampling </a:t>
            </a:r>
            <a:r>
              <a:rPr lang="en-US" i="1" smtClean="0"/>
              <a:t>rate: </a:t>
            </a:r>
            <a:r>
              <a:rPr lang="en-US" smtClean="0"/>
              <a:t>number of samples across the height and </a:t>
            </a:r>
            <a:r>
              <a:rPr lang="en-US" smtClean="0"/>
              <a:t>width </a:t>
            </a:r>
            <a:r>
              <a:rPr lang="en-US" smtClean="0"/>
              <a:t>of the </a:t>
            </a:r>
            <a:r>
              <a:rPr lang="en-US" smtClean="0"/>
              <a:t>image</a:t>
            </a:r>
            <a:endParaRPr lang="en-US" i="1" smtClean="0"/>
          </a:p>
          <a:p>
            <a:pPr lvl="1"/>
            <a:r>
              <a:rPr lang="en-US" i="1" smtClean="0"/>
              <a:t>sampling </a:t>
            </a:r>
            <a:r>
              <a:rPr lang="en-US" i="1" smtClean="0"/>
              <a:t>pattern: </a:t>
            </a:r>
            <a:r>
              <a:rPr lang="en-US" smtClean="0"/>
              <a:t>the physical arrangement of the samples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Sampling</a:t>
            </a:r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60600" y="2514600"/>
            <a:ext cx="7747000" cy="309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193800" y="5689600"/>
            <a:ext cx="1031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Both"/>
            </a:pPr>
            <a:r>
              <a:rPr lang="en-US" smtClean="0"/>
              <a:t>sampling process,  (</a:t>
            </a:r>
            <a:r>
              <a:rPr lang="en-US" smtClean="0"/>
              <a:t>b</a:t>
            </a:r>
            <a:r>
              <a:rPr lang="en-US" smtClean="0"/>
              <a:t>) </a:t>
            </a:r>
            <a:r>
              <a:rPr lang="en-US" smtClean="0"/>
              <a:t>result of reconstructing a signal from an appropriate </a:t>
            </a:r>
            <a:r>
              <a:rPr lang="en-US" smtClean="0"/>
              <a:t>number </a:t>
            </a:r>
            <a:r>
              <a:rPr lang="en-US" smtClean="0"/>
              <a:t>of samples</a:t>
            </a:r>
            <a:r>
              <a:rPr lang="en-US" smtClean="0"/>
              <a:t>, </a:t>
            </a:r>
            <a:endParaRPr lang="en-US" smtClean="0"/>
          </a:p>
          <a:p>
            <a:pPr marL="342900" indent="-342900"/>
            <a:r>
              <a:rPr lang="en-US" smtClean="0"/>
              <a:t>(</a:t>
            </a:r>
            <a:r>
              <a:rPr lang="en-US" smtClean="0"/>
              <a:t>c</a:t>
            </a:r>
            <a:r>
              <a:rPr lang="en-US" smtClean="0"/>
              <a:t>) </a:t>
            </a:r>
            <a:r>
              <a:rPr lang="en-US" smtClean="0"/>
              <a:t>the </a:t>
            </a:r>
            <a:r>
              <a:rPr lang="en-US" smtClean="0"/>
              <a:t>same number of samples as in (b) </a:t>
            </a:r>
            <a:r>
              <a:rPr lang="en-US" smtClean="0"/>
              <a:t>would </a:t>
            </a:r>
            <a:r>
              <a:rPr lang="en-US" smtClean="0"/>
              <a:t>be insufficient </a:t>
            </a:r>
            <a:r>
              <a:rPr lang="en-US" smtClean="0"/>
              <a:t>to reconstruct a signal with higher frequency</a:t>
            </a:r>
            <a:r>
              <a:rPr lang="en-US" smtClean="0"/>
              <a:t>. 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Quantization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mtClean="0"/>
              <a:t>Quantization is the process of replacing </a:t>
            </a:r>
            <a:r>
              <a:rPr lang="en-US" smtClean="0"/>
              <a:t>a </a:t>
            </a:r>
            <a:r>
              <a:rPr lang="en-US" smtClean="0"/>
              <a:t>continuously </a:t>
            </a:r>
            <a:r>
              <a:rPr lang="en-US" smtClean="0"/>
              <a:t>varying function with </a:t>
            </a:r>
            <a:r>
              <a:rPr lang="en-US" smtClean="0"/>
              <a:t>a </a:t>
            </a:r>
            <a:r>
              <a:rPr lang="en-US" smtClean="0"/>
              <a:t>discrete set </a:t>
            </a:r>
            <a:r>
              <a:rPr lang="en-US" smtClean="0"/>
              <a:t>of </a:t>
            </a:r>
            <a:r>
              <a:rPr lang="en-US" smtClean="0"/>
              <a:t>quantization </a:t>
            </a:r>
            <a:r>
              <a:rPr lang="en-US" smtClean="0"/>
              <a:t>levels.</a:t>
            </a:r>
          </a:p>
          <a:p>
            <a:r>
              <a:rPr lang="en-US" smtClean="0"/>
              <a:t>Image quantization can be described as a mapping process by which groups </a:t>
            </a:r>
            <a:r>
              <a:rPr lang="en-US" smtClean="0"/>
              <a:t>of </a:t>
            </a:r>
            <a:r>
              <a:rPr lang="en-US" smtClean="0"/>
              <a:t>data points </a:t>
            </a:r>
            <a:r>
              <a:rPr lang="en-US" smtClean="0"/>
              <a:t>(several pixels within a range of gray values) are mapped to a </a:t>
            </a:r>
            <a:r>
              <a:rPr lang="en-US" smtClean="0"/>
              <a:t>single </a:t>
            </a:r>
            <a:r>
              <a:rPr lang="en-US" smtClean="0"/>
              <a:t>point.</a:t>
            </a:r>
          </a:p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297612" y="2475706"/>
            <a:ext cx="4314925" cy="2858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477000" y="5473700"/>
            <a:ext cx="469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A mapping function for </a:t>
            </a:r>
            <a:r>
              <a:rPr lang="en-US" smtClean="0"/>
              <a:t>uniform </a:t>
            </a:r>
            <a:r>
              <a:rPr lang="en-US" smtClean="0"/>
              <a:t>quantization</a:t>
            </a:r>
          </a:p>
          <a:p>
            <a:r>
              <a:rPr lang="en-US" smtClean="0"/>
              <a:t> </a:t>
            </a:r>
            <a:r>
              <a:rPr lang="en-US" smtClean="0"/>
              <a:t>(</a:t>
            </a:r>
            <a:r>
              <a:rPr lang="en-US" i="1" smtClean="0"/>
              <a:t>N = 4).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Spatial and Gray-Level Resolution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Spatial </a:t>
            </a:r>
            <a:r>
              <a:rPr lang="en-US" smtClean="0"/>
              <a:t>resolution expresses the </a:t>
            </a:r>
            <a:r>
              <a:rPr lang="en-US" smtClean="0"/>
              <a:t>density of pixels in </a:t>
            </a:r>
            <a:r>
              <a:rPr lang="en-US" smtClean="0"/>
              <a:t>an </a:t>
            </a:r>
            <a:r>
              <a:rPr lang="en-US" smtClean="0"/>
              <a:t>image (</a:t>
            </a:r>
            <a:r>
              <a:rPr lang="en-US" smtClean="0"/>
              <a:t>dots </a:t>
            </a:r>
            <a:r>
              <a:rPr lang="en-US" smtClean="0"/>
              <a:t>per inch </a:t>
            </a:r>
            <a:r>
              <a:rPr lang="en-US" smtClean="0"/>
              <a:t>(</a:t>
            </a:r>
            <a:r>
              <a:rPr lang="en-US" smtClean="0"/>
              <a:t>dpi</a:t>
            </a:r>
            <a:r>
              <a:rPr lang="en-US" smtClean="0"/>
              <a:t>))</a:t>
            </a:r>
          </a:p>
          <a:p>
            <a:r>
              <a:rPr lang="en-US" smtClean="0"/>
              <a:t>Example: the </a:t>
            </a:r>
            <a:r>
              <a:rPr lang="en-US" smtClean="0"/>
              <a:t>original </a:t>
            </a:r>
            <a:r>
              <a:rPr lang="en-US" smtClean="0"/>
              <a:t>image </a:t>
            </a:r>
            <a:r>
              <a:rPr lang="en-US" smtClean="0"/>
              <a:t>(a</a:t>
            </a:r>
            <a:r>
              <a:rPr lang="en-US" smtClean="0"/>
              <a:t>) is of size 1944 × 2592 and it </a:t>
            </a:r>
            <a:r>
              <a:rPr lang="en-US" smtClean="0"/>
              <a:t>is </a:t>
            </a:r>
            <a:r>
              <a:rPr lang="en-US" smtClean="0"/>
              <a:t>displayed at </a:t>
            </a:r>
            <a:r>
              <a:rPr lang="en-US" smtClean="0"/>
              <a:t>1250 dpi. The three other </a:t>
            </a:r>
            <a:r>
              <a:rPr lang="en-US" smtClean="0"/>
              <a:t>images </a:t>
            </a:r>
            <a:r>
              <a:rPr lang="en-US" smtClean="0"/>
              <a:t>(b - d</a:t>
            </a:r>
            <a:r>
              <a:rPr lang="en-US" smtClean="0"/>
              <a:t>) have </a:t>
            </a:r>
            <a:r>
              <a:rPr lang="en-US" smtClean="0"/>
              <a:t>reduced </a:t>
            </a:r>
            <a:r>
              <a:rPr lang="en-US" smtClean="0"/>
              <a:t>spatial resolution </a:t>
            </a:r>
            <a:r>
              <a:rPr lang="en-US" smtClean="0"/>
              <a:t>to 300, 150, and 72 dpi, respectively</a:t>
            </a:r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97579" y="2560638"/>
            <a:ext cx="4086342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In MATLAB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smtClean="0">
                <a:latin typeface="Courier New" pitchFamily="49" charset="0"/>
                <a:cs typeface="Courier New" pitchFamily="49" charset="0"/>
              </a:rPr>
              <a:t>g</a:t>
            </a:r>
            <a:r>
              <a:rPr lang="en-US" b="1" smtClean="0">
                <a:latin typeface="Courier New" pitchFamily="49" charset="0"/>
                <a:cs typeface="Courier New" pitchFamily="49" charset="0"/>
              </a:rPr>
              <a:t>rayslice</a:t>
            </a:r>
            <a:r>
              <a:rPr lang="en-US" smtClean="0">
                <a:latin typeface="COM"/>
              </a:rPr>
              <a:t> </a:t>
            </a:r>
          </a:p>
          <a:p>
            <a:pPr lvl="1">
              <a:buNone/>
            </a:pPr>
            <a:r>
              <a:rPr lang="en-US" smtClean="0"/>
              <a:t>I1 </a:t>
            </a:r>
            <a:r>
              <a:rPr lang="en-US" smtClean="0"/>
              <a:t>= </a:t>
            </a:r>
            <a:r>
              <a:rPr lang="en-US" smtClean="0"/>
              <a:t> imread</a:t>
            </a:r>
            <a:r>
              <a:rPr lang="en-US" smtClean="0"/>
              <a:t>(’ml_gray_640_by_480_256.png’);</a:t>
            </a:r>
          </a:p>
          <a:p>
            <a:pPr lvl="1">
              <a:buNone/>
            </a:pPr>
            <a:r>
              <a:rPr lang="en-US" smtClean="0"/>
              <a:t>I2 = grayslice(I1,128); figure, imshow(I2,gray(128));</a:t>
            </a:r>
          </a:p>
          <a:p>
            <a:pPr lvl="1">
              <a:buNone/>
            </a:pPr>
            <a:r>
              <a:rPr lang="en-US" smtClean="0"/>
              <a:t>I3 = grayslice(I1,64); figure, imshow(I3,gray(64));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PROBLEMS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5.1-5.3 page 101-102 in textbook</a:t>
            </a:r>
          </a:p>
          <a:p>
            <a:r>
              <a:rPr lang="en-US" smtClean="0"/>
              <a:t>Practice</a:t>
            </a:r>
            <a:r>
              <a:rPr lang="en-US" smtClean="0"/>
              <a:t>: </a:t>
            </a:r>
            <a:r>
              <a:rPr lang="en-US" smtClean="0"/>
              <a:t>write a function </a:t>
            </a:r>
            <a:r>
              <a:rPr lang="en-US" smtClean="0"/>
              <a:t>to </a:t>
            </a:r>
            <a:r>
              <a:rPr lang="en-US" smtClean="0"/>
              <a:t>quantize an image.</a:t>
            </a:r>
            <a:endParaRPr lang="en-US" smtClean="0"/>
          </a:p>
          <a:p>
            <a:pPr>
              <a:buNone/>
            </a:pPr>
            <a:r>
              <a:rPr lang="en-US" smtClean="0"/>
              <a:t>   (see Quantization.m)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pter 1 - Introduction and Overview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1 - Introduction and Overview</Template>
  <TotalTime>2387</TotalTime>
  <Words>449</Words>
  <Application>Microsoft Office PowerPoint</Application>
  <PresentationFormat>Custom</PresentationFormat>
  <Paragraphs>55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Chapter 1 - Introduction and Overview</vt:lpstr>
      <vt:lpstr>CHAPTER 5</vt:lpstr>
      <vt:lpstr>WHAT WILL WE LEARN?</vt:lpstr>
      <vt:lpstr>Image acquisition, formation, and digitization</vt:lpstr>
      <vt:lpstr>Types of Images</vt:lpstr>
      <vt:lpstr>Color Encoding and Representation</vt:lpstr>
      <vt:lpstr>IMAGE ACQUISITION</vt:lpstr>
      <vt:lpstr>Camera Optics</vt:lpstr>
      <vt:lpstr>IMAGE DIGITIZATION</vt:lpstr>
      <vt:lpstr>IMAGE DIGITIZATION</vt:lpstr>
      <vt:lpstr>Sampling</vt:lpstr>
      <vt:lpstr>Sampling</vt:lpstr>
      <vt:lpstr>Quantization</vt:lpstr>
      <vt:lpstr>Spatial and Gray-Level Resolution</vt:lpstr>
      <vt:lpstr>In MATLAB</vt:lpstr>
      <vt:lpstr>PROBLEMS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Thuy Nguyen</dc:creator>
  <cp:lastModifiedBy>Thuy Nguyen</cp:lastModifiedBy>
  <cp:revision>22</cp:revision>
  <dcterms:created xsi:type="dcterms:W3CDTF">2017-05-10T23:12:06Z</dcterms:created>
  <dcterms:modified xsi:type="dcterms:W3CDTF">2017-05-21T00:00:06Z</dcterms:modified>
</cp:coreProperties>
</file>
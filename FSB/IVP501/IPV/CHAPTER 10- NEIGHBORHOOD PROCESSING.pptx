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-12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409966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8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600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897588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7332100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9028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377413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09971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322958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66013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81914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817764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95454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55930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19270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3175601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7849253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384280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41421358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616223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FEF59C9-AC0B-4896-9217-64A6B5201B25}" type="datetimeFigureOut">
              <a:rPr lang="vi-VN" smtClean="0"/>
              <a:pPr/>
              <a:t>20/11/2019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D7DFF4C-B055-40F6-B08C-CE9D9467D3F9}" type="slidenum">
              <a:rPr lang="vi-VN" smtClean="0"/>
              <a:pPr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xmlns="" val="2627066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8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smtClean="0"/>
              <a:t>CHAPTER 10</a:t>
            </a:r>
            <a:endParaRPr lang="vi-VN" sz="44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smtClean="0"/>
              <a:t>NEIGHBORHOOD PROCESSING</a:t>
            </a:r>
            <a:endParaRPr lang="vi-VN" sz="3200" dirty="0"/>
          </a:p>
        </p:txBody>
      </p:sp>
    </p:spTree>
    <p:extLst>
      <p:ext uri="{BB962C8B-B14F-4D97-AF65-F5344CB8AC3E}">
        <p14:creationId xmlns:p14="http://schemas.microsoft.com/office/powerpoint/2010/main" xmlns="" val="122089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b="1" dirty="0"/>
              <a:t>WHAT WILL WE LEARN?</a:t>
            </a:r>
            <a:endParaRPr lang="vi-VN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What is neighborhood processing and how does it differ from point processing?</a:t>
            </a:r>
          </a:p>
          <a:p>
            <a:r>
              <a:rPr lang="en-US" smtClean="0"/>
              <a:t>What is convolution and how is it used to process digital images?</a:t>
            </a:r>
          </a:p>
          <a:p>
            <a:r>
              <a:rPr lang="en-US" smtClean="0"/>
              <a:t>What is a low-pass linear filter, what is it used for, and howcan it be implemented using 2D convolution?</a:t>
            </a:r>
          </a:p>
          <a:p>
            <a:endParaRPr lang="en-US" smtClean="0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What is a median filter and what is it used for?</a:t>
            </a:r>
          </a:p>
          <a:p>
            <a:r>
              <a:rPr lang="en-US" smtClean="0"/>
              <a:t>What is a high-pass linear filter, what is it used for, and howcan it be implemented using 2D convolution?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4631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NEIGHBORHOOD PROCESSING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Main steps: </a:t>
            </a:r>
          </a:p>
          <a:p>
            <a:pPr lvl="1"/>
            <a:r>
              <a:rPr lang="en-US" smtClean="0"/>
              <a:t>Define a reference point in the input image, </a:t>
            </a:r>
            <a:r>
              <a:rPr lang="en-US" i="1" smtClean="0"/>
              <a:t>f(x0, y0). </a:t>
            </a:r>
          </a:p>
          <a:p>
            <a:pPr lvl="1"/>
            <a:r>
              <a:rPr lang="en-US" smtClean="0"/>
              <a:t>Perform an operation that involves only pixels within a neighborhood around the reference point in the input image. </a:t>
            </a:r>
          </a:p>
          <a:p>
            <a:pPr lvl="1"/>
            <a:r>
              <a:rPr lang="en-US" smtClean="0"/>
              <a:t>Apply the result of that operation to the pixel of same coordinates in the output image, </a:t>
            </a:r>
            <a:r>
              <a:rPr lang="en-US" i="1" smtClean="0"/>
              <a:t>g(x0, y0). </a:t>
            </a:r>
          </a:p>
          <a:p>
            <a:pPr lvl="1"/>
            <a:r>
              <a:rPr lang="en-US" smtClean="0"/>
              <a:t>Repeat the process for every pixel in the input image.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Neighborhood processing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Linear Filters: sum of products of the pixel values and mask coefficients in the pixel’s neighborhood in the original image</a:t>
            </a:r>
          </a:p>
          <a:p>
            <a:r>
              <a:rPr lang="en-US" smtClean="0"/>
              <a:t>Nonlinear Filters: resulting output pixel is selected from an ordered (ranked) sequence of pixel values in the pixel’s neighborhood in the original image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CONVOLUTION AND CORRELATION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Convolution and correlation are the two fundamental mathematical operations involved in linear neighborhood-oriented image processing algorithms. </a:t>
            </a:r>
          </a:p>
          <a:p>
            <a:r>
              <a:rPr lang="en-US" smtClean="0"/>
              <a:t>The two operations differ in a very subtle way. </a:t>
            </a:r>
          </a:p>
          <a:p>
            <a:endParaRPr lang="en-US" smtClean="0"/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CONVOLUTION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Computing for each pixel a weighted sum of the values of that pixel and its neighbors.</a:t>
            </a:r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90825" y="3729038"/>
            <a:ext cx="6762750" cy="229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smtClean="0"/>
              <a:t>1D convolution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See Example 10.1 </a:t>
            </a:r>
          </a:p>
          <a:p>
            <a:pPr>
              <a:buNone/>
            </a:pPr>
            <a:endParaRPr lang="en-US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14451" y="2497969"/>
            <a:ext cx="9944100" cy="2226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2D convolution </a:t>
            </a:r>
            <a:br>
              <a:rPr lang="en-US" smtClean="0"/>
            </a:b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0750" y="2595563"/>
            <a:ext cx="6819900" cy="1451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43137" y="4324350"/>
            <a:ext cx="6916311" cy="1457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</a:t>
            </a:r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57350" y="2782375"/>
            <a:ext cx="9067800" cy="2929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Convolution and correlation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Convolution with different masks </a:t>
            </a:r>
          </a:p>
          <a:p>
            <a:r>
              <a:rPr lang="en-US" smtClean="0"/>
              <a:t>Convolution is a very versatile image processing method. </a:t>
            </a:r>
          </a:p>
          <a:p>
            <a:r>
              <a:rPr lang="en-US" smtClean="0"/>
              <a:t>Depending on the choice of mask coefficients, entirely different results can be obtained. </a:t>
            </a: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64209" y="2590800"/>
            <a:ext cx="5599364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Convolution and correlation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Convolution with different masks </a:t>
            </a:r>
          </a:p>
          <a:p>
            <a:endParaRPr lang="en-US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681962" y="1055688"/>
            <a:ext cx="4088301" cy="3309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Convolution and correlation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Correlation </a:t>
            </a:r>
          </a:p>
          <a:p>
            <a:pPr lvl="1"/>
            <a:r>
              <a:rPr lang="en-US" smtClean="0"/>
              <a:t>Simply put, correlation is the same as convolution without the mirroring (flipping) of the mask before the sums-of-products are computed. </a:t>
            </a:r>
          </a:p>
          <a:p>
            <a:pPr lvl="1"/>
            <a:r>
              <a:rPr lang="en-US" smtClean="0"/>
              <a:t>The difference between using correlation and convolution in 2D neighborhood processing operations is often irrelevant because many popular masks used in image processing are symmetrical around the origin.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Convolution in MATLAB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mtClean="0"/>
              <a:t>conv2: computes the 2D convolution between two matrices. In addition to the two matrices it takes a third parameter that specifies the size of the output. </a:t>
            </a:r>
          </a:p>
          <a:p>
            <a:r>
              <a:rPr lang="en-US" smtClean="0"/>
              <a:t>filter2: rotates the convolution mask (which is treated as a 2D FIR filter) 180° in each direction to create a convolution kernel and then calls conv2 to perform the convolution operation.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Dealing with image borders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9525" y="2543174"/>
            <a:ext cx="4679496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Dealing with image borders: options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7121652" cy="3310128"/>
          </a:xfrm>
        </p:spPr>
        <p:txBody>
          <a:bodyPr>
            <a:normAutofit fontScale="55000" lnSpcReduction="2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US" smtClean="0"/>
              <a:t>Two variants of this approach: </a:t>
            </a:r>
          </a:p>
          <a:p>
            <a:pPr marL="1200150" lvl="1" indent="-742950">
              <a:buFont typeface="Wingdings" pitchFamily="2" charset="2"/>
              <a:buChar char="§"/>
            </a:pPr>
            <a:r>
              <a:rPr lang="en-US" smtClean="0"/>
              <a:t>Keep the pixel values that cannot be reached by the overlapping mask untouched. </a:t>
            </a:r>
          </a:p>
          <a:p>
            <a:pPr marL="1200150" lvl="1" indent="-742950">
              <a:buFont typeface="Wingdings" pitchFamily="2" charset="2"/>
              <a:buChar char="§"/>
            </a:pPr>
            <a:r>
              <a:rPr lang="en-US" smtClean="0"/>
              <a:t>Replace the pixel values that cannot be reached by the overlapping mask with a constant fixed value, usually zero (black). </a:t>
            </a:r>
          </a:p>
          <a:p>
            <a:pPr marL="742950" indent="-742950">
              <a:buFont typeface="+mj-lt"/>
              <a:buAutoNum type="arabicPeriod"/>
            </a:pPr>
            <a:r>
              <a:rPr lang="en-US" smtClean="0"/>
              <a:t>Pad the input image with zeros. </a:t>
            </a:r>
          </a:p>
          <a:p>
            <a:pPr marL="742950" indent="-742950">
              <a:buFont typeface="+mj-lt"/>
              <a:buAutoNum type="arabicPeriod"/>
            </a:pPr>
            <a:r>
              <a:rPr lang="en-US" smtClean="0"/>
              <a:t>Pad with extended values. </a:t>
            </a:r>
          </a:p>
          <a:p>
            <a:pPr marL="742950" indent="-742950">
              <a:buFont typeface="+mj-lt"/>
              <a:buAutoNum type="arabicPeriod"/>
            </a:pPr>
            <a:r>
              <a:rPr lang="en-US" smtClean="0"/>
              <a:t>Pad with mirrored values. </a:t>
            </a:r>
          </a:p>
          <a:p>
            <a:pPr marL="742950" indent="-742950">
              <a:buFont typeface="+mj-lt"/>
              <a:buAutoNum type="arabicPeriod"/>
            </a:pPr>
            <a:r>
              <a:rPr lang="en-US" smtClean="0"/>
              <a:t>Treat the input image as a 2D periodic function whose values repeat themselves in both horizontal and vertical directions. </a:t>
            </a:r>
          </a:p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77250" y="2560320"/>
            <a:ext cx="2422398" cy="3310128"/>
          </a:xfrm>
        </p:spPr>
        <p:txBody>
          <a:bodyPr>
            <a:normAutofit fontScale="55000" lnSpcReduction="20000"/>
          </a:bodyPr>
          <a:lstStyle/>
          <a:p>
            <a:r>
              <a:rPr lang="en-US" smtClean="0"/>
              <a:t>In MATLAB: check the  boundary_options parameter for function</a:t>
            </a:r>
            <a:r>
              <a:rPr lang="en-US" b="1" smtClean="0"/>
              <a:t> imfilter.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Image smoothing (Low-Pass Filters) 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mtClean="0"/>
              <a:t>Spatial filters whose effect on the output image is equivalent to attenuating high-frequency components (i.e., fine details in the image) and preserving low-frequency components (i.e., coarser details and homogeneous areas in the image). </a:t>
            </a:r>
          </a:p>
          <a:p>
            <a:r>
              <a:rPr lang="en-US" smtClean="0"/>
              <a:t>Linear LPFs can be implemented using 2D convolution masks with non-negative coefficients. </a:t>
            </a:r>
          </a:p>
          <a:p>
            <a:r>
              <a:rPr lang="en-US" smtClean="0"/>
              <a:t>Linear LPFs are typically used to either blur an image or reduce the amount of noise present in the image. </a:t>
            </a:r>
          </a:p>
          <a:p>
            <a:r>
              <a:rPr lang="en-US" smtClean="0"/>
              <a:t>In MATLAB: </a:t>
            </a:r>
            <a:r>
              <a:rPr lang="en-US" b="1" smtClean="0"/>
              <a:t>imfilter and fspecial </a:t>
            </a:r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Mean (averaging) filter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smtClean="0"/>
              <a:t>The simplest and most widely known spatial smoothing filter. </a:t>
            </a:r>
          </a:p>
          <a:p>
            <a:r>
              <a:rPr lang="en-US" sz="2800" smtClean="0"/>
              <a:t>It uses convolution with a mask whose coefficients have a value of 1, and divides the result by a scaling factor (the total number of elements in the mask). </a:t>
            </a:r>
          </a:p>
          <a:p>
            <a:r>
              <a:rPr lang="en-US" sz="2800" smtClean="0"/>
              <a:t>Also known as </a:t>
            </a:r>
            <a:r>
              <a:rPr lang="en-US" sz="2800" i="1" smtClean="0"/>
              <a:t>box filter</a:t>
            </a:r>
            <a:r>
              <a:rPr lang="en-US" i="1" smtClean="0"/>
              <a:t>. </a:t>
            </a:r>
          </a:p>
          <a:p>
            <a:endParaRPr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53063" y="4619624"/>
            <a:ext cx="5763878" cy="128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Mean (averaging) filter: impact of mask size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033531" y="2470448"/>
            <a:ext cx="4615169" cy="3720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Mean (averaging) filter: variations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Modified mask coefficients, e.g.: </a:t>
            </a:r>
          </a:p>
          <a:p>
            <a:endParaRPr lang="en-US" smtClean="0"/>
          </a:p>
          <a:p>
            <a:endParaRPr lang="en-US" smtClean="0"/>
          </a:p>
          <a:p>
            <a:r>
              <a:rPr lang="en-US" smtClean="0"/>
              <a:t>Directional averaging </a:t>
            </a:r>
          </a:p>
          <a:p>
            <a:r>
              <a:rPr lang="en-US" smtClean="0"/>
              <a:t>Selective application of averaging calculation results </a:t>
            </a:r>
          </a:p>
          <a:p>
            <a:r>
              <a:rPr lang="en-US" smtClean="0"/>
              <a:t>Removal of outliers before calculating the average </a:t>
            </a:r>
          </a:p>
          <a:p>
            <a:endParaRPr 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14900" y="3014221"/>
            <a:ext cx="4076700" cy="11767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Gaussian blur filter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5007102" cy="3310128"/>
          </a:xfrm>
        </p:spPr>
        <p:txBody>
          <a:bodyPr>
            <a:normAutofit/>
          </a:bodyPr>
          <a:lstStyle/>
          <a:p>
            <a:r>
              <a:rPr lang="en-US" sz="2800" smtClean="0"/>
              <a:t>The best-known example of a LPF implemented with a non-uniform kernel. </a:t>
            </a:r>
          </a:p>
          <a:p>
            <a:r>
              <a:rPr lang="en-US" sz="2800" smtClean="0"/>
              <a:t>The mask coefficients for the Gaussian blur filter are samples from a 2D Gaussian function: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450" y="2560320"/>
            <a:ext cx="4632198" cy="3310128"/>
          </a:xfrm>
        </p:spPr>
        <p:txBody>
          <a:bodyPr>
            <a:normAutofit/>
          </a:bodyPr>
          <a:lstStyle/>
          <a:p>
            <a:endParaRPr 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5050" y="5289120"/>
            <a:ext cx="3448050" cy="10894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0" y="2500266"/>
            <a:ext cx="4057650" cy="32718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Gaussian blur filter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800" smtClean="0"/>
              <a:t>Properties: </a:t>
            </a:r>
          </a:p>
          <a:p>
            <a:pPr lvl="1"/>
            <a:r>
              <a:rPr lang="en-US" sz="3800" smtClean="0"/>
              <a:t>The kernel is symmetric w.r.t rotation, therefore there is no directional bias in the result. </a:t>
            </a:r>
          </a:p>
          <a:p>
            <a:pPr lvl="1"/>
            <a:r>
              <a:rPr lang="en-US" sz="3800" smtClean="0"/>
              <a:t>The kernel is separable, which can lead to fast computational implementations.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lvl="1"/>
            <a:r>
              <a:rPr lang="en-US" sz="3800" smtClean="0"/>
              <a:t>The kernel's coefficients fall off to (almost) zero at the kernel's edges. </a:t>
            </a:r>
          </a:p>
          <a:p>
            <a:pPr lvl="1"/>
            <a:r>
              <a:rPr lang="en-US" sz="3800" smtClean="0"/>
              <a:t>The Fourier Transform (FT) of a Gaussian filter is another Gaussian (this will be explained in Chapter 11). </a:t>
            </a:r>
          </a:p>
          <a:p>
            <a:pPr lvl="1"/>
            <a:r>
              <a:rPr lang="en-US" sz="3800" smtClean="0"/>
              <a:t>The convolution of two Gaussians is another Gaussian.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Example 10.4</a:t>
            </a:r>
            <a:br>
              <a:rPr lang="en-US" smtClean="0"/>
            </a:b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33500" y="2700657"/>
            <a:ext cx="4784985" cy="2347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2" name="Picture 4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079408" y="2560638"/>
            <a:ext cx="3760042" cy="3642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Median and other nonlinear filters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mtClean="0"/>
              <a:t>Nonlinear filters also work at a neighborhood level, but do not process the pixel values using the convolution operator. </a:t>
            </a:r>
          </a:p>
          <a:p>
            <a:r>
              <a:rPr lang="en-US" smtClean="0"/>
              <a:t>Instead, they usually apply a ranking (sorting) function to the pixel values within the neighborhood and select a value from the sorted list. </a:t>
            </a:r>
          </a:p>
          <a:p>
            <a:r>
              <a:rPr lang="en-US" smtClean="0"/>
              <a:t>Sometimes called </a:t>
            </a:r>
            <a:r>
              <a:rPr lang="en-US" i="1" smtClean="0"/>
              <a:t>rank filters. </a:t>
            </a:r>
          </a:p>
          <a:p>
            <a:r>
              <a:rPr lang="en-US" smtClean="0"/>
              <a:t>Examples: median filter, max and min filters (Chapter 12).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Median filter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Works by sorting the pixel values within a neighborhood, finding the median value and replacing the original pixel value with the median of that neighborhood. </a:t>
            </a:r>
          </a:p>
          <a:p>
            <a:endParaRPr lang="en-US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81725" y="3201381"/>
            <a:ext cx="4718050" cy="15226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Median filter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None/>
            </a:pPr>
            <a:r>
              <a:rPr lang="en-US" smtClean="0"/>
              <a:t>Example (salt-and-pepper noise reduction) </a:t>
            </a:r>
          </a:p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87183" y="2510360"/>
            <a:ext cx="2948197" cy="37687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>Image sharpening (High-Pass Filters)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4000" smtClean="0"/>
              <a:t>Spatial filters whose effect on the output image is equivalent to preserving or emphasizing its high-frequency components (e.g., fine details, points, lines, and edges), i.e. to highlight transitions in intensity within the image. </a:t>
            </a:r>
          </a:p>
          <a:p>
            <a:r>
              <a:rPr lang="en-US" sz="4000" smtClean="0"/>
              <a:t>Linear HPFs can be implemented using 2D convolution masks with positive and negative coefficients, which correspond to a digital approximation of the </a:t>
            </a:r>
            <a:r>
              <a:rPr lang="en-US" sz="4000" i="1" smtClean="0"/>
              <a:t>Laplacian, a simple, isotropic (i.e., rotation invariant) second-order derivative that is capable of responding to intensity transitions in any direction.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Image sharpening (HPF)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The </a:t>
            </a:r>
            <a:r>
              <a:rPr lang="en-US" i="1" smtClean="0"/>
              <a:t>Laplacian </a:t>
            </a:r>
          </a:p>
          <a:p>
            <a:pPr>
              <a:buNone/>
            </a:pPr>
            <a:endParaRPr 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31524" y="3115496"/>
            <a:ext cx="7607030" cy="162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28595" y="4626215"/>
            <a:ext cx="9806143" cy="860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50592" y="5422362"/>
            <a:ext cx="2607841" cy="1318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Image sharpening (HPF)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Composite Laplacian mask </a:t>
            </a:r>
          </a:p>
          <a:p>
            <a:endParaRPr lang="en-US" smtClean="0"/>
          </a:p>
          <a:p>
            <a:r>
              <a:rPr lang="en-US" smtClean="0"/>
              <a:t>For </a:t>
            </a:r>
            <a:r>
              <a:rPr lang="en-US" i="1" smtClean="0"/>
              <a:t>c=1: </a:t>
            </a:r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60054" y="3100964"/>
            <a:ext cx="5266823" cy="100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90633" y="4337625"/>
            <a:ext cx="3119957" cy="1635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Image sharpening (HPF) </a:t>
            </a:r>
            <a:endParaRPr lang="en-US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276738" y="2557463"/>
            <a:ext cx="5638524" cy="331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Directional difference filters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9557620" cy="2439697"/>
          </a:xfrm>
        </p:spPr>
        <p:txBody>
          <a:bodyPr>
            <a:normAutofit fontScale="77500" lnSpcReduction="20000"/>
          </a:bodyPr>
          <a:lstStyle/>
          <a:p>
            <a:r>
              <a:rPr lang="en-US" smtClean="0"/>
              <a:t>Similar to the Laplacian high-frequency filter. </a:t>
            </a:r>
          </a:p>
          <a:p>
            <a:r>
              <a:rPr lang="en-US" smtClean="0"/>
              <a:t>Main difference: directional difference filters emphasize edges in a specific direction. </a:t>
            </a:r>
          </a:p>
          <a:p>
            <a:r>
              <a:rPr lang="en-US" smtClean="0"/>
              <a:t>Usually called </a:t>
            </a:r>
            <a:r>
              <a:rPr lang="en-US" i="1" smtClean="0"/>
              <a:t>emboss filters. </a:t>
            </a:r>
          </a:p>
          <a:p>
            <a:r>
              <a:rPr lang="en-US" smtClean="0"/>
              <a:t>Examples of masks that can be used to implement the emboss effect: </a:t>
            </a:r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1785" y="4863831"/>
            <a:ext cx="7969338" cy="11878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Unsharp masking 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mtClean="0"/>
              <a:t>Consists of computing the subtraction between the input image and a blurred (low-pass filtered) version of the input image. </a:t>
            </a:r>
          </a:p>
          <a:p>
            <a:r>
              <a:rPr lang="en-US" smtClean="0"/>
              <a:t>Rationale: to “increase the amount of high-frequency (fine) detail by reducing the importance of its low-frequency contents”.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Unsharp masking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Variants (see Tutorial 10.3): </a:t>
            </a:r>
          </a:p>
          <a:p>
            <a:pPr>
              <a:buNone/>
            </a:pPr>
            <a:r>
              <a:rPr lang="en-US" smtClean="0"/>
              <a:t> (1)</a:t>
            </a:r>
          </a:p>
          <a:p>
            <a:pPr>
              <a:buNone/>
            </a:pPr>
            <a:endParaRPr lang="en-US" smtClean="0"/>
          </a:p>
          <a:p>
            <a:pPr>
              <a:buNone/>
            </a:pPr>
            <a:r>
              <a:rPr lang="en-US" smtClean="0"/>
              <a:t>(2)</a:t>
            </a:r>
          </a:p>
          <a:p>
            <a:pPr>
              <a:buNone/>
            </a:pPr>
            <a:endParaRPr lang="en-US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00896" y="3194725"/>
            <a:ext cx="6734175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945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92384" y="4947933"/>
            <a:ext cx="6754339" cy="1723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Unsharp masking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Variants (see Tutorial 10.3): </a:t>
            </a:r>
          </a:p>
          <a:p>
            <a:r>
              <a:rPr lang="en-US" smtClean="0"/>
              <a:t>(3)</a:t>
            </a:r>
            <a:endParaRPr lang="en-US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00787" y="3424136"/>
            <a:ext cx="7084923" cy="13700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High-boost filtering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0" y="2556932"/>
            <a:ext cx="9171562" cy="3318936"/>
          </a:xfrm>
        </p:spPr>
        <p:txBody>
          <a:bodyPr>
            <a:normAutofit fontScale="70000" lnSpcReduction="20000"/>
          </a:bodyPr>
          <a:lstStyle/>
          <a:p>
            <a:endParaRPr lang="en-US" smtClean="0"/>
          </a:p>
          <a:p>
            <a:r>
              <a:rPr lang="en-US" smtClean="0"/>
              <a:t>c (c &gt; 8) is a coefficient  (“amplification factor”)</a:t>
            </a:r>
          </a:p>
          <a:p>
            <a:pPr>
              <a:buNone/>
            </a:pPr>
            <a:r>
              <a:rPr lang="en-US" smtClean="0"/>
              <a:t> that controls how much weight is given to the </a:t>
            </a:r>
          </a:p>
          <a:p>
            <a:pPr>
              <a:buNone/>
            </a:pPr>
            <a:r>
              <a:rPr lang="en-US" smtClean="0"/>
              <a:t>original image and the high-pass filtered version of that image. </a:t>
            </a:r>
          </a:p>
          <a:p>
            <a:r>
              <a:rPr lang="en-US" smtClean="0"/>
              <a:t>For c=8, the results would be equivalent to those seen earlier for the conventional isotropic Laplacian mask. </a:t>
            </a:r>
          </a:p>
          <a:p>
            <a:r>
              <a:rPr lang="en-US" smtClean="0"/>
              <a:t>Greater values of c will cause significantly less sharpening</a:t>
            </a:r>
            <a:r>
              <a:rPr lang="en-US" i="1" smtClean="0"/>
              <a:t>. </a:t>
            </a:r>
          </a:p>
          <a:p>
            <a:endParaRPr lang="en-US"/>
          </a:p>
        </p:txBody>
      </p:sp>
      <p:pic>
        <p:nvPicPr>
          <p:cNvPr id="2150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51432" y="2334639"/>
            <a:ext cx="2882456" cy="1399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ROI Processing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mtClean="0"/>
              <a:t>Filtering operations are sometimes performed only in a small part of an image, known as a </a:t>
            </a:r>
            <a:r>
              <a:rPr lang="en-US" i="1" smtClean="0"/>
              <a:t>region of interest (ROI), </a:t>
            </a:r>
            <a:r>
              <a:rPr lang="en-US" smtClean="0"/>
              <a:t>which can be specified by defining a (usually binary) mask. </a:t>
            </a:r>
          </a:p>
          <a:p>
            <a:r>
              <a:rPr lang="en-US" smtClean="0"/>
              <a:t>Image masking is the process of extracting such a subimage (or ROI) from a larger image for further processing. </a:t>
            </a:r>
          </a:p>
          <a:p>
            <a:r>
              <a:rPr lang="en-US" smtClean="0"/>
              <a:t>In MATLAB: A combination of two functions: </a:t>
            </a:r>
            <a:r>
              <a:rPr lang="en-US" b="1" smtClean="0"/>
              <a:t>roipoly (see Tutorial 6.2) and roifilt2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ROI Processing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smtClean="0"/>
              <a:t>Example 10.6: </a:t>
            </a:r>
          </a:p>
          <a:p>
            <a:endParaRPr lang="en-US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7871" y="2462213"/>
            <a:ext cx="7303633" cy="37440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ROI Processing </a:t>
            </a:r>
            <a:endParaRPr lang="en-US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937753" y="2460188"/>
            <a:ext cx="5576499" cy="38255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mtClean="0"/>
              <a:t/>
            </a:r>
            <a:br>
              <a:rPr lang="en-US" smtClean="0"/>
            </a:br>
            <a:r>
              <a:rPr lang="en-US" smtClean="0"/>
              <a:t>Combining spatial enhancement methods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9600" smtClean="0"/>
              <a:t>When faced with a practical image processing problem, a question arises: </a:t>
            </a:r>
            <a:r>
              <a:rPr lang="en-US" sz="9600" b="1" smtClean="0"/>
              <a:t>Which techniques should I use and in which sequence? </a:t>
            </a:r>
          </a:p>
          <a:p>
            <a:r>
              <a:rPr lang="en-US" sz="9600" smtClean="0"/>
              <a:t>There is no universal answer to this question. </a:t>
            </a:r>
          </a:p>
          <a:p>
            <a:r>
              <a:rPr lang="en-US" sz="9600" smtClean="0"/>
              <a:t>Most image processing solutions are problem-specific and involve the application of several algorithms -- in a meaningful sequence -- to achieve the desired goal. </a:t>
            </a:r>
          </a:p>
          <a:p>
            <a:r>
              <a:rPr lang="en-US" sz="9600" smtClean="0"/>
              <a:t>The choice of algorithms and fine-tuning of their parameters is a trial-and-error process. </a:t>
            </a:r>
          </a:p>
          <a:p>
            <a:r>
              <a:rPr lang="en-US" sz="9600" smtClean="0"/>
              <a:t>Using the knowledge acquired so far you should be able to implement, configure, fine-tune, and combine image processing algorithms for a wide variety of real-world problems. </a:t>
            </a:r>
          </a:p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Hands-on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mtClean="0"/>
              <a:t>Tutorial 10.1: Convolution and correlation (page 223) </a:t>
            </a:r>
          </a:p>
          <a:p>
            <a:r>
              <a:rPr lang="en-US" smtClean="0"/>
              <a:t>Tutorial 10.2: Smoothing filters in the spatial domain (page 225) </a:t>
            </a:r>
          </a:p>
          <a:p>
            <a:r>
              <a:rPr lang="en-US" smtClean="0"/>
              <a:t>Tutorial 10.3: Sharpening filters in the spatial domain (page 228) </a:t>
            </a:r>
          </a:p>
          <a:p>
            <a:pPr>
              <a:buNone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HAPTER 5- Image sensing and acquisition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CHAPTER 5- Image sensing and acquisition</Template>
  <TotalTime>466</TotalTime>
  <Words>1442</Words>
  <Application>Microsoft Office PowerPoint</Application>
  <PresentationFormat>Custom</PresentationFormat>
  <Paragraphs>140</Paragraphs>
  <Slides>39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CHAPTER 5- Image sensing and acquisition</vt:lpstr>
      <vt:lpstr>CHAPTER 10</vt:lpstr>
      <vt:lpstr>WHAT WILL WE LEARN?</vt:lpstr>
      <vt:lpstr>NEIGHBORHOOD PROCESSING</vt:lpstr>
      <vt:lpstr>Neighborhood processing</vt:lpstr>
      <vt:lpstr>CONVOLUTION AND CORRELATION</vt:lpstr>
      <vt:lpstr>CONVOLUTION</vt:lpstr>
      <vt:lpstr>1D convolution </vt:lpstr>
      <vt:lpstr> 2D convolution  </vt:lpstr>
      <vt:lpstr>Example</vt:lpstr>
      <vt:lpstr>Convolution and correlation </vt:lpstr>
      <vt:lpstr>Convolution and correlation </vt:lpstr>
      <vt:lpstr>Convolution and correlation </vt:lpstr>
      <vt:lpstr>Convolution in MATLAB </vt:lpstr>
      <vt:lpstr>Dealing with image borders </vt:lpstr>
      <vt:lpstr>Dealing with image borders: options </vt:lpstr>
      <vt:lpstr>Image smoothing (Low-Pass Filters) </vt:lpstr>
      <vt:lpstr>Mean (averaging) filter </vt:lpstr>
      <vt:lpstr>Mean (averaging) filter: impact of mask size </vt:lpstr>
      <vt:lpstr>Mean (averaging) filter: variations </vt:lpstr>
      <vt:lpstr>Gaussian blur filter </vt:lpstr>
      <vt:lpstr>Gaussian blur filter </vt:lpstr>
      <vt:lpstr> Example 10.4 </vt:lpstr>
      <vt:lpstr>Median and other nonlinear filters </vt:lpstr>
      <vt:lpstr>Median filter </vt:lpstr>
      <vt:lpstr>Median filter </vt:lpstr>
      <vt:lpstr>Image sharpening (High-Pass Filters) </vt:lpstr>
      <vt:lpstr>Image sharpening (HPF) </vt:lpstr>
      <vt:lpstr>Image sharpening (HPF) </vt:lpstr>
      <vt:lpstr>Image sharpening (HPF) </vt:lpstr>
      <vt:lpstr>Directional difference filters </vt:lpstr>
      <vt:lpstr>Unsharp masking </vt:lpstr>
      <vt:lpstr>Unsharp masking </vt:lpstr>
      <vt:lpstr>Unsharp masking </vt:lpstr>
      <vt:lpstr>High-boost filtering </vt:lpstr>
      <vt:lpstr>ROI Processing </vt:lpstr>
      <vt:lpstr>ROI Processing </vt:lpstr>
      <vt:lpstr>ROI Processing </vt:lpstr>
      <vt:lpstr> Combining spatial enhancement methods </vt:lpstr>
      <vt:lpstr>Hands-on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10</dc:title>
  <dc:creator>Thuy Nguyen</dc:creator>
  <cp:lastModifiedBy>thuy</cp:lastModifiedBy>
  <cp:revision>30</cp:revision>
  <dcterms:created xsi:type="dcterms:W3CDTF">2017-06-05T03:56:49Z</dcterms:created>
  <dcterms:modified xsi:type="dcterms:W3CDTF">2019-11-20T03:25:44Z</dcterms:modified>
</cp:coreProperties>
</file>
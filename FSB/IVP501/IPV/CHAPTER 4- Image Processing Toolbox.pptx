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8" r:id="rId5"/>
    <p:sldId id="272" r:id="rId6"/>
    <p:sldId id="259" r:id="rId7"/>
    <p:sldId id="270" r:id="rId8"/>
    <p:sldId id="260" r:id="rId9"/>
    <p:sldId id="261" r:id="rId10"/>
    <p:sldId id="262" r:id="rId11"/>
    <p:sldId id="263" r:id="rId12"/>
    <p:sldId id="273" r:id="rId13"/>
    <p:sldId id="264" r:id="rId14"/>
    <p:sldId id="265" r:id="rId15"/>
    <p:sldId id="266" r:id="rId16"/>
    <p:sldId id="274" r:id="rId17"/>
    <p:sldId id="267" r:id="rId18"/>
    <p:sldId id="269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45" d="100"/>
          <a:sy n="45" d="100"/>
        </p:scale>
        <p:origin x="-96" y="-6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11/05/2017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4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8019" y="3657597"/>
            <a:ext cx="7464055" cy="1320802"/>
          </a:xfrm>
        </p:spPr>
        <p:txBody>
          <a:bodyPr>
            <a:normAutofit/>
          </a:bodyPr>
          <a:lstStyle/>
          <a:p>
            <a:r>
              <a:rPr lang="en-US" sz="3200" b="1" smtClean="0"/>
              <a:t>THE IMAGE PROCESSING TOOLBOX</a:t>
            </a:r>
            <a:endParaRPr lang="vi-VN" sz="3200" b="1" dirty="0"/>
          </a:p>
        </p:txBody>
      </p:sp>
    </p:spTree>
    <p:extLst>
      <p:ext uri="{BB962C8B-B14F-4D97-AF65-F5344CB8AC3E}">
        <p14:creationId xmlns="" xmlns:p14="http://schemas.microsoft.com/office/powerpoint/2010/main" val="122089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Reading an image from file</a:t>
            </a:r>
          </a:p>
          <a:p>
            <a:r>
              <a:rPr lang="en-US" smtClean="0"/>
              <a:t>Main </a:t>
            </a:r>
            <a:r>
              <a:rPr lang="en-US" smtClean="0"/>
              <a:t>data classes used </a:t>
            </a:r>
            <a:r>
              <a:rPr lang="en-US" smtClean="0"/>
              <a:t>for </a:t>
            </a:r>
            <a:r>
              <a:rPr lang="en-US" smtClean="0"/>
              <a:t>image representation </a:t>
            </a:r>
            <a:r>
              <a:rPr lang="en-US" smtClean="0"/>
              <a:t>and conversion between them</a:t>
            </a:r>
          </a:p>
          <a:p>
            <a:r>
              <a:rPr lang="en-US" smtClean="0"/>
              <a:t>Image </a:t>
            </a:r>
            <a:r>
              <a:rPr lang="en-US" smtClean="0"/>
              <a:t>Display</a:t>
            </a:r>
          </a:p>
          <a:p>
            <a:r>
              <a:rPr lang="en-US" smtClean="0"/>
              <a:t>Explore </a:t>
            </a:r>
            <a:r>
              <a:rPr lang="en-US" smtClean="0"/>
              <a:t>content of an image</a:t>
            </a:r>
          </a:p>
          <a:p>
            <a:r>
              <a:rPr lang="en-US" smtClean="0"/>
              <a:t>Save </a:t>
            </a:r>
            <a:r>
              <a:rPr lang="en-US" smtClean="0"/>
              <a:t>image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4631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smtClean="0">
                <a:solidFill>
                  <a:srgbClr val="000000"/>
                </a:solidFill>
                <a:latin typeface="Calibri"/>
              </a:rPr>
              <a:t/>
            </a:r>
            <a:br>
              <a:rPr lang="en-US" sz="1800" smtClean="0">
                <a:solidFill>
                  <a:srgbClr val="000000"/>
                </a:solidFill>
                <a:latin typeface="Calibri"/>
              </a:rPr>
            </a:br>
            <a:r>
              <a:rPr lang="en-US" smtClean="0">
                <a:latin typeface="Calibri"/>
              </a:rPr>
              <a:t>The Image Processing Toolbox (IPT): essential functions and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Displaying </a:t>
            </a:r>
            <a:r>
              <a:rPr lang="en-US" smtClean="0"/>
              <a:t>information about an image file </a:t>
            </a:r>
          </a:p>
          <a:p>
            <a:r>
              <a:rPr lang="en-US" smtClean="0"/>
              <a:t>Reading </a:t>
            </a:r>
            <a:r>
              <a:rPr lang="en-US" smtClean="0"/>
              <a:t>an image file </a:t>
            </a:r>
          </a:p>
          <a:p>
            <a:r>
              <a:rPr lang="en-US" smtClean="0"/>
              <a:t>Data </a:t>
            </a:r>
            <a:r>
              <a:rPr lang="en-US" smtClean="0"/>
              <a:t>classes and data conversions </a:t>
            </a:r>
          </a:p>
          <a:p>
            <a:r>
              <a:rPr lang="en-US" smtClean="0"/>
              <a:t>Displaying </a:t>
            </a:r>
            <a:r>
              <a:rPr lang="en-US" smtClean="0"/>
              <a:t>the contents of an image </a:t>
            </a:r>
          </a:p>
          <a:p>
            <a:r>
              <a:rPr lang="en-US" smtClean="0"/>
              <a:t>Exploring </a:t>
            </a:r>
            <a:r>
              <a:rPr lang="en-US" smtClean="0"/>
              <a:t>the contents of an image </a:t>
            </a:r>
          </a:p>
          <a:p>
            <a:r>
              <a:rPr lang="en-US" smtClean="0"/>
              <a:t>Writing </a:t>
            </a:r>
            <a:r>
              <a:rPr lang="en-US" smtClean="0"/>
              <a:t>the resulting image onto a file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smtClean="0">
                <a:solidFill>
                  <a:srgbClr val="000000"/>
                </a:solidFill>
                <a:latin typeface="Calibri"/>
              </a:rPr>
              <a:t/>
            </a:r>
            <a:br>
              <a:rPr lang="en-US" sz="1800" smtClean="0">
                <a:solidFill>
                  <a:srgbClr val="000000"/>
                </a:solidFill>
                <a:latin typeface="Calibri"/>
              </a:rPr>
            </a:br>
            <a:r>
              <a:rPr lang="en-US" smtClean="0">
                <a:latin typeface="Calibri"/>
              </a:rPr>
              <a:t>The Image Processing Toolbox (IPT): essential functions and features 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95401" y="2556933"/>
            <a:ext cx="9601196" cy="1653560"/>
          </a:xfrm>
        </p:spPr>
        <p:txBody>
          <a:bodyPr>
            <a:normAutofit fontScale="85000" lnSpcReduction="20000"/>
          </a:bodyPr>
          <a:lstStyle/>
          <a:p>
            <a:r>
              <a:rPr lang="en-US" smtClean="0"/>
              <a:t>Displaying </a:t>
            </a:r>
            <a:r>
              <a:rPr lang="en-US" smtClean="0"/>
              <a:t>information about an image file </a:t>
            </a:r>
          </a:p>
          <a:p>
            <a:pPr>
              <a:buNone/>
            </a:pPr>
            <a:r>
              <a:rPr lang="en-US" b="1" smtClean="0"/>
              <a:t>		imfinfo (‘peppers.png’)</a:t>
            </a:r>
            <a:endParaRPr lang="en-US" b="1" smtClean="0"/>
          </a:p>
          <a:p>
            <a:r>
              <a:rPr lang="en-US" smtClean="0"/>
              <a:t>Example </a:t>
            </a:r>
            <a:r>
              <a:rPr lang="en-US" smtClean="0"/>
              <a:t>4.1 (page 62) </a:t>
            </a:r>
          </a:p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5005" y="4199860"/>
            <a:ext cx="2488018" cy="1866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93848" y="3138709"/>
            <a:ext cx="4448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smtClean="0">
                <a:solidFill>
                  <a:srgbClr val="000000"/>
                </a:solidFill>
                <a:latin typeface="Calibri"/>
              </a:rPr>
              <a:t/>
            </a:r>
            <a:br>
              <a:rPr lang="en-US" sz="1800" smtClean="0">
                <a:solidFill>
                  <a:srgbClr val="000000"/>
                </a:solidFill>
                <a:latin typeface="Calibri"/>
              </a:rPr>
            </a:br>
            <a:r>
              <a:rPr lang="en-US" smtClean="0">
                <a:latin typeface="Calibri"/>
              </a:rPr>
              <a:t>The Image Processing Toolbox (IPT): essential functions and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Reading </a:t>
            </a:r>
            <a:r>
              <a:rPr lang="en-US" smtClean="0"/>
              <a:t>an image file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>
                <a:solidFill>
                  <a:srgbClr val="FF0000"/>
                </a:solidFill>
              </a:rPr>
              <a:t>imread</a:t>
            </a:r>
            <a:r>
              <a:rPr lang="en-US" b="1" smtClean="0"/>
              <a:t> </a:t>
            </a:r>
            <a:endParaRPr lang="en-US" b="1" smtClean="0"/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dicomread </a:t>
            </a:r>
            <a:endParaRPr lang="en-US" b="1" smtClean="0"/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nitfread </a:t>
            </a:r>
            <a:endParaRPr lang="en-US" b="1" smtClean="0"/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hdrread </a:t>
            </a:r>
            <a:endParaRPr lang="en-US" b="1" smtClean="0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712" y="297712"/>
            <a:ext cx="11330210" cy="616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21174" y="2925357"/>
            <a:ext cx="29025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solidFill>
                  <a:srgbClr val="FF0000"/>
                </a:solidFill>
                <a:latin typeface="LiberationSans"/>
              </a:rPr>
              <a:t>Reading and showing an image</a:t>
            </a:r>
            <a:endParaRPr 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49079" y="4551311"/>
            <a:ext cx="38631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/>
              <a:t>I = imread(’pout.tif’);</a:t>
            </a:r>
          </a:p>
          <a:p>
            <a:r>
              <a:rPr lang="en-US" sz="2400" smtClean="0"/>
              <a:t>imshow(I)</a:t>
            </a:r>
          </a:p>
          <a:p>
            <a:r>
              <a:rPr lang="en-US" sz="2400" smtClean="0"/>
              <a:t>figure, </a:t>
            </a:r>
            <a:r>
              <a:rPr lang="en-US" sz="2400" smtClean="0"/>
              <a:t>imshow(I</a:t>
            </a:r>
            <a:r>
              <a:rPr lang="en-US" sz="2400" smtClean="0"/>
              <a:t>,[ ])</a:t>
            </a:r>
            <a:endParaRPr lang="en-US" sz="2400" smtClean="0"/>
          </a:p>
          <a:p>
            <a:r>
              <a:rPr lang="en-US" sz="2400" smtClean="0"/>
              <a:t>figure, imshow(I,[100 160])</a:t>
            </a:r>
            <a:endParaRPr lang="en-US" sz="240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t="7808" b="7808"/>
          <a:stretch>
            <a:fillRect/>
          </a:stretch>
        </p:blipFill>
        <p:spPr bwMode="auto">
          <a:xfrm>
            <a:off x="977632" y="594832"/>
            <a:ext cx="10466838" cy="3700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Image Data Classes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Most common data classes for images</a:t>
            </a:r>
          </a:p>
          <a:p>
            <a:pPr>
              <a:buNone/>
            </a:pPr>
            <a:r>
              <a:rPr lang="en-US" smtClean="0"/>
              <a:t>		</a:t>
            </a:r>
            <a:r>
              <a:rPr lang="en-US" smtClean="0">
                <a:solidFill>
                  <a:srgbClr val="FF0000"/>
                </a:solidFill>
              </a:rPr>
              <a:t>uint8</a:t>
            </a:r>
            <a:r>
              <a:rPr lang="en-US" smtClean="0"/>
              <a:t>: 1 byte per pixel, in the [0, 255] range</a:t>
            </a:r>
          </a:p>
          <a:p>
            <a:pPr>
              <a:buNone/>
            </a:pPr>
            <a:r>
              <a:rPr lang="en-US" smtClean="0"/>
              <a:t>		</a:t>
            </a:r>
            <a:r>
              <a:rPr lang="en-US" smtClean="0">
                <a:solidFill>
                  <a:srgbClr val="FF0000"/>
                </a:solidFill>
              </a:rPr>
              <a:t>double</a:t>
            </a:r>
            <a:r>
              <a:rPr lang="en-US" smtClean="0"/>
              <a:t>: 8 bytes per pixel, usually in the [0.0</a:t>
            </a:r>
            <a:r>
              <a:rPr lang="en-US" smtClean="0"/>
              <a:t>, </a:t>
            </a:r>
            <a:r>
              <a:rPr lang="en-US" smtClean="0"/>
              <a:t>1.0] 		range</a:t>
            </a:r>
            <a:endParaRPr lang="en-US" smtClean="0"/>
          </a:p>
          <a:p>
            <a:pPr>
              <a:buNone/>
            </a:pPr>
            <a:r>
              <a:rPr lang="en-US" smtClean="0"/>
              <a:t>	</a:t>
            </a:r>
            <a:r>
              <a:rPr lang="en-US" smtClean="0">
                <a:solidFill>
                  <a:srgbClr val="FF0000"/>
                </a:solidFill>
              </a:rPr>
              <a:t>	logical</a:t>
            </a:r>
            <a:r>
              <a:rPr lang="en-US" smtClean="0"/>
              <a:t>: 1 byte per pixel, representing its </a:t>
            </a:r>
            <a:r>
              <a:rPr lang="en-US" smtClean="0"/>
              <a:t>value </a:t>
            </a:r>
            <a:r>
              <a:rPr lang="en-US" smtClean="0"/>
              <a:t>as true 	(</a:t>
            </a:r>
            <a:r>
              <a:rPr lang="en-US" smtClean="0"/>
              <a:t>1 or white) or false (0 or black)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Conversion between classes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im2single</a:t>
            </a:r>
          </a:p>
          <a:p>
            <a:r>
              <a:rPr lang="en-US" smtClean="0"/>
              <a:t>im2double</a:t>
            </a:r>
          </a:p>
          <a:p>
            <a:r>
              <a:rPr lang="en-US" smtClean="0"/>
              <a:t>im2uint8</a:t>
            </a:r>
          </a:p>
          <a:p>
            <a:r>
              <a:rPr lang="en-US" smtClean="0"/>
              <a:t>im2uint16</a:t>
            </a:r>
          </a:p>
          <a:p>
            <a:r>
              <a:rPr lang="en-US" smtClean="0"/>
              <a:t>im2int16</a:t>
            </a:r>
          </a:p>
          <a:p>
            <a:r>
              <a:rPr lang="en-US" smtClean="0"/>
              <a:t>im2bw</a:t>
            </a:r>
          </a:p>
          <a:p>
            <a:r>
              <a:rPr lang="en-US" smtClean="0"/>
              <a:t>mat2gray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ind2gray</a:t>
            </a:r>
          </a:p>
          <a:p>
            <a:r>
              <a:rPr lang="en-US" smtClean="0"/>
              <a:t>gray2ind</a:t>
            </a:r>
          </a:p>
          <a:p>
            <a:r>
              <a:rPr lang="en-US" smtClean="0"/>
              <a:t>rgb2gray</a:t>
            </a:r>
          </a:p>
          <a:p>
            <a:r>
              <a:rPr lang="en-US" smtClean="0"/>
              <a:t>rgb2ind</a:t>
            </a:r>
          </a:p>
          <a:p>
            <a:r>
              <a:rPr lang="en-US" smtClean="0"/>
              <a:t>ind2rgb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13651" r="13651"/>
          <a:stretch>
            <a:fillRect/>
          </a:stretch>
        </p:blipFill>
        <p:spPr bwMode="auto">
          <a:xfrm>
            <a:off x="4848447" y="637953"/>
            <a:ext cx="6783571" cy="5550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1295399" y="1127051"/>
            <a:ext cx="2192080" cy="3957181"/>
          </a:xfrm>
        </p:spPr>
        <p:txBody>
          <a:bodyPr>
            <a:noAutofit/>
          </a:bodyPr>
          <a:lstStyle/>
          <a:p>
            <a:r>
              <a:rPr lang="en-US" sz="2800" smtClean="0"/>
              <a:t>Image</a:t>
            </a:r>
          </a:p>
          <a:p>
            <a:r>
              <a:rPr lang="en-US" sz="2800" smtClean="0"/>
              <a:t>conversion</a:t>
            </a:r>
          </a:p>
          <a:p>
            <a:r>
              <a:rPr lang="en-US" sz="2800" smtClean="0"/>
              <a:t>vs</a:t>
            </a:r>
          </a:p>
          <a:p>
            <a:r>
              <a:rPr lang="en-US" sz="2800" smtClean="0"/>
              <a:t>Type</a:t>
            </a:r>
          </a:p>
          <a:p>
            <a:r>
              <a:rPr lang="en-US" sz="2800" smtClean="0"/>
              <a:t>conversion</a:t>
            </a:r>
            <a:endParaRPr 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1089" y="489099"/>
            <a:ext cx="6847368" cy="5826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smtClean="0">
                <a:solidFill>
                  <a:srgbClr val="000000"/>
                </a:solidFill>
                <a:latin typeface="Calibri"/>
              </a:rPr>
              <a:t/>
            </a:r>
            <a:br>
              <a:rPr lang="en-US" sz="1800" smtClean="0">
                <a:solidFill>
                  <a:srgbClr val="000000"/>
                </a:solidFill>
                <a:latin typeface="Calibri"/>
              </a:rPr>
            </a:br>
            <a:r>
              <a:rPr lang="en-US" smtClean="0">
                <a:latin typeface="Calibri"/>
              </a:rPr>
              <a:t>The Image Processing Toolbox (IPT): essential functions and features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Displaying </a:t>
            </a:r>
            <a:r>
              <a:rPr lang="en-US" smtClean="0"/>
              <a:t>the contents of an image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image</a:t>
            </a:r>
            <a:r>
              <a:rPr lang="en-US" b="1" smtClean="0"/>
              <a:t>: displays an image using the current colormap.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imagesc</a:t>
            </a:r>
            <a:r>
              <a:rPr lang="en-US" b="1" smtClean="0"/>
              <a:t>: scales image data to the full range of the current colormap and displays the image.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imshow</a:t>
            </a:r>
            <a:r>
              <a:rPr lang="en-US" b="1" smtClean="0"/>
              <a:t>: displays an image and contains a number of optimizations and optional parameters for property settings associated with image display.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imtool</a:t>
            </a:r>
            <a:r>
              <a:rPr lang="en-US" b="1" smtClean="0"/>
              <a:t>: displays an image and contains a number of associated tools that can be used to explore the image contents.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Image Display Functions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image</a:t>
            </a:r>
          </a:p>
          <a:p>
            <a:r>
              <a:rPr lang="en-US" smtClean="0"/>
              <a:t>imagesc</a:t>
            </a:r>
          </a:p>
          <a:p>
            <a:r>
              <a:rPr lang="en-US" smtClean="0"/>
              <a:t>imshow</a:t>
            </a:r>
          </a:p>
          <a:p>
            <a:r>
              <a:rPr lang="en-US" smtClean="0"/>
              <a:t>imtool</a:t>
            </a:r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507" y="403850"/>
            <a:ext cx="11355572" cy="6145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88189" y="5562232"/>
            <a:ext cx="1943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0000"/>
                </a:solidFill>
                <a:latin typeface="LiberationMono"/>
              </a:rPr>
              <a:t>imshow(...)</a:t>
            </a:r>
            <a:endParaRPr 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568" y="340242"/>
            <a:ext cx="11313041" cy="6039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544504" y="4477710"/>
            <a:ext cx="18918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smtClean="0">
                <a:solidFill>
                  <a:srgbClr val="FF0000"/>
                </a:solidFill>
                <a:latin typeface="LiberationMono"/>
              </a:rPr>
              <a:t>imtool(...)</a:t>
            </a:r>
            <a:endParaRPr 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smtClean="0">
                <a:solidFill>
                  <a:srgbClr val="000000"/>
                </a:solidFill>
                <a:latin typeface="Calibri"/>
              </a:rPr>
              <a:t/>
            </a:r>
            <a:br>
              <a:rPr lang="en-US" sz="1800" smtClean="0">
                <a:solidFill>
                  <a:srgbClr val="000000"/>
                </a:solidFill>
                <a:latin typeface="Calibri"/>
              </a:rPr>
            </a:br>
            <a:r>
              <a:rPr lang="en-US" smtClean="0">
                <a:latin typeface="Calibri"/>
              </a:rPr>
              <a:t>The Image Processing Toolbox (IPT): essential functions and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i</a:t>
            </a:r>
            <a:r>
              <a:rPr lang="en-US" smtClean="0"/>
              <a:t>mwrite:  Writing </a:t>
            </a:r>
            <a:r>
              <a:rPr lang="en-US" smtClean="0"/>
              <a:t>the resulting image onto a file </a:t>
            </a:r>
          </a:p>
          <a:p>
            <a:r>
              <a:rPr lang="en-US" smtClean="0"/>
              <a:t>Example </a:t>
            </a:r>
            <a:r>
              <a:rPr lang="en-US" smtClean="0"/>
              <a:t>4.4 (page 71</a:t>
            </a:r>
            <a:r>
              <a:rPr lang="en-US" smtClean="0"/>
              <a:t>) </a:t>
            </a:r>
            <a:endParaRPr lang="en-US" smtClean="0"/>
          </a:p>
          <a:p>
            <a:pPr>
              <a:buNone/>
            </a:pPr>
            <a:r>
              <a:rPr lang="en-US" sz="3200" b="1" smtClean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I 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= imread('peppers.png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'); </a:t>
            </a:r>
            <a:endParaRPr lang="en-US" b="1" smtClean="0">
              <a:solidFill>
                <a:srgbClr val="FF0000"/>
              </a:solidFill>
              <a:latin typeface="Courier New"/>
            </a:endParaRPr>
          </a:p>
          <a:p>
            <a:pPr>
              <a:buNone/>
            </a:pPr>
            <a:r>
              <a:rPr lang="en-US" b="1" smtClean="0">
                <a:solidFill>
                  <a:srgbClr val="FF0000"/>
                </a:solidFill>
                <a:latin typeface="Courier New"/>
              </a:rPr>
              <a:t>	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imwrite(I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, 'pep75.jpg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'); </a:t>
            </a:r>
            <a:endParaRPr lang="en-US" b="1" smtClean="0">
              <a:solidFill>
                <a:srgbClr val="FF0000"/>
              </a:solidFill>
              <a:latin typeface="Courier New"/>
            </a:endParaRPr>
          </a:p>
          <a:p>
            <a:pPr>
              <a:buNone/>
            </a:pPr>
            <a:r>
              <a:rPr lang="en-US" b="1" smtClean="0">
                <a:solidFill>
                  <a:srgbClr val="FF0000"/>
                </a:solidFill>
                <a:latin typeface="Courier New"/>
              </a:rPr>
              <a:t>	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imwrite(I</a:t>
            </a:r>
            <a:r>
              <a:rPr lang="en-US" b="1" smtClean="0">
                <a:solidFill>
                  <a:srgbClr val="FF0000"/>
                </a:solidFill>
                <a:latin typeface="Courier New"/>
              </a:rPr>
              <a:t>, 'pep05.jpg', 'quality', 5); imwrite(I, 'pep95.jpg', 'quality', 95); 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568" y="309528"/>
            <a:ext cx="11193536" cy="6293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989812" y="5821333"/>
            <a:ext cx="19014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smtClean="0">
                <a:solidFill>
                  <a:srgbClr val="FF0000"/>
                </a:solidFill>
              </a:rPr>
              <a:t>imwrite(...)</a:t>
            </a:r>
            <a:endParaRPr 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Practice and Homework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Tutorials of </a:t>
            </a:r>
            <a:r>
              <a:rPr lang="en-US" b="1" smtClean="0"/>
              <a:t>Chapter </a:t>
            </a:r>
            <a:r>
              <a:rPr lang="en-US" b="1" smtClean="0"/>
              <a:t>4</a:t>
            </a:r>
            <a:endParaRPr lang="en-US" smtClean="0"/>
          </a:p>
          <a:p>
            <a:r>
              <a:rPr lang="en-US" smtClean="0"/>
              <a:t>Exercises </a:t>
            </a:r>
            <a:r>
              <a:rPr lang="en-US" smtClean="0"/>
              <a:t>in the end of </a:t>
            </a:r>
            <a:r>
              <a:rPr lang="en-US" b="1" smtClean="0"/>
              <a:t>Chapter 4 </a:t>
            </a:r>
            <a:r>
              <a:rPr lang="en-US" b="1" smtClean="0"/>
              <a:t>of </a:t>
            </a:r>
            <a:r>
              <a:rPr lang="en-US" b="1" smtClean="0"/>
              <a:t>textbook</a:t>
            </a:r>
            <a:endParaRPr lang="en-US" b="1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1 - Introduction and Overview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1 - Introduction and Overview</Template>
  <TotalTime>278</TotalTime>
  <Words>260</Words>
  <Application>Microsoft Office PowerPoint</Application>
  <PresentationFormat>Custom</PresentationFormat>
  <Paragraphs>76</Paragraphs>
  <Slides>18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Chapter 1 - Introduction and Overview</vt:lpstr>
      <vt:lpstr>CHAPTER 4</vt:lpstr>
      <vt:lpstr>WHAT WILL WE LEARN?</vt:lpstr>
      <vt:lpstr> The Image Processing Toolbox (IPT): essential functions and features </vt:lpstr>
      <vt:lpstr> The Image Processing Toolbox (IPT): essential functions and features </vt:lpstr>
      <vt:lpstr> The Image Processing Toolbox (IPT): essential functions and features </vt:lpstr>
      <vt:lpstr>Slide 6</vt:lpstr>
      <vt:lpstr>Slide 7</vt:lpstr>
      <vt:lpstr>Image Data Classes</vt:lpstr>
      <vt:lpstr>Conversion between classes</vt:lpstr>
      <vt:lpstr>Slide 10</vt:lpstr>
      <vt:lpstr>Slide 11</vt:lpstr>
      <vt:lpstr> The Image Processing Toolbox (IPT): essential functions and features </vt:lpstr>
      <vt:lpstr>Image Display Functions</vt:lpstr>
      <vt:lpstr>Slide 14</vt:lpstr>
      <vt:lpstr>Slide 15</vt:lpstr>
      <vt:lpstr> The Image Processing Toolbox (IPT): essential functions and features </vt:lpstr>
      <vt:lpstr>Slide 17</vt:lpstr>
      <vt:lpstr>Practice and Homework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Thuy Nguyen</dc:creator>
  <cp:lastModifiedBy>Thuy Nguyen</cp:lastModifiedBy>
  <cp:revision>12</cp:revision>
  <dcterms:created xsi:type="dcterms:W3CDTF">2017-05-10T18:33:17Z</dcterms:created>
  <dcterms:modified xsi:type="dcterms:W3CDTF">2017-05-10T23:11:52Z</dcterms:modified>
</cp:coreProperties>
</file>
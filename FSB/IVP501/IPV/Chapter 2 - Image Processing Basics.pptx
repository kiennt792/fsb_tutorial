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8640" autoAdjust="0"/>
    <p:restoredTop sz="94660"/>
  </p:normalViewPr>
  <p:slideViewPr>
    <p:cSldViewPr snapToGrid="0">
      <p:cViewPr>
        <p:scale>
          <a:sx n="53" d="100"/>
          <a:sy n="53" d="100"/>
        </p:scale>
        <p:origin x="-1638" y="-5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281B776-2E98-4213-96EF-46F5899B0A1A}" type="datetimeFigureOut">
              <a:rPr lang="vi-VN" smtClean="0"/>
              <a:pPr/>
              <a:t>10/05/2017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7B278D3-78EC-4A06-8D09-AD5B64DDDADE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66842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1B776-2E98-4213-96EF-46F5899B0A1A}" type="datetimeFigureOut">
              <a:rPr lang="vi-VN" smtClean="0"/>
              <a:pPr/>
              <a:t>10/05/2017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278D3-78EC-4A06-8D09-AD5B64DDDAD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1601473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1B776-2E98-4213-96EF-46F5899B0A1A}" type="datetimeFigureOut">
              <a:rPr lang="vi-VN" smtClean="0"/>
              <a:pPr/>
              <a:t>10/05/2017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278D3-78EC-4A06-8D09-AD5B64DDDADE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187345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1B776-2E98-4213-96EF-46F5899B0A1A}" type="datetimeFigureOut">
              <a:rPr lang="vi-VN" smtClean="0"/>
              <a:pPr/>
              <a:t>10/05/2017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278D3-78EC-4A06-8D09-AD5B64DDDAD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378417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1B776-2E98-4213-96EF-46F5899B0A1A}" type="datetimeFigureOut">
              <a:rPr lang="vi-VN" smtClean="0"/>
              <a:pPr/>
              <a:t>10/05/2017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278D3-78EC-4A06-8D09-AD5B64DDDADE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79271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1B776-2E98-4213-96EF-46F5899B0A1A}" type="datetimeFigureOut">
              <a:rPr lang="vi-VN" smtClean="0"/>
              <a:pPr/>
              <a:t>10/05/2017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278D3-78EC-4A06-8D09-AD5B64DDDADE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145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1B776-2E98-4213-96EF-46F5899B0A1A}" type="datetimeFigureOut">
              <a:rPr lang="vi-VN" smtClean="0"/>
              <a:pPr/>
              <a:t>10/05/2017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278D3-78EC-4A06-8D09-AD5B64DDDAD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1480012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1B776-2E98-4213-96EF-46F5899B0A1A}" type="datetimeFigureOut">
              <a:rPr lang="vi-VN" smtClean="0"/>
              <a:pPr/>
              <a:t>10/05/2017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278D3-78EC-4A06-8D09-AD5B64DDDADE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055883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1B776-2E98-4213-96EF-46F5899B0A1A}" type="datetimeFigureOut">
              <a:rPr lang="vi-VN" smtClean="0"/>
              <a:pPr/>
              <a:t>10/05/2017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278D3-78EC-4A06-8D09-AD5B64DDDAD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538051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1B776-2E98-4213-96EF-46F5899B0A1A}" type="datetimeFigureOut">
              <a:rPr lang="vi-VN" smtClean="0"/>
              <a:pPr/>
              <a:t>10/05/2017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278D3-78EC-4A06-8D09-AD5B64DDDAD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4097418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1B776-2E98-4213-96EF-46F5899B0A1A}" type="datetimeFigureOut">
              <a:rPr lang="vi-VN" smtClean="0"/>
              <a:pPr/>
              <a:t>10/05/2017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278D3-78EC-4A06-8D09-AD5B64DDDADE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629015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1B776-2E98-4213-96EF-46F5899B0A1A}" type="datetimeFigureOut">
              <a:rPr lang="vi-VN" smtClean="0"/>
              <a:pPr/>
              <a:t>10/05/2017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278D3-78EC-4A06-8D09-AD5B64DDDADE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0381948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1B776-2E98-4213-96EF-46F5899B0A1A}" type="datetimeFigureOut">
              <a:rPr lang="vi-VN" smtClean="0"/>
              <a:pPr/>
              <a:t>10/05/2017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278D3-78EC-4A06-8D09-AD5B64DDDAD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838227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1B776-2E98-4213-96EF-46F5899B0A1A}" type="datetimeFigureOut">
              <a:rPr lang="vi-VN" smtClean="0"/>
              <a:pPr/>
              <a:t>10/05/2017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278D3-78EC-4A06-8D09-AD5B64DDDADE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6634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1B776-2E98-4213-96EF-46F5899B0A1A}" type="datetimeFigureOut">
              <a:rPr lang="vi-VN" smtClean="0"/>
              <a:pPr/>
              <a:t>10/05/2017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278D3-78EC-4A06-8D09-AD5B64DDDADE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0741890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1B776-2E98-4213-96EF-46F5899B0A1A}" type="datetimeFigureOut">
              <a:rPr lang="vi-VN" smtClean="0"/>
              <a:pPr/>
              <a:t>10/05/2017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278D3-78EC-4A06-8D09-AD5B64DDDADE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652980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1B776-2E98-4213-96EF-46F5899B0A1A}" type="datetimeFigureOut">
              <a:rPr lang="vi-VN" smtClean="0"/>
              <a:pPr/>
              <a:t>10/05/2017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278D3-78EC-4A06-8D09-AD5B64DDDADE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640230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281B776-2E98-4213-96EF-46F5899B0A1A}" type="datetimeFigureOut">
              <a:rPr lang="vi-VN" smtClean="0"/>
              <a:pPr/>
              <a:t>10/05/2017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7B278D3-78EC-4A06-8D09-AD5B64DDDAD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109485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Chapter 2</a:t>
            </a:r>
            <a:endParaRPr lang="vi-V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vi-VN" sz="4000" dirty="0"/>
              <a:t>Image Processing Basics</a:t>
            </a:r>
          </a:p>
        </p:txBody>
      </p:sp>
    </p:spTree>
    <p:extLst>
      <p:ext uri="{BB962C8B-B14F-4D97-AF65-F5344CB8AC3E}">
        <p14:creationId xmlns:p14="http://schemas.microsoft.com/office/powerpoint/2010/main" xmlns="" val="33457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will we learn?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is a digital image represented and stored </a:t>
            </a:r>
            <a:r>
              <a:rPr lang="en-US" dirty="0" smtClean="0"/>
              <a:t>in memory</a:t>
            </a:r>
            <a:r>
              <a:rPr lang="en-US" dirty="0"/>
              <a:t>?</a:t>
            </a:r>
          </a:p>
          <a:p>
            <a:r>
              <a:rPr lang="en-US" dirty="0" smtClean="0"/>
              <a:t>What </a:t>
            </a:r>
            <a:r>
              <a:rPr lang="en-US" dirty="0"/>
              <a:t>are the main types of digital image representation?</a:t>
            </a:r>
          </a:p>
          <a:p>
            <a:r>
              <a:rPr lang="en-US" dirty="0" smtClean="0"/>
              <a:t>What </a:t>
            </a:r>
            <a:r>
              <a:rPr lang="en-US" dirty="0"/>
              <a:t>are the most popular image file formats?</a:t>
            </a:r>
          </a:p>
          <a:p>
            <a:r>
              <a:rPr lang="en-US" dirty="0" smtClean="0"/>
              <a:t>What </a:t>
            </a:r>
            <a:r>
              <a:rPr lang="en-US" dirty="0"/>
              <a:t>are the most common types of image </a:t>
            </a:r>
            <a:r>
              <a:rPr lang="en-US" dirty="0" smtClean="0"/>
              <a:t>processing operations </a:t>
            </a:r>
            <a:r>
              <a:rPr lang="en-US" dirty="0"/>
              <a:t>and how do they affect pixel values?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xmlns="" val="980185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Digital Image Representation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3574" y="2460567"/>
            <a:ext cx="6436681" cy="18083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643" y="4285281"/>
            <a:ext cx="5428307" cy="193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92019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Raster vs Vector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Raster (or bitmap) image format = one or more 2D arrays </a:t>
            </a:r>
            <a:r>
              <a:rPr lang="en-US" dirty="0" smtClean="0"/>
              <a:t>of pixels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– </a:t>
            </a:r>
            <a:r>
              <a:rPr lang="en-US" dirty="0"/>
              <a:t>Good quality and fast display speed but </a:t>
            </a:r>
            <a:r>
              <a:rPr lang="en-US" dirty="0" smtClean="0"/>
              <a:t>larger memory storage 	requirement </a:t>
            </a:r>
            <a:r>
              <a:rPr lang="en-US" dirty="0"/>
              <a:t>and </a:t>
            </a:r>
            <a:r>
              <a:rPr lang="en-US" dirty="0" smtClean="0"/>
              <a:t>size dependency</a:t>
            </a:r>
            <a:endParaRPr lang="en-US" dirty="0"/>
          </a:p>
          <a:p>
            <a:r>
              <a:rPr lang="en-US" dirty="0" smtClean="0"/>
              <a:t>Vector </a:t>
            </a:r>
            <a:r>
              <a:rPr lang="en-US" dirty="0"/>
              <a:t>image format = series of drawing commands</a:t>
            </a:r>
          </a:p>
          <a:p>
            <a:pPr marL="0" indent="0">
              <a:buNone/>
            </a:pPr>
            <a:r>
              <a:rPr lang="en-US" dirty="0" smtClean="0"/>
              <a:t>	– </a:t>
            </a:r>
            <a:r>
              <a:rPr lang="en-US" dirty="0"/>
              <a:t>Resizing without introducing artifact, less </a:t>
            </a:r>
            <a:r>
              <a:rPr lang="en-US" dirty="0" smtClean="0"/>
              <a:t>size but </a:t>
            </a:r>
            <a:r>
              <a:rPr lang="en-US" dirty="0"/>
              <a:t>need to be rasterized </a:t>
            </a:r>
            <a:r>
              <a:rPr lang="en-US" dirty="0" smtClean="0"/>
              <a:t>	for </a:t>
            </a:r>
            <a:r>
              <a:rPr lang="en-US" dirty="0"/>
              <a:t>display </a:t>
            </a:r>
            <a:r>
              <a:rPr lang="en-US" dirty="0" err="1"/>
              <a:t>divices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xmlns="" val="4147503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binary image and the pixel values </a:t>
            </a:r>
            <a:r>
              <a:rPr lang="en-US" dirty="0" smtClean="0"/>
              <a:t>in </a:t>
            </a:r>
            <a:r>
              <a:rPr lang="vi-VN" dirty="0" smtClean="0"/>
              <a:t>a </a:t>
            </a:r>
            <a:r>
              <a:rPr lang="vi-VN" dirty="0"/>
              <a:t>6×6 neighborhood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r>
              <a:rPr lang="en-US" dirty="0" smtClean="0"/>
              <a:t>In </a:t>
            </a:r>
            <a:r>
              <a:rPr lang="en-US" dirty="0" err="1"/>
              <a:t>Matlab</a:t>
            </a:r>
            <a:r>
              <a:rPr lang="en-US" dirty="0"/>
              <a:t> it is called </a:t>
            </a:r>
            <a:r>
              <a:rPr lang="en-US" b="1" i="1" dirty="0"/>
              <a:t>logical </a:t>
            </a:r>
            <a:r>
              <a:rPr lang="en-US" dirty="0"/>
              <a:t>array of 0's and 1's</a:t>
            </a:r>
            <a:endParaRPr lang="vi-V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206" y="2929169"/>
            <a:ext cx="6289177" cy="257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86936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A </a:t>
            </a:r>
            <a:r>
              <a:rPr lang="en-US" dirty="0">
                <a:latin typeface="+mn-lt"/>
              </a:rPr>
              <a:t>gray-level</a:t>
            </a:r>
            <a:r>
              <a:rPr lang="en-US" dirty="0"/>
              <a:t> image and the </a:t>
            </a:r>
            <a:r>
              <a:rPr lang="en-US" dirty="0" smtClean="0"/>
              <a:t>pixel values </a:t>
            </a:r>
            <a:r>
              <a:rPr lang="en-US" dirty="0"/>
              <a:t>in a 6×6 neighborhood</a:t>
            </a:r>
            <a:endParaRPr lang="vi-V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1468" y="2453667"/>
            <a:ext cx="5956669" cy="269993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5019" y="5203473"/>
            <a:ext cx="109561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dirty="0">
                <a:solidFill>
                  <a:srgbClr val="3C3C3C"/>
                </a:solidFill>
                <a:latin typeface="ArialMT"/>
              </a:rPr>
              <a:t>Gray-level, monochrome, </a:t>
            </a:r>
            <a:r>
              <a:rPr lang="vi-VN" sz="2400" dirty="0" smtClean="0">
                <a:solidFill>
                  <a:srgbClr val="3C3C3C"/>
                </a:solidFill>
                <a:latin typeface="ArialMT"/>
              </a:rPr>
              <a:t>grayscale</a:t>
            </a:r>
            <a:r>
              <a:rPr lang="en-US" sz="2400" dirty="0" smtClean="0">
                <a:solidFill>
                  <a:srgbClr val="3C3C3C"/>
                </a:solidFill>
                <a:latin typeface="ArialMT"/>
              </a:rPr>
              <a:t> In </a:t>
            </a:r>
            <a:r>
              <a:rPr lang="en-US" sz="2400" dirty="0" err="1">
                <a:solidFill>
                  <a:srgbClr val="3C3C3C"/>
                </a:solidFill>
                <a:latin typeface="ArialMT"/>
              </a:rPr>
              <a:t>Matlab</a:t>
            </a:r>
            <a:r>
              <a:rPr lang="en-US" sz="2400" dirty="0">
                <a:solidFill>
                  <a:srgbClr val="3C3C3C"/>
                </a:solidFill>
                <a:latin typeface="ArialMT"/>
              </a:rPr>
              <a:t> most popular are </a:t>
            </a:r>
            <a:r>
              <a:rPr lang="en-US" sz="2400" b="1" dirty="0" smtClean="0">
                <a:solidFill>
                  <a:srgbClr val="3C3C3C"/>
                </a:solidFill>
                <a:latin typeface="Arial-BoldMT"/>
              </a:rPr>
              <a:t>uint8 </a:t>
            </a:r>
            <a:r>
              <a:rPr lang="en-US" sz="2400" dirty="0">
                <a:solidFill>
                  <a:srgbClr val="3C3C3C"/>
                </a:solidFill>
                <a:latin typeface="ArialMT"/>
              </a:rPr>
              <a:t>( 0=black, 255=white</a:t>
            </a:r>
            <a:r>
              <a:rPr lang="en-US" sz="2400" dirty="0" smtClean="0">
                <a:solidFill>
                  <a:srgbClr val="3C3C3C"/>
                </a:solidFill>
                <a:latin typeface="ArialMT"/>
              </a:rPr>
              <a:t>), </a:t>
            </a:r>
            <a:r>
              <a:rPr lang="en-US" sz="2400" b="1" dirty="0" smtClean="0">
                <a:solidFill>
                  <a:srgbClr val="3C3C3C"/>
                </a:solidFill>
                <a:latin typeface="Arial-BoldMT"/>
              </a:rPr>
              <a:t>uint16 </a:t>
            </a:r>
            <a:r>
              <a:rPr lang="en-US" sz="2400" dirty="0">
                <a:solidFill>
                  <a:srgbClr val="3C3C3C"/>
                </a:solidFill>
                <a:latin typeface="ArialMT"/>
              </a:rPr>
              <a:t>(0=black, 65535=white), </a:t>
            </a:r>
            <a:r>
              <a:rPr lang="en-US" sz="2400" b="1" dirty="0" smtClean="0">
                <a:solidFill>
                  <a:srgbClr val="3C3C3C"/>
                </a:solidFill>
                <a:latin typeface="Arial-BoldMT"/>
              </a:rPr>
              <a:t>double </a:t>
            </a:r>
            <a:r>
              <a:rPr lang="en-US" sz="2400" dirty="0">
                <a:solidFill>
                  <a:srgbClr val="3C3C3C"/>
                </a:solidFill>
                <a:latin typeface="ArialMT"/>
              </a:rPr>
              <a:t>(0.0=black, 1.0=white)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xmlns="" val="929660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Color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RGB, a 24-bit number 8bits for each of RED, GREEN </a:t>
            </a:r>
            <a:r>
              <a:rPr lang="en-US" dirty="0" smtClean="0"/>
              <a:t>and </a:t>
            </a:r>
            <a:r>
              <a:rPr lang="vi-VN" dirty="0" smtClean="0"/>
              <a:t>BLUE</a:t>
            </a:r>
            <a:endParaRPr lang="en-US" dirty="0" smtClean="0"/>
          </a:p>
          <a:p>
            <a:pPr marL="0" indent="0">
              <a:buNone/>
            </a:pPr>
            <a:endParaRPr lang="vi-VN" dirty="0"/>
          </a:p>
          <a:p>
            <a:r>
              <a:rPr lang="en-US" dirty="0" smtClean="0"/>
              <a:t>Indexed </a:t>
            </a:r>
            <a:r>
              <a:rPr lang="en-US" dirty="0"/>
              <a:t>representation. A pixel contains an index to </a:t>
            </a:r>
            <a:r>
              <a:rPr lang="en-US" dirty="0" smtClean="0"/>
              <a:t>the </a:t>
            </a:r>
            <a:r>
              <a:rPr lang="vi-VN" dirty="0" smtClean="0"/>
              <a:t>pallete </a:t>
            </a:r>
            <a:r>
              <a:rPr lang="vi-VN" dirty="0"/>
              <a:t>of colors...</a:t>
            </a:r>
          </a:p>
        </p:txBody>
      </p:sp>
    </p:spTree>
    <p:extLst>
      <p:ext uri="{BB962C8B-B14F-4D97-AF65-F5344CB8AC3E}">
        <p14:creationId xmlns:p14="http://schemas.microsoft.com/office/powerpoint/2010/main" xmlns="" val="2813225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Image, R, G and B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092" y="2474958"/>
            <a:ext cx="4876014" cy="358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1199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Indexed Image...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0212" y="2743500"/>
            <a:ext cx="6451576" cy="294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61866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Some Image File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vi-VN" dirty="0"/>
              <a:t>Lossy vs Lossless Compression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dirty="0" smtClean="0"/>
              <a:t>BIN</a:t>
            </a:r>
            <a:r>
              <a:rPr lang="vi-VN" dirty="0"/>
              <a:t>, PPM (PBM,PGM, PNM) – raw pixel data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Need </a:t>
            </a:r>
            <a:r>
              <a:rPr lang="en-US" dirty="0"/>
              <a:t>to know all sizes, bytes </a:t>
            </a:r>
            <a:r>
              <a:rPr lang="en-US" dirty="0" smtClean="0"/>
              <a:t>			per </a:t>
            </a:r>
            <a:r>
              <a:rPr lang="en-US" dirty="0"/>
              <a:t>pixel </a:t>
            </a:r>
            <a:r>
              <a:rPr lang="en-US" dirty="0" err="1"/>
              <a:t>etc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vi-VN" dirty="0" smtClean="0"/>
              <a:t>BMP </a:t>
            </a:r>
            <a:r>
              <a:rPr lang="vi-VN" dirty="0"/>
              <a:t>– Microsoft </a:t>
            </a:r>
            <a:r>
              <a:rPr lang="vi-VN" dirty="0" smtClean="0"/>
              <a:t>Windows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JPEG </a:t>
            </a:r>
            <a:r>
              <a:rPr lang="en-US" dirty="0"/>
              <a:t>– most popular for photographic quality </a:t>
            </a:r>
            <a:r>
              <a:rPr lang="en-US" dirty="0" smtClean="0"/>
              <a:t>images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GIF – uses indexed representation of colors with maximum of 256 </a:t>
            </a:r>
            <a:r>
              <a:rPr lang="vi-VN" dirty="0"/>
              <a:t>colors palette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vi-VN" dirty="0"/>
              <a:t>TIFF – 24bit per pixel (truecolor), 5 different compression schemes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PNG – supports both indexed and </a:t>
            </a:r>
            <a:r>
              <a:rPr lang="en-US" dirty="0" err="1"/>
              <a:t>truecolor</a:t>
            </a:r>
            <a:r>
              <a:rPr lang="en-US" dirty="0"/>
              <a:t> format, patent free </a:t>
            </a:r>
            <a:r>
              <a:rPr lang="vi-VN" dirty="0"/>
              <a:t>replacement for GIF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RAW – adopted by camera manufacturers</a:t>
            </a:r>
            <a:endParaRPr lang="vi-VN" dirty="0"/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xmlns="" val="2333004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Basic Terminology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Image Topology</a:t>
            </a:r>
            <a:r>
              <a:rPr lang="en-US" dirty="0"/>
              <a:t>. It involves the investigation of </a:t>
            </a:r>
            <a:r>
              <a:rPr lang="en-US" dirty="0" smtClean="0"/>
              <a:t>fundamental image </a:t>
            </a:r>
            <a:r>
              <a:rPr lang="en-US" dirty="0"/>
              <a:t>properties, such as number of a particular </a:t>
            </a:r>
            <a:r>
              <a:rPr lang="en-US" dirty="0" smtClean="0"/>
              <a:t>object, number </a:t>
            </a:r>
            <a:r>
              <a:rPr lang="en-US" dirty="0"/>
              <a:t>of separate (not </a:t>
            </a:r>
            <a:r>
              <a:rPr lang="en-US" dirty="0" smtClean="0"/>
              <a:t>connected</a:t>
            </a:r>
            <a:r>
              <a:rPr lang="en-US" dirty="0"/>
              <a:t>) regions, and number </a:t>
            </a:r>
            <a:r>
              <a:rPr lang="en-US" dirty="0" smtClean="0"/>
              <a:t>of holes </a:t>
            </a:r>
            <a:r>
              <a:rPr lang="en-US" dirty="0"/>
              <a:t>in an object etc</a:t>
            </a:r>
            <a:r>
              <a:rPr lang="en-US" dirty="0" smtClean="0"/>
              <a:t>.</a:t>
            </a:r>
          </a:p>
          <a:p>
            <a:r>
              <a:rPr lang="en-US" b="1" dirty="0"/>
              <a:t>Neighborhood</a:t>
            </a:r>
            <a:r>
              <a:rPr lang="en-US" dirty="0"/>
              <a:t>. The pixels surrounding a given </a:t>
            </a:r>
            <a:r>
              <a:rPr lang="en-US" dirty="0" smtClean="0"/>
              <a:t>pixel constitute </a:t>
            </a:r>
            <a:r>
              <a:rPr lang="en-US" dirty="0"/>
              <a:t>its neighborhood, which can be interpreted as </a:t>
            </a:r>
            <a:r>
              <a:rPr lang="en-US" dirty="0" smtClean="0"/>
              <a:t>a smaller </a:t>
            </a:r>
            <a:r>
              <a:rPr lang="en-US" dirty="0"/>
              <a:t>matrix containing (and usually centered around) </a:t>
            </a:r>
            <a:r>
              <a:rPr lang="en-US" dirty="0" smtClean="0"/>
              <a:t>the reference </a:t>
            </a:r>
            <a:r>
              <a:rPr lang="en-US" dirty="0"/>
              <a:t>pixel.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xmlns="" val="158754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2400" dirty="0"/>
              <a:t>(a) 4-neighborhood, (b) diagonal</a:t>
            </a:r>
            <a:br>
              <a:rPr lang="vi-VN" sz="2400" dirty="0"/>
            </a:br>
            <a:r>
              <a:rPr lang="vi-VN" sz="2400" dirty="0"/>
              <a:t>neighborhood, (c) 8-neighborhood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5136" y="2753959"/>
            <a:ext cx="7523664" cy="257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9781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Basic Terminology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smtClean="0"/>
              <a:t>Adjacency</a:t>
            </a:r>
            <a:r>
              <a:rPr lang="en-US" dirty="0" smtClean="0"/>
              <a:t>:</a:t>
            </a:r>
            <a:r>
              <a:rPr lang="en-US" smtClean="0"/>
              <a:t> </a:t>
            </a:r>
            <a:r>
              <a:rPr lang="en-US" dirty="0"/>
              <a:t>2 pixel p and q are 4-adjacent if they are </a:t>
            </a:r>
            <a:r>
              <a:rPr lang="en-US" dirty="0" smtClean="0"/>
              <a:t>4-neighbors </a:t>
            </a:r>
            <a:r>
              <a:rPr lang="en-US" dirty="0"/>
              <a:t>of each other</a:t>
            </a:r>
          </a:p>
          <a:p>
            <a:r>
              <a:rPr lang="en-US" dirty="0" smtClean="0"/>
              <a:t>8-adjacency </a:t>
            </a:r>
            <a:r>
              <a:rPr lang="en-US" dirty="0"/>
              <a:t>– similar.</a:t>
            </a:r>
          </a:p>
          <a:p>
            <a:r>
              <a:rPr lang="en-US" b="1" dirty="0" smtClean="0"/>
              <a:t>Paths</a:t>
            </a:r>
            <a:r>
              <a:rPr lang="en-US" dirty="0"/>
              <a:t>. A 4-path between two pixels p and q is a </a:t>
            </a:r>
            <a:r>
              <a:rPr lang="en-US"/>
              <a:t>sequence </a:t>
            </a:r>
            <a:r>
              <a:rPr lang="en-US" smtClean="0"/>
              <a:t>of pixels </a:t>
            </a:r>
            <a:r>
              <a:rPr lang="en-US" dirty="0"/>
              <a:t>starting with p and ending with q such that each </a:t>
            </a:r>
            <a:r>
              <a:rPr lang="en-US"/>
              <a:t>pixel </a:t>
            </a:r>
            <a:r>
              <a:rPr lang="en-US" smtClean="0"/>
              <a:t>in the </a:t>
            </a:r>
            <a:r>
              <a:rPr lang="en-US" dirty="0"/>
              <a:t>sequence is 4-adjacent to its predecessor </a:t>
            </a:r>
            <a:r>
              <a:rPr lang="en-US"/>
              <a:t>in </a:t>
            </a:r>
            <a:r>
              <a:rPr lang="en-US" smtClean="0"/>
              <a:t>the sequence</a:t>
            </a:r>
            <a:r>
              <a:rPr lang="en-US" dirty="0"/>
              <a:t>.</a:t>
            </a:r>
          </a:p>
          <a:p>
            <a:r>
              <a:rPr lang="en-US" smtClean="0"/>
              <a:t>8-path </a:t>
            </a:r>
            <a:r>
              <a:rPr lang="en-US" dirty="0"/>
              <a:t>– similar.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xmlns="" val="3257724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Basic Terminology (cont.)</a:t>
            </a:r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480175" cy="257088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2600" b="1" smtClean="0"/>
              <a:t>Connectivity. If there is a 4-path between pixels p and q</a:t>
            </a:r>
            <a:r>
              <a:rPr lang="en-US" sz="2600" b="1" smtClean="0"/>
              <a:t>, </a:t>
            </a:r>
            <a:r>
              <a:rPr lang="en-US" sz="2600" smtClean="0"/>
              <a:t>they</a:t>
            </a:r>
            <a:r>
              <a:rPr lang="en-US" sz="2600" b="1" smtClean="0"/>
              <a:t> </a:t>
            </a:r>
            <a:r>
              <a:rPr lang="en-US" sz="2600" smtClean="0"/>
              <a:t>are </a:t>
            </a:r>
            <a:r>
              <a:rPr lang="en-US" sz="2600" smtClean="0"/>
              <a:t>said to be 4-connected</a:t>
            </a:r>
          </a:p>
          <a:p>
            <a:pPr>
              <a:lnSpc>
                <a:spcPct val="110000"/>
              </a:lnSpc>
            </a:pPr>
            <a:r>
              <a:rPr lang="en-US" sz="2600" smtClean="0"/>
              <a:t>8-connected</a:t>
            </a:r>
            <a:endParaRPr lang="en-US" sz="2600" smtClean="0"/>
          </a:p>
          <a:p>
            <a:pPr>
              <a:lnSpc>
                <a:spcPct val="110000"/>
              </a:lnSpc>
            </a:pPr>
            <a:r>
              <a:rPr lang="en-US" sz="2600" b="1" smtClean="0"/>
              <a:t>Components</a:t>
            </a:r>
            <a:r>
              <a:rPr lang="en-US" sz="2600" b="1" smtClean="0"/>
              <a:t>. A set of pixels that are connected to </a:t>
            </a:r>
            <a:r>
              <a:rPr lang="en-US" sz="2600" b="1" smtClean="0"/>
              <a:t>each </a:t>
            </a:r>
            <a:r>
              <a:rPr lang="en-US" sz="2600" b="1" smtClean="0"/>
              <a:t>other </a:t>
            </a:r>
            <a:r>
              <a:rPr lang="en-US" sz="2600" smtClean="0"/>
              <a:t>is </a:t>
            </a:r>
            <a:r>
              <a:rPr lang="en-US" sz="2600" smtClean="0"/>
              <a:t>called a component. (a) original (binary) image (b</a:t>
            </a:r>
            <a:r>
              <a:rPr lang="en-US" sz="2600" smtClean="0"/>
              <a:t>) </a:t>
            </a:r>
            <a:r>
              <a:rPr lang="en-US" sz="2600" smtClean="0"/>
              <a:t>results for </a:t>
            </a:r>
            <a:r>
              <a:rPr lang="en-US" sz="2600" smtClean="0"/>
              <a:t>8-connectivity (c) results </a:t>
            </a:r>
            <a:r>
              <a:rPr lang="en-US" sz="2600" smtClean="0"/>
              <a:t>for </a:t>
            </a:r>
            <a:r>
              <a:rPr lang="en-US" sz="2600" smtClean="0"/>
              <a:t>4-connectivity.</a:t>
            </a:r>
          </a:p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4112" y="4881916"/>
            <a:ext cx="5729568" cy="1390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Basic Terminology (</a:t>
            </a:r>
            <a:r>
              <a:rPr lang="en-US" smtClean="0"/>
              <a:t>cont</a:t>
            </a:r>
            <a:r>
              <a:rPr lang="en-US" smtClean="0"/>
              <a:t>.)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3778623" cy="580715"/>
          </a:xfrm>
        </p:spPr>
        <p:txBody>
          <a:bodyPr/>
          <a:lstStyle/>
          <a:p>
            <a:r>
              <a:rPr lang="en-US" b="1" smtClean="0"/>
              <a:t>Distances </a:t>
            </a:r>
            <a:r>
              <a:rPr lang="en-US" b="1" smtClean="0"/>
              <a:t>Between </a:t>
            </a:r>
            <a:r>
              <a:rPr lang="en-US" b="1" smtClean="0"/>
              <a:t>Pixels</a:t>
            </a:r>
          </a:p>
          <a:p>
            <a:endParaRPr lang="en-US">
              <a:noFill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26862" y="3009060"/>
            <a:ext cx="8300480" cy="3226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Image Processing Operations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Operations in the </a:t>
            </a:r>
            <a:r>
              <a:rPr lang="en-US" smtClean="0"/>
              <a:t>Spatial </a:t>
            </a:r>
            <a:r>
              <a:rPr lang="en-US" smtClean="0"/>
              <a:t>Domain</a:t>
            </a:r>
          </a:p>
          <a:p>
            <a:pPr lvl="1">
              <a:buFont typeface="Wingdings" pitchFamily="2" charset="2"/>
              <a:buChar char="§"/>
            </a:pPr>
            <a:r>
              <a:rPr lang="en-US" smtClean="0"/>
              <a:t>Global </a:t>
            </a:r>
            <a:r>
              <a:rPr lang="en-US" smtClean="0"/>
              <a:t>(Point</a:t>
            </a:r>
            <a:r>
              <a:rPr lang="en-US" smtClean="0"/>
              <a:t>) </a:t>
            </a:r>
            <a:r>
              <a:rPr lang="en-US" smtClean="0"/>
              <a:t>Operations</a:t>
            </a:r>
          </a:p>
          <a:p>
            <a:pPr lvl="1">
              <a:buFont typeface="Wingdings" pitchFamily="2" charset="2"/>
              <a:buChar char="§"/>
            </a:pPr>
            <a:r>
              <a:rPr lang="en-US" smtClean="0"/>
              <a:t>Neighborhood-Oriented Operations</a:t>
            </a:r>
          </a:p>
          <a:p>
            <a:pPr lvl="1">
              <a:buFont typeface="Wingdings" pitchFamily="2" charset="2"/>
              <a:buChar char="§"/>
            </a:pPr>
            <a:r>
              <a:rPr lang="en-US" smtClean="0"/>
              <a:t>Operations </a:t>
            </a:r>
            <a:r>
              <a:rPr lang="en-US" smtClean="0"/>
              <a:t>Combining Multiple Images</a:t>
            </a:r>
          </a:p>
          <a:p>
            <a:r>
              <a:rPr lang="en-US" smtClean="0"/>
              <a:t>Operations </a:t>
            </a:r>
            <a:r>
              <a:rPr lang="en-US" smtClean="0"/>
              <a:t>in a Transform Domain</a:t>
            </a:r>
          </a:p>
          <a:p>
            <a:pPr lvl="1">
              <a:buFont typeface="Wingdings" pitchFamily="2" charset="2"/>
              <a:buChar char="§"/>
            </a:pPr>
            <a:r>
              <a:rPr lang="en-US" smtClean="0"/>
              <a:t>Fourier </a:t>
            </a:r>
            <a:r>
              <a:rPr lang="en-US" smtClean="0"/>
              <a:t>Transform</a:t>
            </a:r>
          </a:p>
          <a:p>
            <a:pPr lvl="1">
              <a:buFont typeface="Wingdings" pitchFamily="2" charset="2"/>
              <a:buChar char="§"/>
            </a:pPr>
            <a:r>
              <a:rPr lang="en-US" smtClean="0"/>
              <a:t>Discrete </a:t>
            </a:r>
            <a:r>
              <a:rPr lang="en-US" smtClean="0"/>
              <a:t>Cosine Transform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Intensity reduction by 2 (global</a:t>
            </a:r>
            <a:br>
              <a:rPr lang="en-US" smtClean="0"/>
            </a:br>
            <a:r>
              <a:rPr lang="en-US" smtClean="0"/>
              <a:t>operation)</a:t>
            </a:r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994212" y="2485747"/>
            <a:ext cx="5558745" cy="3753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Combining Two Images</a:t>
            </a:r>
            <a:endParaRPr lang="en-US"/>
          </a:p>
        </p:txBody>
      </p:sp>
      <p:pic>
        <p:nvPicPr>
          <p:cNvPr id="40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72262" y="2682972"/>
            <a:ext cx="4330046" cy="2659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45025" y="3245223"/>
            <a:ext cx="5572077" cy="1979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Sharpening an image by</a:t>
            </a:r>
            <a:br>
              <a:rPr lang="en-US" smtClean="0"/>
            </a:br>
            <a:r>
              <a:rPr lang="en-US" smtClean="0"/>
              <a:t>neighborhood operation</a:t>
            </a:r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50975" y="2560638"/>
            <a:ext cx="4413249" cy="330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318629" y="2560638"/>
            <a:ext cx="4444241" cy="330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Operations in Transform Domain</a:t>
            </a:r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80180" y="2689413"/>
            <a:ext cx="9783336" cy="2420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Practical Image and Video Processing using Matlab</a:t>
            </a:r>
            <a:r>
              <a:rPr lang="en-US" smtClean="0"/>
              <a:t>, </a:t>
            </a:r>
            <a:r>
              <a:rPr lang="en-US" smtClean="0"/>
              <a:t>Oge Marques</a:t>
            </a:r>
            <a:r>
              <a:rPr lang="en-US" smtClean="0"/>
              <a:t>, 2011, </a:t>
            </a:r>
            <a:r>
              <a:rPr lang="en-US" b="1" smtClean="0"/>
              <a:t>Chapter 2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828</TotalTime>
  <Words>527</Words>
  <Application>Microsoft Office PowerPoint</Application>
  <PresentationFormat>Custom</PresentationFormat>
  <Paragraphs>68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Organic</vt:lpstr>
      <vt:lpstr>Chapter 2</vt:lpstr>
      <vt:lpstr>What will we learn?</vt:lpstr>
      <vt:lpstr>Digital Image Representation</vt:lpstr>
      <vt:lpstr>Raster vs Vector</vt:lpstr>
      <vt:lpstr>Example</vt:lpstr>
      <vt:lpstr>A gray-level image and the pixel values in a 6×6 neighborhood</vt:lpstr>
      <vt:lpstr>Color Images</vt:lpstr>
      <vt:lpstr>Color Image, R, G and B</vt:lpstr>
      <vt:lpstr>Indexed Image...</vt:lpstr>
      <vt:lpstr>Some Image File Formats</vt:lpstr>
      <vt:lpstr>Basic Terminology</vt:lpstr>
      <vt:lpstr>(a) 4-neighborhood, (b) diagonal neighborhood, (c) 8-neighborhood</vt:lpstr>
      <vt:lpstr>Basic Terminology (cont.)</vt:lpstr>
      <vt:lpstr>Basic Terminology (cont.)</vt:lpstr>
      <vt:lpstr>Basic Terminology (cont.)</vt:lpstr>
      <vt:lpstr>Image Processing Operations</vt:lpstr>
      <vt:lpstr>Intensity reduction by 2 (global operation)</vt:lpstr>
      <vt:lpstr>Combining Two Images</vt:lpstr>
      <vt:lpstr>Sharpening an image by neighborhood operation</vt:lpstr>
      <vt:lpstr>Operations in Transform Domain</vt:lpstr>
      <vt:lpstr>References</vt:lpstr>
    </vt:vector>
  </TitlesOfParts>
  <Company>00000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>MAYTINH</dc:creator>
  <cp:lastModifiedBy>Thuy Nguyen</cp:lastModifiedBy>
  <cp:revision>41</cp:revision>
  <dcterms:created xsi:type="dcterms:W3CDTF">2017-05-09T04:34:48Z</dcterms:created>
  <dcterms:modified xsi:type="dcterms:W3CDTF">2017-05-10T15:55:06Z</dcterms:modified>
</cp:coreProperties>
</file>
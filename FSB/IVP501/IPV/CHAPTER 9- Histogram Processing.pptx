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6" r:id="rId11"/>
    <p:sldId id="277" r:id="rId12"/>
    <p:sldId id="278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snapVertSplitter="1" vertBarState="minimized" horzBarState="maximized"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-1224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FFEF59C9-AC0B-4896-9217-64A6B5201B25}" type="datetimeFigureOut">
              <a:rPr lang="vi-VN" smtClean="0"/>
              <a:pPr/>
              <a:t>05/06/2017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40996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0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05/06/2017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897588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05/06/2017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3733210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05/06/2017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590289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05/06/2017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2377413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05/06/2017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509971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05/06/2017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322958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05/06/2017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3660130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05/06/2017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581914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05/06/2017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3817764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05/06/2017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26954549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05/06/2017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5593015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05/06/2017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1927075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05/06/2017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31756019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05/06/2017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7849253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05/06/2017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5384280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05/06/2017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41421358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05/06/2017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616223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FEF59C9-AC0B-4896-9217-64A6B5201B25}" type="datetimeFigureOut">
              <a:rPr lang="vi-VN" smtClean="0"/>
              <a:pPr/>
              <a:t>05/06/2017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2627066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8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b="1" smtClean="0"/>
              <a:t>CHAPTER 9</a:t>
            </a:r>
            <a:endParaRPr lang="vi-VN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smtClean="0"/>
              <a:t>HISTOGRAM PROCESSING</a:t>
            </a:r>
            <a:endParaRPr lang="vi-VN" sz="3200" dirty="0"/>
          </a:p>
        </p:txBody>
      </p:sp>
    </p:spTree>
    <p:extLst>
      <p:ext uri="{BB962C8B-B14F-4D97-AF65-F5344CB8AC3E}">
        <p14:creationId xmlns:p14="http://schemas.microsoft.com/office/powerpoint/2010/main" xmlns="" val="1220897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/>
              <a:t>WHAT WILL WE LEARN?</a:t>
            </a:r>
            <a:endParaRPr lang="vi-VN" dirty="0"/>
          </a:p>
        </p:txBody>
      </p:sp>
      <p:sp>
        <p:nvSpPr>
          <p:cNvPr id="9" name="Content Placeholder 8"/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mtClean="0"/>
              <a:t>What is the histogram of an image? </a:t>
            </a:r>
          </a:p>
          <a:p>
            <a:r>
              <a:rPr lang="en-US" smtClean="0"/>
              <a:t>How can the histogram of an image be computed? </a:t>
            </a:r>
          </a:p>
          <a:p>
            <a:r>
              <a:rPr lang="en-US" smtClean="0"/>
              <a:t>How much information does the histogram provide about the image? </a:t>
            </a:r>
          </a:p>
          <a:p>
            <a:r>
              <a:rPr lang="en-US" smtClean="0"/>
              <a:t>What is histogram equalization and what happens to an image whose histogram is equalized? 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mtClean="0"/>
              <a:t>How can the histogram be modified through direct histogram specification and what happens to an image when we do it? </a:t>
            </a:r>
          </a:p>
          <a:p>
            <a:r>
              <a:rPr lang="en-US" smtClean="0"/>
              <a:t>What other histogram modification techniques can be applied to digital images and what is the result of applying such techniques? </a:t>
            </a:r>
          </a:p>
        </p:txBody>
      </p:sp>
    </p:spTree>
    <p:extLst>
      <p:ext uri="{BB962C8B-B14F-4D97-AF65-F5344CB8AC3E}">
        <p14:creationId xmlns:p14="http://schemas.microsoft.com/office/powerpoint/2010/main" xmlns="" val="3546310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What is a histogram? 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mtClean="0"/>
              <a:t>The histogram of a monochrome image is a graphical representation of the frequency of occurrence of each gray level in the image. </a:t>
            </a:r>
          </a:p>
          <a:p>
            <a:r>
              <a:rPr lang="en-US" smtClean="0"/>
              <a:t>The data structure that stores the frequency values is a 1D array of numerical values, </a:t>
            </a:r>
            <a:r>
              <a:rPr lang="en-US" i="1" smtClean="0"/>
              <a:t>h, whose individual elements store the number (or percentage) of image pixels that correspond to each possible gray level. </a:t>
            </a:r>
          </a:p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What is a histogram? </a:t>
            </a:r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549473" y="2473215"/>
            <a:ext cx="5029209" cy="737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88572" y="3425346"/>
            <a:ext cx="9362963" cy="1357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605935" y="4672122"/>
            <a:ext cx="1686921" cy="755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615263" y="5198657"/>
            <a:ext cx="6699398" cy="936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Histogram example 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smtClean="0"/>
              <a:t>Example 9.1: histogram for a hypothetical image containing 128×128 pixels and 8 gray levels. </a:t>
            </a:r>
          </a:p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88749" y="3685287"/>
            <a:ext cx="2963196" cy="2883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6454775" y="2582069"/>
            <a:ext cx="4171950" cy="3267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Examples of images and their histograms (Example 9.2) 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mtClean="0"/>
              <a:t>In MATLAB: </a:t>
            </a:r>
            <a:r>
              <a:rPr lang="en-US" b="1" smtClean="0"/>
              <a:t>imhist </a:t>
            </a:r>
          </a:p>
          <a:p>
            <a:endParaRPr lang="en-US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452864" y="2560638"/>
            <a:ext cx="4409471" cy="3309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57129" y="3122206"/>
            <a:ext cx="4325048" cy="323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Interpreting image histograms 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mtClean="0"/>
              <a:t>Histograms have become a popular tool for conveying image statistics and helping determine certain problems in an image. </a:t>
            </a:r>
          </a:p>
          <a:p>
            <a:r>
              <a:rPr lang="en-US" smtClean="0"/>
              <a:t>A histogram carries significant qualitative and quantitative information about the corresponding image (e.g., minimum, average, and maximum gray level values, dominance of bright or dark pixels, etc.). </a:t>
            </a:r>
          </a:p>
          <a:p>
            <a:r>
              <a:rPr lang="en-US" smtClean="0"/>
              <a:t>A histogram is not enough to draw qualitative conclusions about the overall quality of the image, presence or absence of noise, etc. </a:t>
            </a:r>
          </a:p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Interpreting image histograms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mtClean="0"/>
              <a:t>Although a histogram provides the frequency distribution of gray levels in an image, it tells us nothing about the spatial distribution of the pixels whose gray levels are represented in the histogram. </a:t>
            </a:r>
          </a:p>
          <a:p>
            <a:r>
              <a:rPr lang="en-US" smtClean="0"/>
              <a:t>Histograms can be used whenever a statistical representation of the gray level distribution in an image is desired. </a:t>
            </a:r>
          </a:p>
          <a:p>
            <a:r>
              <a:rPr lang="en-US" smtClean="0"/>
              <a:t>Histograms can also be used to enhance or modify the characteristics of an image, particularly its contrast.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Histogram equalization 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Example 9.3: </a:t>
            </a:r>
          </a:p>
          <a:p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42730" y="3125972"/>
            <a:ext cx="2901475" cy="2170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71460" y="2349824"/>
            <a:ext cx="2488019" cy="197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017011" y="4338084"/>
            <a:ext cx="2891994" cy="22647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Left Arrow 8"/>
          <p:cNvSpPr/>
          <p:nvPr/>
        </p:nvSpPr>
        <p:spPr>
          <a:xfrm>
            <a:off x="4805916" y="3593805"/>
            <a:ext cx="574158" cy="42530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Bent-Up Arrow 9"/>
          <p:cNvSpPr/>
          <p:nvPr/>
        </p:nvSpPr>
        <p:spPr>
          <a:xfrm rot="16200000">
            <a:off x="8335927" y="3211033"/>
            <a:ext cx="1084521" cy="956930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345117" y="2560638"/>
            <a:ext cx="4624966" cy="3309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6345237" y="2577306"/>
            <a:ext cx="4391025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Example:</a:t>
            </a:r>
            <a:br>
              <a:rPr lang="en-US" smtClean="0"/>
            </a:br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 bwMode="auto">
          <a:xfrm>
            <a:off x="6662842" y="3213283"/>
            <a:ext cx="4825773" cy="1974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1380744" y="2542735"/>
            <a:ext cx="4718304" cy="3310128"/>
          </a:xfrm>
        </p:spPr>
        <p:txBody>
          <a:bodyPr>
            <a:normAutofit/>
          </a:bodyPr>
          <a:lstStyle/>
          <a:p>
            <a:r>
              <a:rPr lang="en-US" smtClean="0">
                <a:latin typeface="+mj-lt"/>
              </a:rPr>
              <a:t>Calculate </a:t>
            </a:r>
            <a:r>
              <a:rPr lang="en-US" smtClean="0">
                <a:latin typeface="+mj-lt"/>
              </a:rPr>
              <a:t>and equalize </a:t>
            </a:r>
            <a:r>
              <a:rPr lang="en-US" smtClean="0">
                <a:latin typeface="+mj-lt"/>
              </a:rPr>
              <a:t>histogram using the cdf of </a:t>
            </a:r>
            <a:r>
              <a:rPr lang="en-US" smtClean="0">
                <a:latin typeface="+mj-lt"/>
              </a:rPr>
              <a:t>the </a:t>
            </a:r>
            <a:r>
              <a:rPr lang="en-US" smtClean="0">
                <a:latin typeface="+mj-lt"/>
              </a:rPr>
              <a:t>image with new_level =4</a:t>
            </a:r>
            <a:endParaRPr lang="en-US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Solution</a:t>
            </a:r>
            <a:endParaRPr lang="en-US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776046" y="2574276"/>
            <a:ext cx="2601058" cy="3416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5190940" y="2883876"/>
            <a:ext cx="5794402" cy="23035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Histogram equalization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7400" smtClean="0"/>
              <a:t>In MATLAB: </a:t>
            </a:r>
            <a:r>
              <a:rPr lang="en-US" sz="7400" b="1" smtClean="0"/>
              <a:t>histeq </a:t>
            </a:r>
            <a:r>
              <a:rPr lang="en-US" sz="7400" smtClean="0"/>
              <a:t>Example 9.4: </a:t>
            </a:r>
          </a:p>
          <a:p>
            <a:pPr marL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6000" b="1" smtClean="0">
                <a:latin typeface="Courier New"/>
              </a:rPr>
              <a:t>I = imread('sydney_low_contrast.png'); </a:t>
            </a:r>
          </a:p>
          <a:p>
            <a:pPr marL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6000" b="1" smtClean="0">
                <a:latin typeface="Courier New"/>
              </a:rPr>
              <a:t>I = im2double(I); </a:t>
            </a:r>
          </a:p>
          <a:p>
            <a:pPr marL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6000" b="1" smtClean="0">
                <a:latin typeface="Courier New"/>
              </a:rPr>
              <a:t>J = histeq(I); </a:t>
            </a:r>
          </a:p>
          <a:p>
            <a:pPr marL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6000" b="1" smtClean="0">
                <a:latin typeface="Courier New"/>
              </a:rPr>
              <a:t>figure, subplot(2,2,1), imshow(I), ... </a:t>
            </a:r>
          </a:p>
          <a:p>
            <a:pPr marL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6000" b="1" smtClean="0">
                <a:latin typeface="Courier New"/>
              </a:rPr>
              <a:t>			  subplot(2,2,2), imshow(J), ... </a:t>
            </a:r>
          </a:p>
          <a:p>
            <a:pPr marL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6000" b="1" smtClean="0">
                <a:latin typeface="Courier New"/>
              </a:rPr>
              <a:t>			  subplot(2,2,3), imhist(I), ylim('auto'),... </a:t>
            </a:r>
          </a:p>
          <a:p>
            <a:pPr marL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6000" b="1" smtClean="0">
                <a:latin typeface="Courier New"/>
              </a:rPr>
              <a:t>			  subplot(2,2,4), imhist(J), ylim('auto') </a:t>
            </a:r>
            <a:endParaRPr lang="en-US" sz="6000" b="1" smtClean="0"/>
          </a:p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Global vs. local histogram equalization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In MATLAB: </a:t>
            </a:r>
            <a:r>
              <a:rPr lang="en-US" b="1" smtClean="0"/>
              <a:t>histeq and adapthisteq </a:t>
            </a:r>
          </a:p>
          <a:p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87392" y="3114122"/>
            <a:ext cx="6696850" cy="29970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Direct histogram specification </a:t>
            </a:r>
            <a:br>
              <a:rPr lang="en-US" smtClean="0"/>
            </a:br>
            <a:r>
              <a:rPr lang="en-US" smtClean="0"/>
              <a:t></a:t>
            </a:r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mtClean="0"/>
              <a:t>Example 9.6: </a:t>
            </a:r>
          </a:p>
          <a:p>
            <a:endParaRPr lang="en-US"/>
          </a:p>
        </p:txBody>
      </p:sp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93110" y="3216871"/>
            <a:ext cx="9167038" cy="28940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Direct histogram specification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mtClean="0"/>
              <a:t>In MATLAB: </a:t>
            </a:r>
            <a:r>
              <a:rPr lang="en-US" b="1" smtClean="0"/>
              <a:t>histeq </a:t>
            </a:r>
          </a:p>
          <a:p>
            <a:endParaRPr lang="en-US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486400" y="2373815"/>
            <a:ext cx="4987925" cy="3869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Direct histogram specification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2401682" cy="3310128"/>
          </a:xfrm>
        </p:spPr>
        <p:txBody>
          <a:bodyPr/>
          <a:lstStyle/>
          <a:p>
            <a:r>
              <a:rPr lang="en-US" smtClean="0"/>
              <a:t>Interactive histogram matching tool (</a:t>
            </a:r>
            <a:r>
              <a:rPr lang="en-US" b="1" smtClean="0"/>
              <a:t>ihmdemo) </a:t>
            </a:r>
          </a:p>
          <a:p>
            <a:endParaRPr lang="en-US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987823" y="2560638"/>
            <a:ext cx="4645228" cy="3309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Other histogram modification techniques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7" y="2560320"/>
            <a:ext cx="3145961" cy="3310128"/>
          </a:xfrm>
        </p:spPr>
        <p:txBody>
          <a:bodyPr/>
          <a:lstStyle/>
          <a:p>
            <a:r>
              <a:rPr lang="en-US" smtClean="0"/>
              <a:t>Histogram sliding </a:t>
            </a:r>
          </a:p>
          <a:p>
            <a:pPr>
              <a:buNone/>
            </a:pPr>
            <a:r>
              <a:rPr lang="en-US" smtClean="0"/>
              <a:t>(Example 9.8): </a:t>
            </a:r>
          </a:p>
          <a:p>
            <a:endParaRPr lang="en-US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41044" y="2686844"/>
            <a:ext cx="6282900" cy="3441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Histogram sliding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2699394" cy="3310128"/>
          </a:xfrm>
        </p:spPr>
        <p:txBody>
          <a:bodyPr>
            <a:normAutofit/>
          </a:bodyPr>
          <a:lstStyle/>
          <a:p>
            <a:r>
              <a:rPr lang="en-US" sz="3800" smtClean="0"/>
              <a:t>In MATLAB: </a:t>
            </a:r>
          </a:p>
          <a:p>
            <a:pPr>
              <a:buNone/>
            </a:pPr>
            <a:r>
              <a:rPr lang="en-US" sz="3800" b="1" smtClean="0"/>
              <a:t>	imadd and imsubtract </a:t>
            </a:r>
          </a:p>
          <a:p>
            <a:endParaRPr lang="en-US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146443" y="2658138"/>
            <a:ext cx="7294190" cy="344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Histogram stretching (Example 9.9): </a:t>
            </a:r>
            <a:br>
              <a:rPr lang="en-US" smtClean="0"/>
            </a:b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09644" y="2488019"/>
            <a:ext cx="8033815" cy="36150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Histogram shrinking (Example 9.10): </a:t>
            </a:r>
            <a:br>
              <a:rPr lang="en-US" smtClean="0"/>
            </a:br>
            <a:endParaRPr lang="en-US"/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344469" y="2594344"/>
            <a:ext cx="4580967" cy="10325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291" name="Picture 3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6188149" y="2739231"/>
            <a:ext cx="4167113" cy="33905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Histogram stretching and shrinking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2805719" cy="3310128"/>
          </a:xfrm>
        </p:spPr>
        <p:txBody>
          <a:bodyPr/>
          <a:lstStyle/>
          <a:p>
            <a:r>
              <a:rPr lang="en-US" smtClean="0"/>
              <a:t>In MATLAB: </a:t>
            </a:r>
          </a:p>
          <a:p>
            <a:r>
              <a:rPr lang="en-US" b="1" smtClean="0"/>
              <a:t>imadjust </a:t>
            </a:r>
          </a:p>
          <a:p>
            <a:endParaRPr lang="en-US"/>
          </a:p>
        </p:txBody>
      </p:sp>
      <p:pic>
        <p:nvPicPr>
          <p:cNvPr id="13314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040372" y="2573078"/>
            <a:ext cx="7145079" cy="35938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Hands-on 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Tutorial 9.1: Image histograms (page 188) </a:t>
            </a:r>
          </a:p>
          <a:p>
            <a:r>
              <a:rPr lang="en-US" smtClean="0"/>
              <a:t>Tutorial 9.2: Histogram equalization and specification (page 191) </a:t>
            </a:r>
          </a:p>
          <a:p>
            <a:r>
              <a:rPr lang="en-US" smtClean="0"/>
              <a:t>Tutorial 9.3: Other histogram modification techniques (page 195) </a:t>
            </a:r>
          </a:p>
          <a:p>
            <a:pPr>
              <a:buNone/>
            </a:pPr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HAPTER 5- Image sensing and acquisition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CHAPTER 5- Image sensing and acquisition</Template>
  <TotalTime>5849</TotalTime>
  <Words>494</Words>
  <Application>Microsoft Office PowerPoint</Application>
  <PresentationFormat>Custom</PresentationFormat>
  <Paragraphs>62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CHAPTER 5- Image sensing and acquisition</vt:lpstr>
      <vt:lpstr>CHAPTER 9</vt:lpstr>
      <vt:lpstr>WHAT WILL WE LEARN?</vt:lpstr>
      <vt:lpstr>What is a histogram? </vt:lpstr>
      <vt:lpstr>What is a histogram? </vt:lpstr>
      <vt:lpstr>Histogram example </vt:lpstr>
      <vt:lpstr>Examples of images and their histograms (Example 9.2) </vt:lpstr>
      <vt:lpstr>Interpreting image histograms </vt:lpstr>
      <vt:lpstr>Interpreting image histograms </vt:lpstr>
      <vt:lpstr>Histogram equalization </vt:lpstr>
      <vt:lpstr>Slide 10</vt:lpstr>
      <vt:lpstr>Example: </vt:lpstr>
      <vt:lpstr>Solution</vt:lpstr>
      <vt:lpstr>Histogram equalization </vt:lpstr>
      <vt:lpstr>Global vs. local histogram equalization </vt:lpstr>
      <vt:lpstr> Direct histogram specification  </vt:lpstr>
      <vt:lpstr>Direct histogram specification </vt:lpstr>
      <vt:lpstr>Direct histogram specification </vt:lpstr>
      <vt:lpstr>Other histogram modification techniques </vt:lpstr>
      <vt:lpstr>Histogram sliding </vt:lpstr>
      <vt:lpstr> Histogram stretching (Example 9.9):  </vt:lpstr>
      <vt:lpstr> Histogram shrinking (Example 9.10):  </vt:lpstr>
      <vt:lpstr>Histogram stretching and shrinking </vt:lpstr>
      <vt:lpstr>Hands-on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9</dc:title>
  <dc:creator>Thuy Nguyen</dc:creator>
  <cp:lastModifiedBy>Thuy Nguyen</cp:lastModifiedBy>
  <cp:revision>106</cp:revision>
  <dcterms:created xsi:type="dcterms:W3CDTF">2017-05-29T10:59:53Z</dcterms:created>
  <dcterms:modified xsi:type="dcterms:W3CDTF">2017-06-09T12:55:28Z</dcterms:modified>
</cp:coreProperties>
</file>
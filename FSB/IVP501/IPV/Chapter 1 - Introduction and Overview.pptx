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9" r:id="rId22"/>
    <p:sldId id="276" r:id="rId23"/>
    <p:sldId id="277" r:id="rId24"/>
    <p:sldId id="280" r:id="rId25"/>
    <p:sldId id="281" r:id="rId26"/>
    <p:sldId id="282" r:id="rId27"/>
    <p:sldId id="283" r:id="rId28"/>
    <p:sldId id="278" r:id="rId29"/>
  </p:sldIdLst>
  <p:sldSz cx="12192000" cy="6858000"/>
  <p:notesSz cx="6858000" cy="9144000"/>
  <p:defaultTex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74" d="100"/>
          <a:sy n="74" d="100"/>
        </p:scale>
        <p:origin x="-540" y="-9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FFEF59C9-AC0B-4896-9217-64A6B5201B25}" type="datetimeFigureOut">
              <a:rPr lang="vi-VN" smtClean="0"/>
              <a:pPr/>
              <a:t>05/12/2022</a:t>
            </a:fld>
            <a:endParaRPr lang="vi-VN"/>
          </a:p>
        </p:txBody>
      </p:sp>
      <p:sp>
        <p:nvSpPr>
          <p:cNvPr id="5" name="Footer Placeholder 4"/>
          <p:cNvSpPr>
            <a:spLocks noGrp="1"/>
          </p:cNvSpPr>
          <p:nvPr>
            <p:ph type="ftr" sz="quarter" idx="11"/>
          </p:nvPr>
        </p:nvSpPr>
        <p:spPr>
          <a:xfrm>
            <a:off x="2692397" y="5037663"/>
            <a:ext cx="5214635" cy="279400"/>
          </a:xfrm>
        </p:spPr>
        <p:txBody>
          <a:bodyPr/>
          <a:lstStyle/>
          <a:p>
            <a:endParaRPr lang="vi-VN"/>
          </a:p>
        </p:txBody>
      </p:sp>
      <p:sp>
        <p:nvSpPr>
          <p:cNvPr id="6" name="Slide Number Placeholder 5"/>
          <p:cNvSpPr>
            <a:spLocks noGrp="1"/>
          </p:cNvSpPr>
          <p:nvPr>
            <p:ph type="sldNum" sz="quarter" idx="12"/>
          </p:nvPr>
        </p:nvSpPr>
        <p:spPr>
          <a:xfrm>
            <a:off x="8956900" y="5037663"/>
            <a:ext cx="551167" cy="279400"/>
          </a:xfrm>
        </p:spPr>
        <p:txBody>
          <a:bodyPr/>
          <a:lstStyle/>
          <a:p>
            <a:fld id="{3D7DFF4C-B055-40F6-B08C-CE9D9467D3F9}" type="slidenum">
              <a:rPr lang="vi-VN" smtClean="0"/>
              <a:pPr/>
              <a:t>‹#›</a:t>
            </a:fld>
            <a:endParaRPr lang="vi-VN"/>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09966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normAutofit/>
          </a:bodyPr>
          <a:lstStyle>
            <a:lvl1pPr>
              <a:defRPr sz="4800">
                <a:latin typeface="Arial" panose="020B0604020202020204" pitchFamily="34" charset="0"/>
                <a:cs typeface="Arial" panose="020B0604020202020204" pitchFamily="34" charset="0"/>
              </a:defRPr>
            </a:lvl1pPr>
          </a:lstStyle>
          <a:p>
            <a:r>
              <a:rPr lang="en-US" dirty="0" smtClean="0"/>
              <a:t>Click to edit Master title style</a:t>
            </a:r>
            <a:endParaRPr lang="en-US" dirty="0"/>
          </a:p>
        </p:txBody>
      </p:sp>
      <p:sp>
        <p:nvSpPr>
          <p:cNvPr id="3" name="Content Placeholder 2"/>
          <p:cNvSpPr>
            <a:spLocks noGrp="1"/>
          </p:cNvSpPr>
          <p:nvPr>
            <p:ph idx="1"/>
          </p:nvPr>
        </p:nvSpPr>
        <p:spPr/>
        <p:txBody>
          <a:bodyPr>
            <a:normAutofit/>
          </a:bodyPr>
          <a:lstStyle>
            <a:lvl1pPr>
              <a:defRPr sz="3600"/>
            </a:lvl1pPr>
            <a:lvl2pPr>
              <a:defRPr sz="3200"/>
            </a:lvl2pPr>
            <a:lvl3pPr>
              <a:defRPr sz="2800"/>
            </a:lvl3pPr>
            <a:lvl4pPr>
              <a:defRPr sz="2400"/>
            </a:lvl4pPr>
            <a:lvl5pPr>
              <a:defRPr sz="2000"/>
            </a:lvl5p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FFEF59C9-AC0B-4896-9217-64A6B5201B25}" type="datetimeFigureOut">
              <a:rPr lang="vi-VN" smtClean="0"/>
              <a:pPr/>
              <a:t>05/12/2022</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3D7DFF4C-B055-40F6-B08C-CE9D9467D3F9}" type="slidenum">
              <a:rPr lang="vi-VN" smtClean="0"/>
              <a:pPr/>
              <a:t>‹#›</a:t>
            </a:fld>
            <a:endParaRPr lang="vi-VN"/>
          </a:p>
        </p:txBody>
      </p:sp>
    </p:spTree>
    <p:extLst>
      <p:ext uri="{BB962C8B-B14F-4D97-AF65-F5344CB8AC3E}">
        <p14:creationId xmlns:p14="http://schemas.microsoft.com/office/powerpoint/2010/main" val="8975888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vi-VN"/>
          </a:p>
        </p:txBody>
      </p:sp>
      <p:sp>
        <p:nvSpPr>
          <p:cNvPr id="3" name="Date Placeholder 2"/>
          <p:cNvSpPr>
            <a:spLocks noGrp="1"/>
          </p:cNvSpPr>
          <p:nvPr>
            <p:ph type="dt" sz="half" idx="10"/>
          </p:nvPr>
        </p:nvSpPr>
        <p:spPr/>
        <p:txBody>
          <a:bodyPr/>
          <a:lstStyle/>
          <a:p>
            <a:fld id="{FFEF59C9-AC0B-4896-9217-64A6B5201B25}" type="datetimeFigureOut">
              <a:rPr lang="vi-VN" smtClean="0"/>
              <a:pPr/>
              <a:t>05/12/2022</a:t>
            </a:fld>
            <a:endParaRPr lang="vi-VN"/>
          </a:p>
        </p:txBody>
      </p:sp>
      <p:sp>
        <p:nvSpPr>
          <p:cNvPr id="4" name="Footer Placeholder 3"/>
          <p:cNvSpPr>
            <a:spLocks noGrp="1"/>
          </p:cNvSpPr>
          <p:nvPr>
            <p:ph type="ftr" sz="quarter" idx="11"/>
          </p:nvPr>
        </p:nvSpPr>
        <p:spPr/>
        <p:txBody>
          <a:bodyPr/>
          <a:lstStyle/>
          <a:p>
            <a:endParaRPr lang="vi-VN"/>
          </a:p>
        </p:txBody>
      </p:sp>
      <p:sp>
        <p:nvSpPr>
          <p:cNvPr id="5" name="Slide Number Placeholder 4"/>
          <p:cNvSpPr>
            <a:spLocks noGrp="1"/>
          </p:cNvSpPr>
          <p:nvPr>
            <p:ph type="sldNum" sz="quarter" idx="12"/>
          </p:nvPr>
        </p:nvSpPr>
        <p:spPr/>
        <p:txBody>
          <a:bodyPr/>
          <a:lstStyle/>
          <a:p>
            <a:fld id="{3D7DFF4C-B055-40F6-B08C-CE9D9467D3F9}" type="slidenum">
              <a:rPr lang="vi-VN" smtClean="0"/>
              <a:pPr/>
              <a:t>‹#›</a:t>
            </a:fld>
            <a:endParaRPr lang="vi-VN"/>
          </a:p>
        </p:txBody>
      </p:sp>
    </p:spTree>
    <p:extLst>
      <p:ext uri="{BB962C8B-B14F-4D97-AF65-F5344CB8AC3E}">
        <p14:creationId xmlns:p14="http://schemas.microsoft.com/office/powerpoint/2010/main" val="37332100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FFEF59C9-AC0B-4896-9217-64A6B5201B25}" type="datetimeFigureOut">
              <a:rPr lang="vi-VN" smtClean="0"/>
              <a:pPr/>
              <a:t>05/12/2022</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3D7DFF4C-B055-40F6-B08C-CE9D9467D3F9}" type="slidenum">
              <a:rPr lang="vi-VN" smtClean="0"/>
              <a:pPr/>
              <a:t>‹#›</a:t>
            </a:fld>
            <a:endParaRPr lang="vi-VN"/>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902896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lvl1pPr>
              <a:defRPr>
                <a:latin typeface="Arial" panose="020B0604020202020204" pitchFamily="34" charset="0"/>
                <a:cs typeface="Arial" panose="020B0604020202020204" pitchFamily="34" charset="0"/>
              </a:defRPr>
            </a:lvl1pPr>
          </a:lstStyle>
          <a:p>
            <a:r>
              <a:rPr lang="en-US" dirty="0" smtClean="0"/>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lvl1pPr>
              <a:defRPr sz="3200"/>
            </a:lvl1pPr>
            <a:lvl2pPr>
              <a:defRPr sz="2800"/>
            </a:lvl2pPr>
            <a:lvl3pPr>
              <a:defRPr sz="2400"/>
            </a:lvl3pPr>
            <a:lvl4pPr>
              <a:defRPr sz="2000"/>
            </a:lvl4pPr>
            <a:lvl5pPr>
              <a:defRPr sz="1800"/>
            </a:lvl5p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lvl1pPr>
              <a:defRPr sz="3200"/>
            </a:lvl1pPr>
            <a:lvl2pPr>
              <a:defRPr sz="2800"/>
            </a:lvl2pPr>
            <a:lvl3pPr>
              <a:defRPr sz="2400"/>
            </a:lvl3pPr>
            <a:lvl4pPr>
              <a:defRPr sz="2000"/>
            </a:lvl4pPr>
            <a:lvl5pPr>
              <a:defRPr sz="1800"/>
            </a:lvl5p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Date Placeholder 4"/>
          <p:cNvSpPr>
            <a:spLocks noGrp="1"/>
          </p:cNvSpPr>
          <p:nvPr>
            <p:ph type="dt" sz="half" idx="10"/>
          </p:nvPr>
        </p:nvSpPr>
        <p:spPr/>
        <p:txBody>
          <a:bodyPr/>
          <a:lstStyle/>
          <a:p>
            <a:fld id="{FFEF59C9-AC0B-4896-9217-64A6B5201B25}" type="datetimeFigureOut">
              <a:rPr lang="vi-VN" smtClean="0"/>
              <a:pPr/>
              <a:t>05/12/2022</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3D7DFF4C-B055-40F6-B08C-CE9D9467D3F9}" type="slidenum">
              <a:rPr lang="vi-VN" smtClean="0"/>
              <a:pPr/>
              <a:t>‹#›</a:t>
            </a:fld>
            <a:endParaRPr lang="vi-VN"/>
          </a:p>
        </p:txBody>
      </p:sp>
    </p:spTree>
    <p:extLst>
      <p:ext uri="{BB962C8B-B14F-4D97-AF65-F5344CB8AC3E}">
        <p14:creationId xmlns:p14="http://schemas.microsoft.com/office/powerpoint/2010/main" val="23774130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FFEF59C9-AC0B-4896-9217-64A6B5201B25}" type="datetimeFigureOut">
              <a:rPr lang="vi-VN" smtClean="0"/>
              <a:pPr/>
              <a:t>05/12/2022</a:t>
            </a:fld>
            <a:endParaRPr lang="vi-VN"/>
          </a:p>
        </p:txBody>
      </p:sp>
      <p:sp>
        <p:nvSpPr>
          <p:cNvPr id="8" name="Footer Placeholder 7"/>
          <p:cNvSpPr>
            <a:spLocks noGrp="1"/>
          </p:cNvSpPr>
          <p:nvPr>
            <p:ph type="ftr" sz="quarter" idx="11"/>
          </p:nvPr>
        </p:nvSpPr>
        <p:spPr/>
        <p:txBody>
          <a:bodyPr/>
          <a:lstStyle/>
          <a:p>
            <a:endParaRPr lang="vi-VN"/>
          </a:p>
        </p:txBody>
      </p:sp>
      <p:sp>
        <p:nvSpPr>
          <p:cNvPr id="9" name="Slide Number Placeholder 8"/>
          <p:cNvSpPr>
            <a:spLocks noGrp="1"/>
          </p:cNvSpPr>
          <p:nvPr>
            <p:ph type="sldNum" sz="quarter" idx="12"/>
          </p:nvPr>
        </p:nvSpPr>
        <p:spPr/>
        <p:txBody>
          <a:bodyPr/>
          <a:lstStyle/>
          <a:p>
            <a:fld id="{3D7DFF4C-B055-40F6-B08C-CE9D9467D3F9}" type="slidenum">
              <a:rPr lang="vi-VN" smtClean="0"/>
              <a:pPr/>
              <a:t>‹#›</a:t>
            </a:fld>
            <a:endParaRPr lang="vi-VN"/>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099711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FFEF59C9-AC0B-4896-9217-64A6B5201B25}" type="datetimeFigureOut">
              <a:rPr lang="vi-VN" smtClean="0"/>
              <a:pPr/>
              <a:t>05/12/2022</a:t>
            </a:fld>
            <a:endParaRPr lang="vi-VN"/>
          </a:p>
        </p:txBody>
      </p:sp>
      <p:sp>
        <p:nvSpPr>
          <p:cNvPr id="4" name="Footer Placeholder 3"/>
          <p:cNvSpPr>
            <a:spLocks noGrp="1"/>
          </p:cNvSpPr>
          <p:nvPr>
            <p:ph type="ftr" sz="quarter" idx="11"/>
          </p:nvPr>
        </p:nvSpPr>
        <p:spPr/>
        <p:txBody>
          <a:bodyPr/>
          <a:lstStyle/>
          <a:p>
            <a:endParaRPr lang="vi-VN"/>
          </a:p>
        </p:txBody>
      </p:sp>
      <p:sp>
        <p:nvSpPr>
          <p:cNvPr id="5" name="Slide Number Placeholder 4"/>
          <p:cNvSpPr>
            <a:spLocks noGrp="1"/>
          </p:cNvSpPr>
          <p:nvPr>
            <p:ph type="sldNum" sz="quarter" idx="12"/>
          </p:nvPr>
        </p:nvSpPr>
        <p:spPr/>
        <p:txBody>
          <a:bodyPr/>
          <a:lstStyle/>
          <a:p>
            <a:fld id="{3D7DFF4C-B055-40F6-B08C-CE9D9467D3F9}" type="slidenum">
              <a:rPr lang="vi-VN" smtClean="0"/>
              <a:pPr/>
              <a:t>‹#›</a:t>
            </a:fld>
            <a:endParaRPr lang="vi-VN"/>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229589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FEF59C9-AC0B-4896-9217-64A6B5201B25}" type="datetimeFigureOut">
              <a:rPr lang="vi-VN" smtClean="0"/>
              <a:pPr/>
              <a:t>05/12/2022</a:t>
            </a:fld>
            <a:endParaRPr lang="vi-VN"/>
          </a:p>
        </p:txBody>
      </p:sp>
      <p:sp>
        <p:nvSpPr>
          <p:cNvPr id="3" name="Footer Placeholder 2"/>
          <p:cNvSpPr>
            <a:spLocks noGrp="1"/>
          </p:cNvSpPr>
          <p:nvPr>
            <p:ph type="ftr" sz="quarter" idx="11"/>
          </p:nvPr>
        </p:nvSpPr>
        <p:spPr/>
        <p:txBody>
          <a:bodyPr/>
          <a:lstStyle/>
          <a:p>
            <a:endParaRPr lang="vi-VN"/>
          </a:p>
        </p:txBody>
      </p:sp>
      <p:sp>
        <p:nvSpPr>
          <p:cNvPr id="4" name="Slide Number Placeholder 3"/>
          <p:cNvSpPr>
            <a:spLocks noGrp="1"/>
          </p:cNvSpPr>
          <p:nvPr>
            <p:ph type="sldNum" sz="quarter" idx="12"/>
          </p:nvPr>
        </p:nvSpPr>
        <p:spPr/>
        <p:txBody>
          <a:bodyPr/>
          <a:lstStyle/>
          <a:p>
            <a:fld id="{3D7DFF4C-B055-40F6-B08C-CE9D9467D3F9}" type="slidenum">
              <a:rPr lang="vi-VN" smtClean="0"/>
              <a:pPr/>
              <a:t>‹#›</a:t>
            </a:fld>
            <a:endParaRPr lang="vi-VN"/>
          </a:p>
        </p:txBody>
      </p:sp>
    </p:spTree>
    <p:extLst>
      <p:ext uri="{BB962C8B-B14F-4D97-AF65-F5344CB8AC3E}">
        <p14:creationId xmlns:p14="http://schemas.microsoft.com/office/powerpoint/2010/main" val="36601303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FFEF59C9-AC0B-4896-9217-64A6B5201B25}" type="datetimeFigureOut">
              <a:rPr lang="vi-VN" smtClean="0"/>
              <a:pPr/>
              <a:t>05/12/2022</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3D7DFF4C-B055-40F6-B08C-CE9D9467D3F9}" type="slidenum">
              <a:rPr lang="vi-VN" smtClean="0"/>
              <a:pPr/>
              <a:t>‹#›</a:t>
            </a:fld>
            <a:endParaRPr lang="vi-VN"/>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819143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smtClean="0"/>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FFEF59C9-AC0B-4896-9217-64A6B5201B25}" type="datetimeFigureOut">
              <a:rPr lang="vi-VN" smtClean="0"/>
              <a:pPr/>
              <a:t>05/12/2022</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3D7DFF4C-B055-40F6-B08C-CE9D9467D3F9}" type="slidenum">
              <a:rPr lang="vi-VN" smtClean="0"/>
              <a:pPr/>
              <a:t>‹#›</a:t>
            </a:fld>
            <a:endParaRPr lang="vi-VN"/>
          </a:p>
        </p:txBody>
      </p:sp>
    </p:spTree>
    <p:extLst>
      <p:ext uri="{BB962C8B-B14F-4D97-AF65-F5344CB8AC3E}">
        <p14:creationId xmlns:p14="http://schemas.microsoft.com/office/powerpoint/2010/main" val="38177649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FFEF59C9-AC0B-4896-9217-64A6B5201B25}" type="datetimeFigureOut">
              <a:rPr lang="vi-VN" smtClean="0"/>
              <a:pPr/>
              <a:t>05/12/2022</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3D7DFF4C-B055-40F6-B08C-CE9D9467D3F9}" type="slidenum">
              <a:rPr lang="vi-VN" smtClean="0"/>
              <a:pPr/>
              <a:t>‹#›</a:t>
            </a:fld>
            <a:endParaRPr lang="vi-VN"/>
          </a:p>
        </p:txBody>
      </p:sp>
    </p:spTree>
    <p:extLst>
      <p:ext uri="{BB962C8B-B14F-4D97-AF65-F5344CB8AC3E}">
        <p14:creationId xmlns:p14="http://schemas.microsoft.com/office/powerpoint/2010/main" val="26954549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FFEF59C9-AC0B-4896-9217-64A6B5201B25}" type="datetimeFigureOut">
              <a:rPr lang="vi-VN" smtClean="0"/>
              <a:pPr/>
              <a:t>05/12/2022</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3D7DFF4C-B055-40F6-B08C-CE9D9467D3F9}" type="slidenum">
              <a:rPr lang="vi-VN" smtClean="0"/>
              <a:pPr/>
              <a:t>‹#›</a:t>
            </a:fld>
            <a:endParaRPr lang="vi-VN"/>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593015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FFEF59C9-AC0B-4896-9217-64A6B5201B25}" type="datetimeFigureOut">
              <a:rPr lang="vi-VN" smtClean="0"/>
              <a:pPr/>
              <a:t>05/12/2022</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3D7DFF4C-B055-40F6-B08C-CE9D9467D3F9}" type="slidenum">
              <a:rPr lang="vi-VN" smtClean="0"/>
              <a:pPr/>
              <a:t>‹#›</a:t>
            </a:fld>
            <a:endParaRPr lang="vi-VN"/>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9270759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FFEF59C9-AC0B-4896-9217-64A6B5201B25}" type="datetimeFigureOut">
              <a:rPr lang="vi-VN" smtClean="0"/>
              <a:pPr/>
              <a:t>05/12/2022</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3D7DFF4C-B055-40F6-B08C-CE9D9467D3F9}" type="slidenum">
              <a:rPr lang="vi-VN" smtClean="0"/>
              <a:pPr/>
              <a:t>‹#›</a:t>
            </a:fld>
            <a:endParaRPr lang="vi-VN"/>
          </a:p>
        </p:txBody>
      </p:sp>
    </p:spTree>
    <p:extLst>
      <p:ext uri="{BB962C8B-B14F-4D97-AF65-F5344CB8AC3E}">
        <p14:creationId xmlns:p14="http://schemas.microsoft.com/office/powerpoint/2010/main" val="31756019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FFEF59C9-AC0B-4896-9217-64A6B5201B25}" type="datetimeFigureOut">
              <a:rPr lang="vi-VN" smtClean="0"/>
              <a:pPr/>
              <a:t>05/12/2022</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3D7DFF4C-B055-40F6-B08C-CE9D9467D3F9}" type="slidenum">
              <a:rPr lang="vi-VN" smtClean="0"/>
              <a:pPr/>
              <a:t>‹#›</a:t>
            </a:fld>
            <a:endParaRPr lang="vi-VN"/>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8492534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smtClean="0"/>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FFEF59C9-AC0B-4896-9217-64A6B5201B25}" type="datetimeFigureOut">
              <a:rPr lang="vi-VN" smtClean="0"/>
              <a:pPr/>
              <a:t>05/12/2022</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3D7DFF4C-B055-40F6-B08C-CE9D9467D3F9}" type="slidenum">
              <a:rPr lang="vi-VN" smtClean="0"/>
              <a:pPr/>
              <a:t>‹#›</a:t>
            </a:fld>
            <a:endParaRPr lang="vi-VN"/>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3842803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FFEF59C9-AC0B-4896-9217-64A6B5201B25}" type="datetimeFigureOut">
              <a:rPr lang="vi-VN" smtClean="0"/>
              <a:pPr/>
              <a:t>05/12/2022</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3D7DFF4C-B055-40F6-B08C-CE9D9467D3F9}" type="slidenum">
              <a:rPr lang="vi-VN" smtClean="0"/>
              <a:pPr/>
              <a:t>‹#›</a:t>
            </a:fld>
            <a:endParaRPr lang="vi-VN"/>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4213582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FFEF59C9-AC0B-4896-9217-64A6B5201B25}" type="datetimeFigureOut">
              <a:rPr lang="vi-VN" smtClean="0"/>
              <a:pPr/>
              <a:t>05/12/2022</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3D7DFF4C-B055-40F6-B08C-CE9D9467D3F9}" type="slidenum">
              <a:rPr lang="vi-VN" smtClean="0"/>
              <a:pPr/>
              <a:t>‹#›</a:t>
            </a:fld>
            <a:endParaRPr lang="vi-VN"/>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162237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1">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1">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FFEF59C9-AC0B-4896-9217-64A6B5201B25}" type="datetimeFigureOut">
              <a:rPr lang="vi-VN" smtClean="0"/>
              <a:pPr/>
              <a:t>05/12/2022</a:t>
            </a:fld>
            <a:endParaRPr lang="vi-VN"/>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vi-VN"/>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3D7DFF4C-B055-40F6-B08C-CE9D9467D3F9}" type="slidenum">
              <a:rPr lang="vi-VN" smtClean="0"/>
              <a:pPr/>
              <a:t>‹#›</a:t>
            </a:fld>
            <a:endParaRPr lang="vi-VN"/>
          </a:p>
        </p:txBody>
      </p:sp>
    </p:spTree>
    <p:extLst>
      <p:ext uri="{BB962C8B-B14F-4D97-AF65-F5344CB8AC3E}">
        <p14:creationId xmlns:p14="http://schemas.microsoft.com/office/powerpoint/2010/main" val="262706622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8"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73" r:id="rId14"/>
    <p:sldLayoutId id="2147483674" r:id="rId15"/>
    <p:sldLayoutId id="2147483675" r:id="rId16"/>
    <p:sldLayoutId id="2147483676" r:id="rId17"/>
    <p:sldLayoutId id="2147483677" r:id="rId18"/>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vi-VN" sz="4400" b="1" dirty="0"/>
              <a:t>CHAPTER 1</a:t>
            </a:r>
            <a:endParaRPr lang="vi-VN" sz="4400" dirty="0"/>
          </a:p>
        </p:txBody>
      </p:sp>
      <p:sp>
        <p:nvSpPr>
          <p:cNvPr id="3" name="Subtitle 2"/>
          <p:cNvSpPr>
            <a:spLocks noGrp="1"/>
          </p:cNvSpPr>
          <p:nvPr>
            <p:ph type="subTitle" idx="1"/>
          </p:nvPr>
        </p:nvSpPr>
        <p:spPr/>
        <p:txBody>
          <a:bodyPr>
            <a:normAutofit/>
          </a:bodyPr>
          <a:lstStyle/>
          <a:p>
            <a:r>
              <a:rPr lang="vi-VN" sz="3200" dirty="0"/>
              <a:t>INTRODUCTION AND </a:t>
            </a:r>
            <a:r>
              <a:rPr lang="vi-VN" sz="3200" dirty="0" smtClean="0"/>
              <a:t>OVERVIEW</a:t>
            </a:r>
            <a:endParaRPr lang="vi-VN" sz="3200" dirty="0"/>
          </a:p>
        </p:txBody>
      </p:sp>
    </p:spTree>
    <p:extLst>
      <p:ext uri="{BB962C8B-B14F-4D97-AF65-F5344CB8AC3E}">
        <p14:creationId xmlns:p14="http://schemas.microsoft.com/office/powerpoint/2010/main" val="12208975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vi-VN" b="1" dirty="0"/>
              <a:t>WHAT WILL WE LEARN?</a:t>
            </a:r>
            <a:endParaRPr lang="vi-VN" dirty="0"/>
          </a:p>
        </p:txBody>
      </p:sp>
      <p:sp>
        <p:nvSpPr>
          <p:cNvPr id="9" name="Content Placeholder 8"/>
          <p:cNvSpPr>
            <a:spLocks noGrp="1"/>
          </p:cNvSpPr>
          <p:nvPr>
            <p:ph sz="half" idx="1"/>
          </p:nvPr>
        </p:nvSpPr>
        <p:spPr/>
        <p:txBody>
          <a:bodyPr>
            <a:normAutofit fontScale="70000" lnSpcReduction="20000"/>
          </a:bodyPr>
          <a:lstStyle/>
          <a:p>
            <a:r>
              <a:rPr lang="vi-VN" dirty="0"/>
              <a:t>What is image processing?</a:t>
            </a:r>
          </a:p>
          <a:p>
            <a:r>
              <a:rPr lang="en-US" dirty="0" smtClean="0"/>
              <a:t>What </a:t>
            </a:r>
            <a:r>
              <a:rPr lang="en-US" dirty="0"/>
              <a:t>are the main applications of image processing?</a:t>
            </a:r>
          </a:p>
          <a:p>
            <a:r>
              <a:rPr lang="vi-VN" dirty="0" smtClean="0"/>
              <a:t>What </a:t>
            </a:r>
            <a:r>
              <a:rPr lang="vi-VN" dirty="0"/>
              <a:t>is an image?</a:t>
            </a:r>
          </a:p>
          <a:p>
            <a:r>
              <a:rPr lang="en-US" dirty="0" smtClean="0"/>
              <a:t>What </a:t>
            </a:r>
            <a:r>
              <a:rPr lang="en-US" dirty="0"/>
              <a:t>is a digital image?</a:t>
            </a:r>
          </a:p>
          <a:p>
            <a:r>
              <a:rPr lang="en-US" dirty="0" smtClean="0"/>
              <a:t>What </a:t>
            </a:r>
            <a:r>
              <a:rPr lang="en-US" dirty="0"/>
              <a:t>are the goals of image processing algorithms?</a:t>
            </a:r>
          </a:p>
          <a:p>
            <a:r>
              <a:rPr lang="en-US" dirty="0" smtClean="0"/>
              <a:t>What </a:t>
            </a:r>
            <a:r>
              <a:rPr lang="en-US" dirty="0"/>
              <a:t>are the most common image processing operations</a:t>
            </a:r>
            <a:r>
              <a:rPr lang="en-US" dirty="0" smtClean="0"/>
              <a:t>?</a:t>
            </a:r>
            <a:endParaRPr lang="en-US" dirty="0"/>
          </a:p>
        </p:txBody>
      </p:sp>
      <p:sp>
        <p:nvSpPr>
          <p:cNvPr id="10" name="Content Placeholder 9"/>
          <p:cNvSpPr>
            <a:spLocks noGrp="1"/>
          </p:cNvSpPr>
          <p:nvPr>
            <p:ph sz="half" idx="2"/>
          </p:nvPr>
        </p:nvSpPr>
        <p:spPr/>
        <p:txBody>
          <a:bodyPr>
            <a:normAutofit fontScale="70000" lnSpcReduction="20000"/>
          </a:bodyPr>
          <a:lstStyle/>
          <a:p>
            <a:r>
              <a:rPr lang="en-US" dirty="0" smtClean="0"/>
              <a:t>Which </a:t>
            </a:r>
            <a:r>
              <a:rPr lang="en-US" dirty="0"/>
              <a:t>hardware and software components are typically needed to build an </a:t>
            </a:r>
            <a:r>
              <a:rPr lang="en-US" dirty="0" smtClean="0"/>
              <a:t>image processing system?</a:t>
            </a:r>
            <a:endParaRPr lang="vi-VN" dirty="0"/>
          </a:p>
          <a:p>
            <a:r>
              <a:rPr lang="en-US" dirty="0" smtClean="0"/>
              <a:t>What </a:t>
            </a:r>
            <a:r>
              <a:rPr lang="en-US" dirty="0"/>
              <a:t>is a machine vision system (MVS) and what are its main components?</a:t>
            </a:r>
          </a:p>
          <a:p>
            <a:r>
              <a:rPr lang="en-US" dirty="0" smtClean="0"/>
              <a:t>Why </a:t>
            </a:r>
            <a:r>
              <a:rPr lang="en-US" dirty="0"/>
              <a:t>is it so hard to emulate the performance of the human visual system (HVS</a:t>
            </a:r>
            <a:r>
              <a:rPr lang="en-US" dirty="0" smtClean="0"/>
              <a:t>) using cameras and computers?</a:t>
            </a:r>
            <a:endParaRPr lang="vi-VN" dirty="0"/>
          </a:p>
          <a:p>
            <a:endParaRPr lang="vi-VN" dirty="0"/>
          </a:p>
        </p:txBody>
      </p:sp>
    </p:spTree>
    <p:extLst>
      <p:ext uri="{BB962C8B-B14F-4D97-AF65-F5344CB8AC3E}">
        <p14:creationId xmlns:p14="http://schemas.microsoft.com/office/powerpoint/2010/main" val="35463107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dirty="0" smtClean="0"/>
              <a:t>Human Activities Covered </a:t>
            </a:r>
            <a:br>
              <a:rPr lang="en-US" dirty="0" smtClean="0"/>
            </a:br>
            <a:r>
              <a:rPr lang="en-US" dirty="0" smtClean="0"/>
              <a:t>by Image Processing</a:t>
            </a:r>
            <a:endParaRPr lang="vi-VN" dirty="0"/>
          </a:p>
        </p:txBody>
      </p:sp>
      <p:sp>
        <p:nvSpPr>
          <p:cNvPr id="6" name="Content Placeholder 5"/>
          <p:cNvSpPr>
            <a:spLocks noGrp="1"/>
          </p:cNvSpPr>
          <p:nvPr>
            <p:ph idx="1"/>
          </p:nvPr>
        </p:nvSpPr>
        <p:spPr/>
        <p:txBody>
          <a:bodyPr>
            <a:normAutofit fontScale="85000" lnSpcReduction="20000"/>
          </a:bodyPr>
          <a:lstStyle/>
          <a:p>
            <a:r>
              <a:rPr lang="vi-VN" dirty="0"/>
              <a:t>Medical Applications</a:t>
            </a:r>
          </a:p>
          <a:p>
            <a:r>
              <a:rPr lang="vi-VN" dirty="0" smtClean="0"/>
              <a:t>Industrial </a:t>
            </a:r>
            <a:r>
              <a:rPr lang="vi-VN" dirty="0"/>
              <a:t>Applications</a:t>
            </a:r>
          </a:p>
          <a:p>
            <a:r>
              <a:rPr lang="vi-VN" dirty="0" smtClean="0"/>
              <a:t>Military </a:t>
            </a:r>
            <a:r>
              <a:rPr lang="vi-VN" dirty="0"/>
              <a:t>Applications</a:t>
            </a:r>
          </a:p>
          <a:p>
            <a:r>
              <a:rPr lang="vi-VN" dirty="0" smtClean="0"/>
              <a:t>Law </a:t>
            </a:r>
            <a:r>
              <a:rPr lang="vi-VN" dirty="0"/>
              <a:t>Enforcement and Security</a:t>
            </a:r>
          </a:p>
          <a:p>
            <a:r>
              <a:rPr lang="vi-VN" dirty="0" smtClean="0"/>
              <a:t>Consumer </a:t>
            </a:r>
            <a:r>
              <a:rPr lang="vi-VN" dirty="0"/>
              <a:t>Electronics</a:t>
            </a:r>
          </a:p>
          <a:p>
            <a:r>
              <a:rPr lang="vi-VN" dirty="0" smtClean="0"/>
              <a:t>The </a:t>
            </a:r>
            <a:r>
              <a:rPr lang="vi-VN" dirty="0"/>
              <a:t>Internet, WWW</a:t>
            </a:r>
          </a:p>
        </p:txBody>
      </p:sp>
    </p:spTree>
    <p:extLst>
      <p:ext uri="{BB962C8B-B14F-4D97-AF65-F5344CB8AC3E}">
        <p14:creationId xmlns:p14="http://schemas.microsoft.com/office/powerpoint/2010/main" val="18721224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vi-VN" sz="4300"/>
              <a:t>What </a:t>
            </a:r>
            <a:r>
              <a:rPr lang="en-US" sz="4300" smtClean="0"/>
              <a:t>i</a:t>
            </a:r>
            <a:r>
              <a:rPr lang="vi-VN" sz="4300" smtClean="0"/>
              <a:t>s </a:t>
            </a:r>
            <a:r>
              <a:rPr lang="vi-VN" sz="4300" dirty="0"/>
              <a:t>an Image?</a:t>
            </a:r>
          </a:p>
        </p:txBody>
      </p:sp>
      <p:sp>
        <p:nvSpPr>
          <p:cNvPr id="3" name="Content Placeholder 2"/>
          <p:cNvSpPr>
            <a:spLocks noGrp="1"/>
          </p:cNvSpPr>
          <p:nvPr>
            <p:ph idx="1"/>
          </p:nvPr>
        </p:nvSpPr>
        <p:spPr/>
        <p:txBody>
          <a:bodyPr>
            <a:normAutofit/>
          </a:bodyPr>
          <a:lstStyle/>
          <a:p>
            <a:r>
              <a:rPr lang="en-US" dirty="0"/>
              <a:t>An image is a visual usually </a:t>
            </a:r>
            <a:r>
              <a:rPr lang="en-US" dirty="0" smtClean="0"/>
              <a:t>2-D representation </a:t>
            </a:r>
            <a:r>
              <a:rPr lang="en-US" dirty="0"/>
              <a:t>of an object, a person, or </a:t>
            </a:r>
            <a:r>
              <a:rPr lang="en-US" dirty="0" smtClean="0"/>
              <a:t>a scene </a:t>
            </a:r>
            <a:r>
              <a:rPr lang="en-US" dirty="0"/>
              <a:t>produced by an optical device such </a:t>
            </a:r>
            <a:r>
              <a:rPr lang="en-US" dirty="0" smtClean="0"/>
              <a:t>as </a:t>
            </a:r>
            <a:r>
              <a:rPr lang="vi-VN" dirty="0" smtClean="0"/>
              <a:t>a </a:t>
            </a:r>
            <a:r>
              <a:rPr lang="vi-VN" dirty="0"/>
              <a:t>mirror, a lens, or a camera...</a:t>
            </a:r>
          </a:p>
        </p:txBody>
      </p:sp>
    </p:spTree>
    <p:extLst>
      <p:ext uri="{BB962C8B-B14F-4D97-AF65-F5344CB8AC3E}">
        <p14:creationId xmlns:p14="http://schemas.microsoft.com/office/powerpoint/2010/main" val="2579277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300" dirty="0"/>
              <a:t>What Is a Digital Image?</a:t>
            </a:r>
            <a:endParaRPr lang="vi-VN" sz="4300" dirty="0"/>
          </a:p>
        </p:txBody>
      </p:sp>
      <p:sp>
        <p:nvSpPr>
          <p:cNvPr id="3" name="Content Placeholder 2"/>
          <p:cNvSpPr>
            <a:spLocks noGrp="1"/>
          </p:cNvSpPr>
          <p:nvPr>
            <p:ph idx="1"/>
          </p:nvPr>
        </p:nvSpPr>
        <p:spPr/>
        <p:txBody>
          <a:bodyPr/>
          <a:lstStyle/>
          <a:p>
            <a:r>
              <a:rPr lang="en-US" dirty="0"/>
              <a:t>A digital image is a representation of a </a:t>
            </a:r>
            <a:r>
              <a:rPr lang="en-US" dirty="0" smtClean="0"/>
              <a:t>2D image </a:t>
            </a:r>
            <a:r>
              <a:rPr lang="en-US" dirty="0"/>
              <a:t>using a finite number of points, </a:t>
            </a:r>
            <a:r>
              <a:rPr lang="en-US" dirty="0" smtClean="0"/>
              <a:t>referred to </a:t>
            </a:r>
            <a:r>
              <a:rPr lang="en-US" dirty="0"/>
              <a:t>as picture elements, </a:t>
            </a:r>
            <a:r>
              <a:rPr lang="en-US" dirty="0" err="1"/>
              <a:t>pels</a:t>
            </a:r>
            <a:r>
              <a:rPr lang="en-US" dirty="0"/>
              <a:t>, or pixels, with </a:t>
            </a:r>
            <a:r>
              <a:rPr lang="en-US" dirty="0" smtClean="0"/>
              <a:t>a finite </a:t>
            </a:r>
            <a:r>
              <a:rPr lang="en-US" dirty="0"/>
              <a:t>number of colors!</a:t>
            </a:r>
            <a:endParaRPr lang="vi-VN" dirty="0"/>
          </a:p>
        </p:txBody>
      </p:sp>
    </p:spTree>
    <p:extLst>
      <p:ext uri="{BB962C8B-B14F-4D97-AF65-F5344CB8AC3E}">
        <p14:creationId xmlns:p14="http://schemas.microsoft.com/office/powerpoint/2010/main" val="1391788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300" dirty="0"/>
              <a:t>What Is Digital Image Processing?</a:t>
            </a:r>
            <a:endParaRPr lang="vi-VN" sz="4300" dirty="0"/>
          </a:p>
        </p:txBody>
      </p:sp>
      <p:sp>
        <p:nvSpPr>
          <p:cNvPr id="3" name="Content Placeholder 2"/>
          <p:cNvSpPr>
            <a:spLocks noGrp="1"/>
          </p:cNvSpPr>
          <p:nvPr>
            <p:ph idx="1"/>
          </p:nvPr>
        </p:nvSpPr>
        <p:spPr/>
        <p:txBody>
          <a:bodyPr/>
          <a:lstStyle/>
          <a:p>
            <a:r>
              <a:rPr lang="en-US" dirty="0"/>
              <a:t>Science of modifying digital images by </a:t>
            </a:r>
            <a:r>
              <a:rPr lang="en-US" dirty="0" smtClean="0"/>
              <a:t>means of </a:t>
            </a:r>
            <a:r>
              <a:rPr lang="en-US" dirty="0"/>
              <a:t>a digital computer</a:t>
            </a:r>
            <a:r>
              <a:rPr lang="en-US" dirty="0" smtClean="0"/>
              <a:t>...</a:t>
            </a:r>
          </a:p>
          <a:p>
            <a:pPr lvl="1">
              <a:buFont typeface="Wingdings" panose="05000000000000000000" pitchFamily="2" charset="2"/>
              <a:buChar char="§"/>
            </a:pPr>
            <a:r>
              <a:rPr lang="en-US" dirty="0" smtClean="0"/>
              <a:t>Images </a:t>
            </a:r>
            <a:r>
              <a:rPr lang="en-US" dirty="0"/>
              <a:t>are changed automatically </a:t>
            </a:r>
            <a:r>
              <a:rPr lang="en-US" dirty="0" smtClean="0"/>
              <a:t>according to </a:t>
            </a:r>
            <a:r>
              <a:rPr lang="en-US" dirty="0"/>
              <a:t>an algorithm as opposed to </a:t>
            </a:r>
            <a:r>
              <a:rPr lang="en-US" dirty="0" smtClean="0"/>
              <a:t>image manipulation </a:t>
            </a:r>
            <a:r>
              <a:rPr lang="en-US" dirty="0"/>
              <a:t>using tools like </a:t>
            </a:r>
            <a:r>
              <a:rPr lang="en-US" dirty="0" smtClean="0"/>
              <a:t>Photoshop, GIMP</a:t>
            </a:r>
            <a:r>
              <a:rPr lang="en-US" dirty="0"/>
              <a:t>, etc.</a:t>
            </a:r>
            <a:endParaRPr lang="vi-VN" dirty="0"/>
          </a:p>
        </p:txBody>
      </p:sp>
    </p:spTree>
    <p:extLst>
      <p:ext uri="{BB962C8B-B14F-4D97-AF65-F5344CB8AC3E}">
        <p14:creationId xmlns:p14="http://schemas.microsoft.com/office/powerpoint/2010/main" val="42495757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300" dirty="0"/>
              <a:t>What Is the Scope of Image</a:t>
            </a:r>
            <a:br>
              <a:rPr lang="en-US" sz="4300" dirty="0"/>
            </a:br>
            <a:r>
              <a:rPr lang="en-US" sz="4300" dirty="0"/>
              <a:t>Processing?</a:t>
            </a:r>
            <a:endParaRPr lang="vi-VN" sz="4300" dirty="0"/>
          </a:p>
        </p:txBody>
      </p:sp>
      <p:sp>
        <p:nvSpPr>
          <p:cNvPr id="4" name="Content Placeholder 3"/>
          <p:cNvSpPr>
            <a:spLocks noGrp="1"/>
          </p:cNvSpPr>
          <p:nvPr>
            <p:ph idx="1"/>
          </p:nvPr>
        </p:nvSpPr>
        <p:spPr/>
        <p:txBody>
          <a:bodyPr>
            <a:normAutofit fontScale="77500" lnSpcReduction="20000"/>
          </a:bodyPr>
          <a:lstStyle/>
          <a:p>
            <a:r>
              <a:rPr lang="en-US" dirty="0"/>
              <a:t>Low Level</a:t>
            </a:r>
          </a:p>
          <a:p>
            <a:pPr marL="457200" lvl="1" indent="0">
              <a:buNone/>
            </a:pPr>
            <a:r>
              <a:rPr lang="en-US" dirty="0" smtClean="0"/>
              <a:t>Primitive </a:t>
            </a:r>
            <a:r>
              <a:rPr lang="en-US" dirty="0"/>
              <a:t>operations (e.g., noise reduction, </a:t>
            </a:r>
            <a:r>
              <a:rPr lang="en-US" dirty="0" smtClean="0"/>
              <a:t>contrast </a:t>
            </a:r>
            <a:r>
              <a:rPr lang="en-US" dirty="0" err="1" smtClean="0"/>
              <a:t>enhancement,etc</a:t>
            </a:r>
            <a:r>
              <a:rPr lang="en-US" dirty="0"/>
              <a:t>.) where both the input and </a:t>
            </a:r>
            <a:r>
              <a:rPr lang="en-US" dirty="0" smtClean="0"/>
              <a:t>the output </a:t>
            </a:r>
            <a:r>
              <a:rPr lang="en-US" dirty="0"/>
              <a:t>are </a:t>
            </a:r>
            <a:r>
              <a:rPr lang="en-US" dirty="0" smtClean="0"/>
              <a:t>images </a:t>
            </a:r>
          </a:p>
          <a:p>
            <a:r>
              <a:rPr lang="en-US" dirty="0" smtClean="0"/>
              <a:t>Mid </a:t>
            </a:r>
            <a:r>
              <a:rPr lang="en-US" dirty="0"/>
              <a:t>Level</a:t>
            </a:r>
          </a:p>
          <a:p>
            <a:pPr marL="457200" lvl="1" indent="0">
              <a:buNone/>
            </a:pPr>
            <a:r>
              <a:rPr lang="en-US" dirty="0" smtClean="0"/>
              <a:t> </a:t>
            </a:r>
            <a:r>
              <a:rPr lang="en-US" dirty="0"/>
              <a:t>Extraction of attributes (e.g., edges, contours, regions</a:t>
            </a:r>
            <a:r>
              <a:rPr lang="en-US" dirty="0" smtClean="0"/>
              <a:t>, etc</a:t>
            </a:r>
            <a:r>
              <a:rPr lang="en-US" dirty="0"/>
              <a:t>.) from images</a:t>
            </a:r>
          </a:p>
          <a:p>
            <a:r>
              <a:rPr lang="en-US" dirty="0" smtClean="0"/>
              <a:t>High </a:t>
            </a:r>
            <a:r>
              <a:rPr lang="en-US" dirty="0"/>
              <a:t>Level</a:t>
            </a:r>
          </a:p>
          <a:p>
            <a:pPr marL="457200" lvl="1" indent="0">
              <a:buNone/>
            </a:pPr>
            <a:r>
              <a:rPr lang="en-US" dirty="0" smtClean="0"/>
              <a:t>Analysis </a:t>
            </a:r>
            <a:r>
              <a:rPr lang="en-US" dirty="0"/>
              <a:t>and interpretation of the contents of a scene</a:t>
            </a:r>
            <a:endParaRPr lang="vi-VN" dirty="0"/>
          </a:p>
        </p:txBody>
      </p:sp>
    </p:spTree>
    <p:extLst>
      <p:ext uri="{BB962C8B-B14F-4D97-AF65-F5344CB8AC3E}">
        <p14:creationId xmlns:p14="http://schemas.microsoft.com/office/powerpoint/2010/main" val="132550398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vi-VN" dirty="0"/>
              <a:t>Contributing and Overlapping Areas</a:t>
            </a:r>
          </a:p>
        </p:txBody>
      </p:sp>
      <p:sp>
        <p:nvSpPr>
          <p:cNvPr id="3" name="Content Placeholder 2"/>
          <p:cNvSpPr>
            <a:spLocks noGrp="1"/>
          </p:cNvSpPr>
          <p:nvPr>
            <p:ph idx="1"/>
          </p:nvPr>
        </p:nvSpPr>
        <p:spPr/>
        <p:txBody>
          <a:bodyPr/>
          <a:lstStyle/>
          <a:p>
            <a:r>
              <a:rPr lang="en-US" dirty="0"/>
              <a:t>Mathematics, physics, computer </a:t>
            </a:r>
            <a:r>
              <a:rPr lang="en-US" dirty="0" smtClean="0"/>
              <a:t>science, computer</a:t>
            </a:r>
            <a:r>
              <a:rPr lang="en-US" dirty="0"/>
              <a:t>, optical, and electrical engineering</a:t>
            </a:r>
          </a:p>
          <a:p>
            <a:r>
              <a:rPr lang="en-US" dirty="0" smtClean="0"/>
              <a:t>Pattern </a:t>
            </a:r>
            <a:r>
              <a:rPr lang="en-US" dirty="0"/>
              <a:t>recognition, machine learning, </a:t>
            </a:r>
            <a:r>
              <a:rPr lang="en-US" dirty="0" smtClean="0"/>
              <a:t>artificial intelligence</a:t>
            </a:r>
            <a:r>
              <a:rPr lang="en-US" dirty="0"/>
              <a:t>, and human vision research...</a:t>
            </a:r>
            <a:endParaRPr lang="vi-VN" dirty="0"/>
          </a:p>
        </p:txBody>
      </p:sp>
    </p:spTree>
    <p:extLst>
      <p:ext uri="{BB962C8B-B14F-4D97-AF65-F5344CB8AC3E}">
        <p14:creationId xmlns:p14="http://schemas.microsoft.com/office/powerpoint/2010/main" val="290028477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vi-VN" b="1" dirty="0"/>
              <a:t>Typical Image Processing</a:t>
            </a:r>
            <a:br>
              <a:rPr lang="vi-VN" b="1" dirty="0"/>
            </a:br>
            <a:r>
              <a:rPr lang="vi-VN" b="1" dirty="0"/>
              <a:t>Operations</a:t>
            </a:r>
          </a:p>
        </p:txBody>
      </p:sp>
      <p:sp>
        <p:nvSpPr>
          <p:cNvPr id="3" name="Content Placeholder 2"/>
          <p:cNvSpPr>
            <a:spLocks noGrp="1"/>
          </p:cNvSpPr>
          <p:nvPr>
            <p:ph sz="half" idx="1"/>
          </p:nvPr>
        </p:nvSpPr>
        <p:spPr/>
        <p:txBody>
          <a:bodyPr>
            <a:normAutofit/>
          </a:bodyPr>
          <a:lstStyle/>
          <a:p>
            <a:r>
              <a:rPr lang="vi-VN" dirty="0"/>
              <a:t>Sharpening</a:t>
            </a:r>
          </a:p>
          <a:p>
            <a:r>
              <a:rPr lang="vi-VN" dirty="0" smtClean="0"/>
              <a:t>Noise </a:t>
            </a:r>
            <a:r>
              <a:rPr lang="vi-VN" dirty="0"/>
              <a:t>Removal</a:t>
            </a:r>
          </a:p>
          <a:p>
            <a:r>
              <a:rPr lang="vi-VN" dirty="0" smtClean="0"/>
              <a:t>Deblurring</a:t>
            </a:r>
            <a:endParaRPr lang="vi-VN" dirty="0"/>
          </a:p>
          <a:p>
            <a:r>
              <a:rPr lang="vi-VN" dirty="0" smtClean="0"/>
              <a:t>Edge Extraction</a:t>
            </a:r>
            <a:endParaRPr lang="vi-VN" dirty="0"/>
          </a:p>
        </p:txBody>
      </p:sp>
      <p:sp>
        <p:nvSpPr>
          <p:cNvPr id="4" name="Content Placeholder 3"/>
          <p:cNvSpPr>
            <a:spLocks noGrp="1"/>
          </p:cNvSpPr>
          <p:nvPr>
            <p:ph sz="half" idx="2"/>
          </p:nvPr>
        </p:nvSpPr>
        <p:spPr/>
        <p:txBody>
          <a:bodyPr>
            <a:normAutofit/>
          </a:bodyPr>
          <a:lstStyle/>
          <a:p>
            <a:r>
              <a:rPr lang="vi-VN" dirty="0"/>
              <a:t>Binarization</a:t>
            </a:r>
          </a:p>
          <a:p>
            <a:r>
              <a:rPr lang="vi-VN" dirty="0"/>
              <a:t>Blurring</a:t>
            </a:r>
          </a:p>
          <a:p>
            <a:r>
              <a:rPr lang="vi-VN" dirty="0"/>
              <a:t>Contrast Enhancement</a:t>
            </a:r>
          </a:p>
          <a:p>
            <a:r>
              <a:rPr lang="vi-VN" dirty="0"/>
              <a:t>Object Segmentation and Labeling</a:t>
            </a:r>
          </a:p>
          <a:p>
            <a:endParaRPr lang="vi-VN" dirty="0"/>
          </a:p>
        </p:txBody>
      </p:sp>
    </p:spTree>
    <p:extLst>
      <p:ext uri="{BB962C8B-B14F-4D97-AF65-F5344CB8AC3E}">
        <p14:creationId xmlns:p14="http://schemas.microsoft.com/office/powerpoint/2010/main" val="94712626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Sharpening</a:t>
            </a:r>
          </a:p>
        </p:txBody>
      </p:sp>
      <p:pic>
        <p:nvPicPr>
          <p:cNvPr id="6" name="Content Placeholder 5"/>
          <p:cNvPicPr>
            <a:picLocks noGrp="1" noChangeAspect="1"/>
          </p:cNvPicPr>
          <p:nvPr>
            <p:ph idx="1"/>
          </p:nvPr>
        </p:nvPicPr>
        <p:blipFill>
          <a:blip r:embed="rId2"/>
          <a:stretch>
            <a:fillRect/>
          </a:stretch>
        </p:blipFill>
        <p:spPr>
          <a:xfrm>
            <a:off x="2755687" y="2857900"/>
            <a:ext cx="6680626" cy="2717000"/>
          </a:xfrm>
          <a:prstGeom prst="rect">
            <a:avLst/>
          </a:prstGeom>
        </p:spPr>
      </p:pic>
    </p:spTree>
    <p:extLst>
      <p:ext uri="{BB962C8B-B14F-4D97-AF65-F5344CB8AC3E}">
        <p14:creationId xmlns:p14="http://schemas.microsoft.com/office/powerpoint/2010/main" val="40329991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Noise Removal</a:t>
            </a:r>
          </a:p>
        </p:txBody>
      </p:sp>
      <p:sp>
        <p:nvSpPr>
          <p:cNvPr id="3" name="Content Placeholder 2"/>
          <p:cNvSpPr>
            <a:spLocks noGrp="1"/>
          </p:cNvSpPr>
          <p:nvPr>
            <p:ph idx="1"/>
          </p:nvPr>
        </p:nvSpPr>
        <p:spPr/>
        <p:txBody>
          <a:bodyPr/>
          <a:lstStyle/>
          <a:p>
            <a:endParaRPr lang="vi-VN" dirty="0"/>
          </a:p>
        </p:txBody>
      </p:sp>
      <p:pic>
        <p:nvPicPr>
          <p:cNvPr id="4" name="Picture 3"/>
          <p:cNvPicPr>
            <a:picLocks noChangeAspect="1"/>
          </p:cNvPicPr>
          <p:nvPr/>
        </p:nvPicPr>
        <p:blipFill>
          <a:blip r:embed="rId2"/>
          <a:stretch>
            <a:fillRect/>
          </a:stretch>
        </p:blipFill>
        <p:spPr>
          <a:xfrm>
            <a:off x="3332135" y="2556932"/>
            <a:ext cx="5300421" cy="3471910"/>
          </a:xfrm>
          <a:prstGeom prst="rect">
            <a:avLst/>
          </a:prstGeom>
        </p:spPr>
      </p:pic>
    </p:spTree>
    <p:extLst>
      <p:ext uri="{BB962C8B-B14F-4D97-AF65-F5344CB8AC3E}">
        <p14:creationId xmlns:p14="http://schemas.microsoft.com/office/powerpoint/2010/main" val="126141340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Deblurring</a:t>
            </a:r>
          </a:p>
        </p:txBody>
      </p:sp>
      <p:sp>
        <p:nvSpPr>
          <p:cNvPr id="3" name="Content Placeholder 2"/>
          <p:cNvSpPr>
            <a:spLocks noGrp="1"/>
          </p:cNvSpPr>
          <p:nvPr>
            <p:ph idx="1"/>
          </p:nvPr>
        </p:nvSpPr>
        <p:spPr/>
        <p:txBody>
          <a:bodyPr/>
          <a:lstStyle/>
          <a:p>
            <a:endParaRPr lang="vi-VN"/>
          </a:p>
        </p:txBody>
      </p:sp>
      <p:pic>
        <p:nvPicPr>
          <p:cNvPr id="4" name="Picture 3"/>
          <p:cNvPicPr>
            <a:picLocks noChangeAspect="1"/>
          </p:cNvPicPr>
          <p:nvPr/>
        </p:nvPicPr>
        <p:blipFill>
          <a:blip r:embed="rId2"/>
          <a:stretch>
            <a:fillRect/>
          </a:stretch>
        </p:blipFill>
        <p:spPr>
          <a:xfrm>
            <a:off x="2755687" y="2585629"/>
            <a:ext cx="6680626" cy="3174600"/>
          </a:xfrm>
          <a:prstGeom prst="rect">
            <a:avLst/>
          </a:prstGeom>
        </p:spPr>
      </p:pic>
    </p:spTree>
    <p:extLst>
      <p:ext uri="{BB962C8B-B14F-4D97-AF65-F5344CB8AC3E}">
        <p14:creationId xmlns:p14="http://schemas.microsoft.com/office/powerpoint/2010/main" val="33690880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Edge Extraction</a:t>
            </a:r>
          </a:p>
        </p:txBody>
      </p:sp>
      <p:sp>
        <p:nvSpPr>
          <p:cNvPr id="3" name="Content Placeholder 2"/>
          <p:cNvSpPr>
            <a:spLocks noGrp="1"/>
          </p:cNvSpPr>
          <p:nvPr>
            <p:ph idx="1"/>
          </p:nvPr>
        </p:nvSpPr>
        <p:spPr/>
        <p:txBody>
          <a:bodyPr/>
          <a:lstStyle/>
          <a:p>
            <a:endParaRPr lang="vi-VN"/>
          </a:p>
        </p:txBody>
      </p:sp>
      <p:pic>
        <p:nvPicPr>
          <p:cNvPr id="4" name="Picture 3"/>
          <p:cNvPicPr>
            <a:picLocks noChangeAspect="1"/>
          </p:cNvPicPr>
          <p:nvPr/>
        </p:nvPicPr>
        <p:blipFill>
          <a:blip r:embed="rId2"/>
          <a:stretch>
            <a:fillRect/>
          </a:stretch>
        </p:blipFill>
        <p:spPr>
          <a:xfrm>
            <a:off x="2755687" y="2460511"/>
            <a:ext cx="6680626" cy="3517800"/>
          </a:xfrm>
          <a:prstGeom prst="rect">
            <a:avLst/>
          </a:prstGeom>
        </p:spPr>
      </p:pic>
    </p:spTree>
    <p:extLst>
      <p:ext uri="{BB962C8B-B14F-4D97-AF65-F5344CB8AC3E}">
        <p14:creationId xmlns:p14="http://schemas.microsoft.com/office/powerpoint/2010/main" val="31079700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Binarization</a:t>
            </a:r>
          </a:p>
        </p:txBody>
      </p:sp>
      <p:sp>
        <p:nvSpPr>
          <p:cNvPr id="3" name="Content Placeholder 2"/>
          <p:cNvSpPr>
            <a:spLocks noGrp="1"/>
          </p:cNvSpPr>
          <p:nvPr>
            <p:ph idx="1"/>
          </p:nvPr>
        </p:nvSpPr>
        <p:spPr/>
        <p:txBody>
          <a:bodyPr/>
          <a:lstStyle/>
          <a:p>
            <a:endParaRPr lang="vi-VN"/>
          </a:p>
        </p:txBody>
      </p:sp>
      <p:pic>
        <p:nvPicPr>
          <p:cNvPr id="4" name="Picture 3"/>
          <p:cNvPicPr>
            <a:picLocks noChangeAspect="1"/>
          </p:cNvPicPr>
          <p:nvPr/>
        </p:nvPicPr>
        <p:blipFill>
          <a:blip r:embed="rId2"/>
          <a:stretch>
            <a:fillRect/>
          </a:stretch>
        </p:blipFill>
        <p:spPr>
          <a:xfrm>
            <a:off x="2755687" y="2720287"/>
            <a:ext cx="6680626" cy="2936267"/>
          </a:xfrm>
          <a:prstGeom prst="rect">
            <a:avLst/>
          </a:prstGeom>
        </p:spPr>
      </p:pic>
    </p:spTree>
    <p:extLst>
      <p:ext uri="{BB962C8B-B14F-4D97-AF65-F5344CB8AC3E}">
        <p14:creationId xmlns:p14="http://schemas.microsoft.com/office/powerpoint/2010/main" val="14218578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Blurring</a:t>
            </a:r>
          </a:p>
        </p:txBody>
      </p:sp>
      <p:pic>
        <p:nvPicPr>
          <p:cNvPr id="4" name="Content Placeholder 3"/>
          <p:cNvPicPr>
            <a:picLocks noGrp="1" noChangeAspect="1"/>
          </p:cNvPicPr>
          <p:nvPr>
            <p:ph idx="1"/>
          </p:nvPr>
        </p:nvPicPr>
        <p:blipFill>
          <a:blip r:embed="rId2"/>
          <a:stretch>
            <a:fillRect/>
          </a:stretch>
        </p:blipFill>
        <p:spPr>
          <a:xfrm>
            <a:off x="2755687" y="2767333"/>
            <a:ext cx="6680626" cy="2898134"/>
          </a:xfrm>
          <a:prstGeom prst="rect">
            <a:avLst/>
          </a:prstGeom>
        </p:spPr>
      </p:pic>
    </p:spTree>
    <p:extLst>
      <p:ext uri="{BB962C8B-B14F-4D97-AF65-F5344CB8AC3E}">
        <p14:creationId xmlns:p14="http://schemas.microsoft.com/office/powerpoint/2010/main" val="26718156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Contrast Enhancement</a:t>
            </a:r>
          </a:p>
        </p:txBody>
      </p:sp>
      <p:pic>
        <p:nvPicPr>
          <p:cNvPr id="4" name="Content Placeholder 3"/>
          <p:cNvPicPr>
            <a:picLocks noGrp="1" noChangeAspect="1"/>
          </p:cNvPicPr>
          <p:nvPr>
            <p:ph idx="1"/>
          </p:nvPr>
        </p:nvPicPr>
        <p:blipFill>
          <a:blip r:embed="rId2"/>
          <a:stretch>
            <a:fillRect/>
          </a:stretch>
        </p:blipFill>
        <p:spPr>
          <a:xfrm>
            <a:off x="2755687" y="2876967"/>
            <a:ext cx="6680626" cy="2678867"/>
          </a:xfrm>
          <a:prstGeom prst="rect">
            <a:avLst/>
          </a:prstGeom>
        </p:spPr>
      </p:pic>
    </p:spTree>
    <p:extLst>
      <p:ext uri="{BB962C8B-B14F-4D97-AF65-F5344CB8AC3E}">
        <p14:creationId xmlns:p14="http://schemas.microsoft.com/office/powerpoint/2010/main" val="23525079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Object Segmentation and Labeling</a:t>
            </a:r>
          </a:p>
        </p:txBody>
      </p:sp>
      <p:pic>
        <p:nvPicPr>
          <p:cNvPr id="4" name="Content Placeholder 3"/>
          <p:cNvPicPr>
            <a:picLocks noGrp="1" noChangeAspect="1"/>
          </p:cNvPicPr>
          <p:nvPr>
            <p:ph idx="1"/>
          </p:nvPr>
        </p:nvPicPr>
        <p:blipFill>
          <a:blip r:embed="rId2"/>
          <a:stretch>
            <a:fillRect/>
          </a:stretch>
        </p:blipFill>
        <p:spPr>
          <a:xfrm>
            <a:off x="2755687" y="2767333"/>
            <a:ext cx="6680626" cy="2898134"/>
          </a:xfrm>
          <a:prstGeom prst="rect">
            <a:avLst/>
          </a:prstGeom>
        </p:spPr>
      </p:pic>
    </p:spTree>
    <p:extLst>
      <p:ext uri="{BB962C8B-B14F-4D97-AF65-F5344CB8AC3E}">
        <p14:creationId xmlns:p14="http://schemas.microsoft.com/office/powerpoint/2010/main" val="27294697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Components of a Digital Image</a:t>
            </a:r>
            <a:br>
              <a:rPr lang="en-US" dirty="0"/>
            </a:br>
            <a:r>
              <a:rPr lang="vi-VN" dirty="0"/>
              <a:t>Processing System</a:t>
            </a:r>
          </a:p>
        </p:txBody>
      </p:sp>
      <p:pic>
        <p:nvPicPr>
          <p:cNvPr id="4" name="Content Placeholder 3"/>
          <p:cNvPicPr>
            <a:picLocks noGrp="1" noChangeAspect="1"/>
          </p:cNvPicPr>
          <p:nvPr>
            <p:ph idx="1"/>
          </p:nvPr>
        </p:nvPicPr>
        <p:blipFill>
          <a:blip r:embed="rId2"/>
          <a:stretch>
            <a:fillRect/>
          </a:stretch>
        </p:blipFill>
        <p:spPr>
          <a:xfrm>
            <a:off x="3053166" y="2557463"/>
            <a:ext cx="6369803" cy="3641859"/>
          </a:xfrm>
          <a:prstGeom prst="rect">
            <a:avLst/>
          </a:prstGeom>
        </p:spPr>
      </p:pic>
    </p:spTree>
    <p:extLst>
      <p:ext uri="{BB962C8B-B14F-4D97-AF65-F5344CB8AC3E}">
        <p14:creationId xmlns:p14="http://schemas.microsoft.com/office/powerpoint/2010/main" val="225698815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Machine Visual System</a:t>
            </a:r>
          </a:p>
        </p:txBody>
      </p:sp>
      <p:sp>
        <p:nvSpPr>
          <p:cNvPr id="3" name="Content Placeholder 2"/>
          <p:cNvSpPr>
            <a:spLocks noGrp="1"/>
          </p:cNvSpPr>
          <p:nvPr>
            <p:ph idx="1"/>
          </p:nvPr>
        </p:nvSpPr>
        <p:spPr/>
        <p:txBody>
          <a:bodyPr/>
          <a:lstStyle/>
          <a:p>
            <a:r>
              <a:rPr lang="en-US" dirty="0"/>
              <a:t>Sequential processing scheme of a </a:t>
            </a:r>
            <a:r>
              <a:rPr lang="en-US" dirty="0" smtClean="0"/>
              <a:t>license plate </a:t>
            </a:r>
            <a:r>
              <a:rPr lang="en-US" dirty="0"/>
              <a:t>recognition system</a:t>
            </a:r>
            <a:endParaRPr lang="vi-VN" dirty="0"/>
          </a:p>
        </p:txBody>
      </p:sp>
      <p:pic>
        <p:nvPicPr>
          <p:cNvPr id="4" name="Picture 3"/>
          <p:cNvPicPr>
            <a:picLocks noChangeAspect="1"/>
          </p:cNvPicPr>
          <p:nvPr/>
        </p:nvPicPr>
        <p:blipFill>
          <a:blip r:embed="rId2"/>
          <a:stretch>
            <a:fillRect/>
          </a:stretch>
        </p:blipFill>
        <p:spPr>
          <a:xfrm>
            <a:off x="2755686" y="3704095"/>
            <a:ext cx="6680626" cy="2442706"/>
          </a:xfrm>
          <a:prstGeom prst="rect">
            <a:avLst/>
          </a:prstGeom>
        </p:spPr>
      </p:pic>
    </p:spTree>
    <p:extLst>
      <p:ext uri="{BB962C8B-B14F-4D97-AF65-F5344CB8AC3E}">
        <p14:creationId xmlns:p14="http://schemas.microsoft.com/office/powerpoint/2010/main" val="420531245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Human Visual System</a:t>
            </a:r>
          </a:p>
        </p:txBody>
      </p:sp>
      <p:sp>
        <p:nvSpPr>
          <p:cNvPr id="3" name="Content Placeholder 2"/>
          <p:cNvSpPr>
            <a:spLocks noGrp="1"/>
          </p:cNvSpPr>
          <p:nvPr>
            <p:ph idx="1"/>
          </p:nvPr>
        </p:nvSpPr>
        <p:spPr/>
        <p:txBody>
          <a:bodyPr>
            <a:normAutofit lnSpcReduction="10000"/>
          </a:bodyPr>
          <a:lstStyle/>
          <a:p>
            <a:r>
              <a:rPr lang="en-US" dirty="0"/>
              <a:t>It is extremely difficult to emulate </a:t>
            </a:r>
            <a:r>
              <a:rPr lang="en-US" dirty="0" smtClean="0"/>
              <a:t>the performance </a:t>
            </a:r>
            <a:r>
              <a:rPr lang="en-US" dirty="0"/>
              <a:t>of the human visual system </a:t>
            </a:r>
            <a:r>
              <a:rPr lang="en-US" dirty="0" smtClean="0"/>
              <a:t>- in </a:t>
            </a:r>
            <a:r>
              <a:rPr lang="en-US" dirty="0"/>
              <a:t>terms of processing speed, </a:t>
            </a:r>
            <a:r>
              <a:rPr lang="en-US" dirty="0" smtClean="0"/>
              <a:t>previously acquired </a:t>
            </a:r>
            <a:r>
              <a:rPr lang="en-US" dirty="0"/>
              <a:t>knowledge, and the ability </a:t>
            </a:r>
            <a:r>
              <a:rPr lang="en-US" dirty="0" smtClean="0"/>
              <a:t>to resolve </a:t>
            </a:r>
            <a:r>
              <a:rPr lang="en-US" dirty="0"/>
              <a:t>visual scenes under a wide range </a:t>
            </a:r>
            <a:r>
              <a:rPr lang="en-US" dirty="0" smtClean="0"/>
              <a:t>of conditions </a:t>
            </a:r>
            <a:r>
              <a:rPr lang="en-US" dirty="0"/>
              <a:t>- using machine </a:t>
            </a:r>
            <a:r>
              <a:rPr lang="en-US" dirty="0" smtClean="0"/>
              <a:t>vision systems</a:t>
            </a:r>
            <a:r>
              <a:rPr lang="en-US" dirty="0"/>
              <a:t>.</a:t>
            </a:r>
            <a:endParaRPr lang="vi-VN" dirty="0"/>
          </a:p>
        </p:txBody>
      </p:sp>
    </p:spTree>
    <p:extLst>
      <p:ext uri="{BB962C8B-B14F-4D97-AF65-F5344CB8AC3E}">
        <p14:creationId xmlns:p14="http://schemas.microsoft.com/office/powerpoint/2010/main" val="12551753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mtClean="0"/>
              <a:t>MVS vs. HVS</a:t>
            </a:r>
            <a:endParaRPr lang="en-US"/>
          </a:p>
        </p:txBody>
      </p:sp>
      <p:sp>
        <p:nvSpPr>
          <p:cNvPr id="4" name="Content Placeholder 3"/>
          <p:cNvSpPr>
            <a:spLocks noGrp="1"/>
          </p:cNvSpPr>
          <p:nvPr>
            <p:ph idx="1"/>
          </p:nvPr>
        </p:nvSpPr>
        <p:spPr/>
        <p:txBody>
          <a:bodyPr>
            <a:normAutofit fontScale="47500" lnSpcReduction="20000"/>
          </a:bodyPr>
          <a:lstStyle/>
          <a:p>
            <a:pPr marL="285800" marR="548561" indent="-273100">
              <a:lnSpc>
                <a:spcPct val="120000"/>
              </a:lnSpc>
              <a:spcBef>
                <a:spcPts val="2098"/>
              </a:spcBef>
            </a:pPr>
            <a:r>
              <a:rPr lang="en-US" sz="5100" smtClean="0">
                <a:cs typeface="Cambria"/>
              </a:rPr>
              <a:t>W</a:t>
            </a:r>
            <a:r>
              <a:rPr lang="en-US" sz="5100" spc="-59" smtClean="0">
                <a:cs typeface="Cambria"/>
              </a:rPr>
              <a:t>h</a:t>
            </a:r>
            <a:r>
              <a:rPr lang="en-US" sz="5100" smtClean="0">
                <a:cs typeface="Cambria"/>
              </a:rPr>
              <a:t>y</a:t>
            </a:r>
            <a:r>
              <a:rPr lang="en-US" sz="5100" spc="-9" smtClean="0">
                <a:cs typeface="Cambria"/>
              </a:rPr>
              <a:t> </a:t>
            </a:r>
            <a:r>
              <a:rPr lang="en-US" sz="5100" smtClean="0">
                <a:cs typeface="Cambria"/>
              </a:rPr>
              <a:t>is it so ha</a:t>
            </a:r>
            <a:r>
              <a:rPr lang="en-US" sz="5100" spc="-54" smtClean="0">
                <a:cs typeface="Cambria"/>
              </a:rPr>
              <a:t>r</a:t>
            </a:r>
            <a:r>
              <a:rPr lang="en-US" sz="5100" smtClean="0">
                <a:cs typeface="Cambria"/>
              </a:rPr>
              <a:t>d </a:t>
            </a:r>
            <a:r>
              <a:rPr lang="en-US" sz="5100" spc="-34" smtClean="0">
                <a:cs typeface="Cambria"/>
              </a:rPr>
              <a:t>t</a:t>
            </a:r>
            <a:r>
              <a:rPr lang="en-US" sz="5100" smtClean="0">
                <a:cs typeface="Cambria"/>
              </a:rPr>
              <a:t>o emula</a:t>
            </a:r>
            <a:r>
              <a:rPr lang="en-US" sz="5100" spc="-25" smtClean="0">
                <a:cs typeface="Cambria"/>
              </a:rPr>
              <a:t>t</a:t>
            </a:r>
            <a:r>
              <a:rPr lang="en-US" sz="5100" smtClean="0">
                <a:cs typeface="Cambria"/>
              </a:rPr>
              <a:t>e</a:t>
            </a:r>
            <a:r>
              <a:rPr lang="en-US" sz="5100" spc="9" smtClean="0">
                <a:cs typeface="Cambria"/>
              </a:rPr>
              <a:t> </a:t>
            </a:r>
            <a:r>
              <a:rPr lang="en-US" sz="5100" smtClean="0">
                <a:cs typeface="Cambria"/>
              </a:rPr>
              <a:t>the per</a:t>
            </a:r>
            <a:r>
              <a:rPr lang="en-US" sz="5100" spc="-29" smtClean="0">
                <a:cs typeface="Cambria"/>
              </a:rPr>
              <a:t>f</a:t>
            </a:r>
            <a:r>
              <a:rPr lang="en-US" sz="5100" smtClean="0">
                <a:cs typeface="Cambria"/>
              </a:rPr>
              <a:t>ormance of the</a:t>
            </a:r>
            <a:r>
              <a:rPr lang="en-US" sz="5100" spc="-9" smtClean="0">
                <a:cs typeface="Cambria"/>
              </a:rPr>
              <a:t> </a:t>
            </a:r>
            <a:r>
              <a:rPr lang="en-US" sz="5100" smtClean="0">
                <a:cs typeface="Cambria"/>
              </a:rPr>
              <a:t>human</a:t>
            </a:r>
            <a:r>
              <a:rPr lang="en-US" sz="5100" spc="-14" smtClean="0">
                <a:cs typeface="Cambria"/>
              </a:rPr>
              <a:t> </a:t>
            </a:r>
            <a:r>
              <a:rPr lang="en-US" sz="5100" smtClean="0">
                <a:cs typeface="Cambria"/>
              </a:rPr>
              <a:t>visual </a:t>
            </a:r>
            <a:r>
              <a:rPr lang="en-US" sz="5100" spc="-14" smtClean="0">
                <a:cs typeface="Cambria"/>
              </a:rPr>
              <a:t>s</a:t>
            </a:r>
            <a:r>
              <a:rPr lang="en-US" sz="5100" spc="-29" smtClean="0">
                <a:cs typeface="Cambria"/>
              </a:rPr>
              <a:t>y</a:t>
            </a:r>
            <a:r>
              <a:rPr lang="en-US" sz="5100" smtClean="0">
                <a:cs typeface="Cambria"/>
              </a:rPr>
              <a:t>s</a:t>
            </a:r>
            <a:r>
              <a:rPr lang="en-US" sz="5100" spc="-25" smtClean="0">
                <a:cs typeface="Cambria"/>
              </a:rPr>
              <a:t>t</a:t>
            </a:r>
            <a:r>
              <a:rPr lang="en-US" sz="5100" smtClean="0">
                <a:cs typeface="Cambria"/>
              </a:rPr>
              <a:t>em (H</a:t>
            </a:r>
            <a:r>
              <a:rPr lang="en-US" sz="5100" spc="-44" smtClean="0">
                <a:cs typeface="Cambria"/>
              </a:rPr>
              <a:t>V</a:t>
            </a:r>
            <a:r>
              <a:rPr lang="en-US" sz="5100" smtClean="0">
                <a:cs typeface="Cambria"/>
              </a:rPr>
              <a:t>S)</a:t>
            </a:r>
            <a:r>
              <a:rPr lang="en-US" sz="5100" spc="14" smtClean="0">
                <a:cs typeface="Cambria"/>
              </a:rPr>
              <a:t> </a:t>
            </a:r>
            <a:r>
              <a:rPr lang="en-US" sz="5100" smtClean="0">
                <a:cs typeface="Cambria"/>
              </a:rPr>
              <a:t>using came</a:t>
            </a:r>
            <a:r>
              <a:rPr lang="en-US" sz="5100" spc="-59" smtClean="0">
                <a:cs typeface="Cambria"/>
              </a:rPr>
              <a:t>r</a:t>
            </a:r>
            <a:r>
              <a:rPr lang="en-US" sz="5100" smtClean="0">
                <a:cs typeface="Cambria"/>
              </a:rPr>
              <a:t>as and c</a:t>
            </a:r>
            <a:r>
              <a:rPr lang="en-US" sz="5100" spc="4" smtClean="0">
                <a:cs typeface="Cambria"/>
              </a:rPr>
              <a:t>o</a:t>
            </a:r>
            <a:r>
              <a:rPr lang="en-US" sz="5100" smtClean="0">
                <a:cs typeface="Cambria"/>
              </a:rPr>
              <a:t>m</a:t>
            </a:r>
            <a:r>
              <a:rPr lang="en-US" sz="5100" spc="4" smtClean="0">
                <a:cs typeface="Cambria"/>
              </a:rPr>
              <a:t>p</a:t>
            </a:r>
            <a:r>
              <a:rPr lang="en-US" sz="5100" smtClean="0">
                <a:cs typeface="Cambria"/>
              </a:rPr>
              <a:t>u</a:t>
            </a:r>
            <a:r>
              <a:rPr lang="en-US" sz="5100" spc="-29" smtClean="0">
                <a:cs typeface="Cambria"/>
              </a:rPr>
              <a:t>t</a:t>
            </a:r>
            <a:r>
              <a:rPr lang="en-US" sz="5100" smtClean="0">
                <a:cs typeface="Cambria"/>
              </a:rPr>
              <a:t>ers?</a:t>
            </a:r>
          </a:p>
          <a:p>
            <a:pPr marL="1018844" marR="526699" lvl="1" indent="-228600">
              <a:lnSpc>
                <a:spcPct val="120000"/>
              </a:lnSpc>
              <a:spcBef>
                <a:spcPts val="170"/>
              </a:spcBef>
              <a:buFont typeface="Wingdings" pitchFamily="2" charset="2"/>
              <a:buChar char="§"/>
            </a:pPr>
            <a:r>
              <a:rPr lang="en-US" sz="5000" spc="-184" smtClean="0">
                <a:cs typeface="Cambria"/>
              </a:rPr>
              <a:t>V</a:t>
            </a:r>
            <a:r>
              <a:rPr lang="en-US" sz="5000" smtClean="0">
                <a:cs typeface="Cambria"/>
              </a:rPr>
              <a:t>ery</a:t>
            </a:r>
            <a:r>
              <a:rPr lang="en-US" sz="5000" spc="-11" smtClean="0">
                <a:cs typeface="Cambria"/>
              </a:rPr>
              <a:t> </a:t>
            </a:r>
            <a:r>
              <a:rPr lang="en-US" sz="5000" smtClean="0">
                <a:cs typeface="Cambria"/>
              </a:rPr>
              <a:t>la</a:t>
            </a:r>
            <a:r>
              <a:rPr lang="en-US" sz="5000" spc="-25" smtClean="0">
                <a:cs typeface="Cambria"/>
              </a:rPr>
              <a:t>r</a:t>
            </a:r>
            <a:r>
              <a:rPr lang="en-US" sz="5000" smtClean="0">
                <a:cs typeface="Cambria"/>
              </a:rPr>
              <a:t>ge</a:t>
            </a:r>
            <a:r>
              <a:rPr lang="en-US" sz="5000" spc="-45" smtClean="0">
                <a:cs typeface="Cambria"/>
              </a:rPr>
              <a:t> </a:t>
            </a:r>
            <a:r>
              <a:rPr lang="en-US" sz="5000" smtClean="0">
                <a:cs typeface="Cambria"/>
              </a:rPr>
              <a:t>da</a:t>
            </a:r>
            <a:r>
              <a:rPr lang="en-US" sz="5000" spc="4" smtClean="0">
                <a:cs typeface="Cambria"/>
              </a:rPr>
              <a:t>t</a:t>
            </a:r>
            <a:r>
              <a:rPr lang="en-US" sz="5000" smtClean="0">
                <a:cs typeface="Cambria"/>
              </a:rPr>
              <a:t>a</a:t>
            </a:r>
            <a:r>
              <a:rPr lang="en-US" sz="5000" spc="9" smtClean="0">
                <a:cs typeface="Cambria"/>
              </a:rPr>
              <a:t>b</a:t>
            </a:r>
            <a:r>
              <a:rPr lang="en-US" sz="5000" smtClean="0">
                <a:cs typeface="Cambria"/>
              </a:rPr>
              <a:t>ase</a:t>
            </a:r>
            <a:r>
              <a:rPr lang="en-US" sz="5000" spc="-106" smtClean="0">
                <a:cs typeface="Cambria"/>
              </a:rPr>
              <a:t> </a:t>
            </a:r>
            <a:r>
              <a:rPr lang="en-US" sz="5000" smtClean="0">
                <a:cs typeface="Cambria"/>
              </a:rPr>
              <a:t>of</a:t>
            </a:r>
            <a:r>
              <a:rPr lang="en-US" sz="5000" spc="9" smtClean="0">
                <a:cs typeface="Cambria"/>
              </a:rPr>
              <a:t> </a:t>
            </a:r>
            <a:r>
              <a:rPr lang="en-US" sz="5000" smtClean="0">
                <a:cs typeface="Cambria"/>
              </a:rPr>
              <a:t>im</a:t>
            </a:r>
            <a:r>
              <a:rPr lang="en-US" sz="5000" spc="4" smtClean="0">
                <a:cs typeface="Cambria"/>
              </a:rPr>
              <a:t>a</a:t>
            </a:r>
            <a:r>
              <a:rPr lang="en-US" sz="5000" smtClean="0">
                <a:cs typeface="Cambria"/>
              </a:rPr>
              <a:t>ges</a:t>
            </a:r>
            <a:r>
              <a:rPr lang="en-US" sz="5000" spc="-84" smtClean="0">
                <a:cs typeface="Cambria"/>
              </a:rPr>
              <a:t> </a:t>
            </a:r>
            <a:r>
              <a:rPr lang="en-US" sz="5000" smtClean="0">
                <a:cs typeface="Cambria"/>
              </a:rPr>
              <a:t>and asso</a:t>
            </a:r>
            <a:r>
              <a:rPr lang="en-US" sz="5000" spc="14" smtClean="0">
                <a:cs typeface="Cambria"/>
              </a:rPr>
              <a:t>c</a:t>
            </a:r>
            <a:r>
              <a:rPr lang="en-US" sz="5000" smtClean="0">
                <a:cs typeface="Cambria"/>
              </a:rPr>
              <a:t>i</a:t>
            </a:r>
            <a:r>
              <a:rPr lang="en-US" sz="5000" spc="4" smtClean="0">
                <a:cs typeface="Cambria"/>
              </a:rPr>
              <a:t>a</a:t>
            </a:r>
            <a:r>
              <a:rPr lang="en-US" sz="5000" spc="-19" smtClean="0">
                <a:cs typeface="Cambria"/>
              </a:rPr>
              <a:t>t</a:t>
            </a:r>
            <a:r>
              <a:rPr lang="en-US" sz="5000" smtClean="0">
                <a:cs typeface="Cambria"/>
              </a:rPr>
              <a:t>ed c</a:t>
            </a:r>
            <a:r>
              <a:rPr lang="en-US" sz="5000" spc="9" smtClean="0">
                <a:cs typeface="Cambria"/>
              </a:rPr>
              <a:t>o</a:t>
            </a:r>
            <a:r>
              <a:rPr lang="en-US" sz="5000" smtClean="0">
                <a:cs typeface="Cambria"/>
              </a:rPr>
              <a:t>nc</a:t>
            </a:r>
            <a:r>
              <a:rPr lang="en-US" sz="5000" spc="9" smtClean="0">
                <a:cs typeface="Cambria"/>
              </a:rPr>
              <a:t>e</a:t>
            </a:r>
            <a:r>
              <a:rPr lang="en-US" sz="5000" smtClean="0">
                <a:cs typeface="Cambria"/>
              </a:rPr>
              <a:t>p</a:t>
            </a:r>
            <a:r>
              <a:rPr lang="en-US" sz="5000" spc="9" smtClean="0">
                <a:cs typeface="Cambria"/>
              </a:rPr>
              <a:t>t</a:t>
            </a:r>
            <a:r>
              <a:rPr lang="en-US" sz="5000" smtClean="0">
                <a:cs typeface="Cambria"/>
              </a:rPr>
              <a:t>s</a:t>
            </a:r>
          </a:p>
          <a:p>
            <a:pPr marL="1018844" marR="526699" lvl="1" indent="-228600">
              <a:lnSpc>
                <a:spcPct val="120000"/>
              </a:lnSpc>
              <a:spcBef>
                <a:spcPts val="170"/>
              </a:spcBef>
              <a:buFont typeface="Wingdings" pitchFamily="2" charset="2"/>
              <a:buChar char="§"/>
            </a:pPr>
            <a:r>
              <a:rPr lang="en-US" sz="5000" spc="-184" smtClean="0">
                <a:cs typeface="Cambria"/>
              </a:rPr>
              <a:t>V</a:t>
            </a:r>
            <a:r>
              <a:rPr lang="en-US" sz="5000" smtClean="0">
                <a:cs typeface="Cambria"/>
              </a:rPr>
              <a:t>ery</a:t>
            </a:r>
            <a:r>
              <a:rPr lang="en-US" sz="5000" spc="-11" smtClean="0">
                <a:cs typeface="Cambria"/>
              </a:rPr>
              <a:t> </a:t>
            </a:r>
            <a:r>
              <a:rPr lang="en-US" sz="5000" smtClean="0">
                <a:cs typeface="Cambria"/>
              </a:rPr>
              <a:t>h</a:t>
            </a:r>
            <a:r>
              <a:rPr lang="en-US" sz="5000" spc="4" smtClean="0">
                <a:cs typeface="Cambria"/>
              </a:rPr>
              <a:t>i</a:t>
            </a:r>
            <a:r>
              <a:rPr lang="en-US" sz="5000" spc="-25" smtClean="0">
                <a:cs typeface="Cambria"/>
              </a:rPr>
              <a:t>g</a:t>
            </a:r>
            <a:r>
              <a:rPr lang="en-US" sz="5000" smtClean="0">
                <a:cs typeface="Cambria"/>
              </a:rPr>
              <a:t>h</a:t>
            </a:r>
            <a:r>
              <a:rPr lang="en-US" sz="5000" spc="-14" smtClean="0">
                <a:cs typeface="Cambria"/>
              </a:rPr>
              <a:t> </a:t>
            </a:r>
            <a:r>
              <a:rPr lang="en-US" sz="5000" smtClean="0">
                <a:cs typeface="Cambria"/>
              </a:rPr>
              <a:t>sp</a:t>
            </a:r>
            <a:r>
              <a:rPr lang="en-US" sz="5000" spc="9" smtClean="0">
                <a:cs typeface="Cambria"/>
              </a:rPr>
              <a:t>e</a:t>
            </a:r>
            <a:r>
              <a:rPr lang="en-US" sz="5000" smtClean="0">
                <a:cs typeface="Cambria"/>
              </a:rPr>
              <a:t>ed</a:t>
            </a:r>
          </a:p>
          <a:p>
            <a:pPr marL="1018844" marR="526699" lvl="1" indent="-228600">
              <a:lnSpc>
                <a:spcPct val="120000"/>
              </a:lnSpc>
              <a:spcBef>
                <a:spcPts val="170"/>
              </a:spcBef>
              <a:buFont typeface="Wingdings" pitchFamily="2" charset="2"/>
              <a:buChar char="§"/>
            </a:pPr>
            <a:r>
              <a:rPr lang="en-US" sz="5000" b="1" spc="-19" smtClean="0">
                <a:cs typeface="Cambria"/>
              </a:rPr>
              <a:t>A</a:t>
            </a:r>
            <a:r>
              <a:rPr lang="en-US" sz="5000" b="1" smtClean="0">
                <a:cs typeface="Cambria"/>
              </a:rPr>
              <a:t>bi</a:t>
            </a:r>
            <a:r>
              <a:rPr lang="en-US" sz="5000" b="1" spc="4" smtClean="0">
                <a:cs typeface="Cambria"/>
              </a:rPr>
              <a:t>l</a:t>
            </a:r>
            <a:r>
              <a:rPr lang="en-US" sz="5000" b="1" smtClean="0">
                <a:cs typeface="Cambria"/>
              </a:rPr>
              <a:t>ity</a:t>
            </a:r>
            <a:r>
              <a:rPr lang="en-US" sz="5000" b="1" spc="-86" smtClean="0">
                <a:cs typeface="Cambria"/>
              </a:rPr>
              <a:t> </a:t>
            </a:r>
            <a:r>
              <a:rPr lang="en-US" sz="5000" b="1" spc="-29" smtClean="0">
                <a:cs typeface="Cambria"/>
              </a:rPr>
              <a:t>t</a:t>
            </a:r>
            <a:r>
              <a:rPr lang="en-US" sz="5000" b="1" smtClean="0">
                <a:cs typeface="Cambria"/>
              </a:rPr>
              <a:t>o</a:t>
            </a:r>
            <a:r>
              <a:rPr lang="en-US" sz="5000" b="1" spc="-16" smtClean="0">
                <a:cs typeface="Cambria"/>
              </a:rPr>
              <a:t> </a:t>
            </a:r>
            <a:r>
              <a:rPr lang="en-US" sz="5000" b="1" spc="-69" smtClean="0">
                <a:cs typeface="Cambria"/>
              </a:rPr>
              <a:t>w</a:t>
            </a:r>
            <a:r>
              <a:rPr lang="en-US" sz="5000" b="1" smtClean="0">
                <a:cs typeface="Cambria"/>
              </a:rPr>
              <a:t>ork</a:t>
            </a:r>
            <a:r>
              <a:rPr lang="en-US" sz="5000" b="1" spc="-67" smtClean="0">
                <a:cs typeface="Cambria"/>
              </a:rPr>
              <a:t> </a:t>
            </a:r>
            <a:r>
              <a:rPr lang="en-US" sz="5000" b="1" smtClean="0">
                <a:cs typeface="Cambria"/>
              </a:rPr>
              <a:t>u</a:t>
            </a:r>
            <a:r>
              <a:rPr lang="en-US" sz="5000" b="1" spc="9" smtClean="0">
                <a:cs typeface="Cambria"/>
              </a:rPr>
              <a:t>n</a:t>
            </a:r>
            <a:r>
              <a:rPr lang="en-US" sz="5000" b="1" smtClean="0">
                <a:cs typeface="Cambria"/>
              </a:rPr>
              <a:t>der</a:t>
            </a:r>
            <a:r>
              <a:rPr lang="en-US" sz="5000" b="1" spc="-58" smtClean="0">
                <a:cs typeface="Cambria"/>
              </a:rPr>
              <a:t> </a:t>
            </a:r>
            <a:r>
              <a:rPr lang="en-US" sz="5000" b="1" smtClean="0">
                <a:cs typeface="Cambria"/>
              </a:rPr>
              <a:t>a</a:t>
            </a:r>
            <a:r>
              <a:rPr lang="en-US" sz="5000" b="1" spc="-14" smtClean="0">
                <a:cs typeface="Cambria"/>
              </a:rPr>
              <a:t> </a:t>
            </a:r>
            <a:r>
              <a:rPr lang="en-US" sz="5000" b="1" smtClean="0">
                <a:cs typeface="Cambria"/>
              </a:rPr>
              <a:t>wide</a:t>
            </a:r>
            <a:r>
              <a:rPr lang="en-US" sz="5000" b="1" spc="-47" smtClean="0">
                <a:cs typeface="Cambria"/>
              </a:rPr>
              <a:t> </a:t>
            </a:r>
            <a:r>
              <a:rPr lang="en-US" sz="5000" b="1" spc="-39" smtClean="0">
                <a:cs typeface="Cambria"/>
              </a:rPr>
              <a:t>r</a:t>
            </a:r>
            <a:r>
              <a:rPr lang="en-US" sz="5000" b="1" smtClean="0">
                <a:cs typeface="Cambria"/>
              </a:rPr>
              <a:t>a</a:t>
            </a:r>
            <a:r>
              <a:rPr lang="en-US" sz="5000" b="1" spc="9" smtClean="0">
                <a:cs typeface="Cambria"/>
              </a:rPr>
              <a:t>n</a:t>
            </a:r>
            <a:r>
              <a:rPr lang="en-US" sz="5000" b="1" smtClean="0">
                <a:cs typeface="Cambria"/>
              </a:rPr>
              <a:t>ge</a:t>
            </a:r>
            <a:r>
              <a:rPr lang="en-US" sz="5000" b="1" spc="-19" smtClean="0">
                <a:cs typeface="Cambria"/>
              </a:rPr>
              <a:t> </a:t>
            </a:r>
            <a:r>
              <a:rPr lang="en-US" sz="5000" b="1" smtClean="0">
                <a:cs typeface="Cambria"/>
              </a:rPr>
              <a:t>of </a:t>
            </a:r>
            <a:r>
              <a:rPr lang="en-US" sz="5000" b="1" spc="-14" smtClean="0">
                <a:cs typeface="Cambria"/>
              </a:rPr>
              <a:t>c</a:t>
            </a:r>
            <a:r>
              <a:rPr lang="en-US" sz="5000" b="1" smtClean="0">
                <a:cs typeface="Cambria"/>
              </a:rPr>
              <a:t>o</a:t>
            </a:r>
            <a:r>
              <a:rPr lang="en-US" sz="5000" b="1" spc="9" smtClean="0">
                <a:cs typeface="Cambria"/>
              </a:rPr>
              <a:t>n</a:t>
            </a:r>
            <a:r>
              <a:rPr lang="en-US" sz="5000" b="1" smtClean="0">
                <a:cs typeface="Cambria"/>
              </a:rPr>
              <a:t>diti</a:t>
            </a:r>
            <a:r>
              <a:rPr lang="en-US" sz="5000" b="1" spc="4" smtClean="0">
                <a:cs typeface="Cambria"/>
              </a:rPr>
              <a:t>o</a:t>
            </a:r>
            <a:r>
              <a:rPr lang="en-US" sz="5000" b="1" smtClean="0">
                <a:cs typeface="Cambria"/>
              </a:rPr>
              <a:t>ns</a:t>
            </a:r>
          </a:p>
          <a:p>
            <a:pPr marL="1018844" marR="526699" lvl="1" indent="-228600">
              <a:lnSpc>
                <a:spcPct val="120000"/>
              </a:lnSpc>
              <a:spcBef>
                <a:spcPts val="170"/>
              </a:spcBef>
              <a:buFont typeface="Wingdings" pitchFamily="2" charset="2"/>
              <a:buChar char="§"/>
            </a:pPr>
            <a:r>
              <a:rPr lang="en-US" sz="5000" smtClean="0">
                <a:cs typeface="Cambria"/>
              </a:rPr>
              <a:t>Most MVS must impose numerous constraints on the operating conditions of the scene to improve their chances of success.</a:t>
            </a:r>
          </a:p>
          <a:p>
            <a:pPr marL="1018844" marR="526699" lvl="1" indent="-228600">
              <a:lnSpc>
                <a:spcPts val="3030"/>
              </a:lnSpc>
              <a:spcBef>
                <a:spcPts val="170"/>
              </a:spcBef>
            </a:pPr>
            <a:endParaRPr lang="en-US" smtClean="0">
              <a:latin typeface="Cambria"/>
              <a:cs typeface="Cambria"/>
            </a:endParaRPr>
          </a:p>
          <a:p>
            <a:pPr marL="285800" marR="548561" indent="-273100">
              <a:lnSpc>
                <a:spcPts val="4423"/>
              </a:lnSpc>
              <a:spcBef>
                <a:spcPts val="2098"/>
              </a:spcBef>
            </a:pPr>
            <a:endParaRPr lang="en-US" smtClean="0">
              <a:latin typeface="Cambria"/>
              <a:cs typeface="Cambria"/>
            </a:endParaRPr>
          </a:p>
          <a:p>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Easy vs Hard Problems</a:t>
            </a:r>
          </a:p>
        </p:txBody>
      </p:sp>
      <p:sp>
        <p:nvSpPr>
          <p:cNvPr id="3" name="Content Placeholder 2"/>
          <p:cNvSpPr>
            <a:spLocks noGrp="1"/>
          </p:cNvSpPr>
          <p:nvPr>
            <p:ph idx="1"/>
          </p:nvPr>
        </p:nvSpPr>
        <p:spPr/>
        <p:txBody>
          <a:bodyPr/>
          <a:lstStyle/>
          <a:p>
            <a:r>
              <a:rPr lang="en-US" dirty="0"/>
              <a:t>While a computer would have a hard </a:t>
            </a:r>
            <a:r>
              <a:rPr lang="en-US" dirty="0" smtClean="0"/>
              <a:t>time identifying </a:t>
            </a:r>
            <a:r>
              <a:rPr lang="en-US" dirty="0"/>
              <a:t>this as a bolt, it could easily </a:t>
            </a:r>
            <a:r>
              <a:rPr lang="en-US" dirty="0" smtClean="0"/>
              <a:t>count how </a:t>
            </a:r>
            <a:r>
              <a:rPr lang="en-US" dirty="0"/>
              <a:t>many </a:t>
            </a:r>
            <a:r>
              <a:rPr lang="en-US" dirty="0" smtClean="0"/>
              <a:t>threads </a:t>
            </a:r>
            <a:r>
              <a:rPr lang="en-US" dirty="0"/>
              <a:t>per </a:t>
            </a:r>
            <a:r>
              <a:rPr lang="en-US" dirty="0" smtClean="0"/>
              <a:t>inch </a:t>
            </a:r>
            <a:r>
              <a:rPr lang="en-US" dirty="0"/>
              <a:t>there are </a:t>
            </a:r>
            <a:r>
              <a:rPr lang="en-US" dirty="0" smtClean="0"/>
              <a:t>:)</a:t>
            </a:r>
          </a:p>
          <a:p>
            <a:endParaRPr lang="vi-VN" dirty="0"/>
          </a:p>
        </p:txBody>
      </p:sp>
      <p:pic>
        <p:nvPicPr>
          <p:cNvPr id="4" name="Picture 3"/>
          <p:cNvPicPr>
            <a:picLocks noChangeAspect="1"/>
          </p:cNvPicPr>
          <p:nvPr/>
        </p:nvPicPr>
        <p:blipFill>
          <a:blip r:embed="rId2"/>
          <a:stretch>
            <a:fillRect/>
          </a:stretch>
        </p:blipFill>
        <p:spPr>
          <a:xfrm>
            <a:off x="4246536" y="4295021"/>
            <a:ext cx="3642102" cy="1851780"/>
          </a:xfrm>
          <a:prstGeom prst="rect">
            <a:avLst/>
          </a:prstGeom>
        </p:spPr>
      </p:pic>
    </p:spTree>
    <p:extLst>
      <p:ext uri="{BB962C8B-B14F-4D97-AF65-F5344CB8AC3E}">
        <p14:creationId xmlns:p14="http://schemas.microsoft.com/office/powerpoint/2010/main" val="38772546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2" y="641176"/>
            <a:ext cx="9601196" cy="1303867"/>
          </a:xfrm>
        </p:spPr>
        <p:txBody>
          <a:bodyPr/>
          <a:lstStyle/>
          <a:p>
            <a:r>
              <a:rPr lang="vi-VN" dirty="0"/>
              <a:t>Easy vs Hard Problems</a:t>
            </a:r>
          </a:p>
        </p:txBody>
      </p:sp>
      <p:graphicFrame>
        <p:nvGraphicFramePr>
          <p:cNvPr id="7" name="Content Placeholder 6"/>
          <p:cNvGraphicFramePr>
            <a:graphicFrameLocks noGrp="1"/>
          </p:cNvGraphicFramePr>
          <p:nvPr>
            <p:ph sz="half" idx="1"/>
            <p:extLst>
              <p:ext uri="{D42A27DB-BD31-4B8C-83A1-F6EECF244321}">
                <p14:modId xmlns:p14="http://schemas.microsoft.com/office/powerpoint/2010/main" val="1861928148"/>
              </p:ext>
            </p:extLst>
          </p:nvPr>
        </p:nvGraphicFramePr>
        <p:xfrm>
          <a:off x="1298573" y="2436653"/>
          <a:ext cx="9598024" cy="3609924"/>
        </p:xfrm>
        <a:graphic>
          <a:graphicData uri="http://schemas.openxmlformats.org/drawingml/2006/table">
            <a:tbl>
              <a:tblPr firstRow="1" bandRow="1">
                <a:tableStyleId>{5C22544A-7EE6-4342-B048-85BDC9FD1C3A}</a:tableStyleId>
              </a:tblPr>
              <a:tblGrid>
                <a:gridCol w="4799012">
                  <a:extLst>
                    <a:ext uri="{9D8B030D-6E8A-4147-A177-3AD203B41FA5}">
                      <a16:colId xmlns="" xmlns:a16="http://schemas.microsoft.com/office/drawing/2014/main" val="2140882795"/>
                    </a:ext>
                  </a:extLst>
                </a:gridCol>
                <a:gridCol w="4799012">
                  <a:extLst>
                    <a:ext uri="{9D8B030D-6E8A-4147-A177-3AD203B41FA5}">
                      <a16:colId xmlns="" xmlns:a16="http://schemas.microsoft.com/office/drawing/2014/main" val="4274058725"/>
                    </a:ext>
                  </a:extLst>
                </a:gridCol>
              </a:tblGrid>
              <a:tr h="661962">
                <a:tc>
                  <a:txBody>
                    <a:bodyPr/>
                    <a:lstStyle/>
                    <a:p>
                      <a:pPr algn="ctr"/>
                      <a:r>
                        <a:rPr lang="vi-VN" sz="3200" b="1" i="0" u="none" strike="noStrike" kern="1200" baseline="0" dirty="0" smtClean="0">
                          <a:solidFill>
                            <a:schemeClr val="lt1"/>
                          </a:solidFill>
                          <a:latin typeface="+mn-lt"/>
                          <a:ea typeface="+mn-ea"/>
                          <a:cs typeface="+mn-cs"/>
                        </a:rPr>
                        <a:t>Easy</a:t>
                      </a:r>
                      <a:endParaRPr lang="vi-VN" sz="3200" dirty="0"/>
                    </a:p>
                  </a:txBody>
                  <a:tcPr/>
                </a:tc>
                <a:tc>
                  <a:txBody>
                    <a:bodyPr/>
                    <a:lstStyle/>
                    <a:p>
                      <a:pPr algn="ctr"/>
                      <a:r>
                        <a:rPr lang="en-US" sz="3200" dirty="0" smtClean="0"/>
                        <a:t>Hard</a:t>
                      </a:r>
                      <a:endParaRPr lang="vi-VN" sz="3200" dirty="0"/>
                    </a:p>
                  </a:txBody>
                  <a:tcPr/>
                </a:tc>
                <a:extLst>
                  <a:ext uri="{0D108BD9-81ED-4DB2-BD59-A6C34878D82A}">
                    <a16:rowId xmlns="" xmlns:a16="http://schemas.microsoft.com/office/drawing/2014/main" val="1854967544"/>
                  </a:ext>
                </a:extLst>
              </a:tr>
              <a:tr h="661962">
                <a:tc>
                  <a:txBody>
                    <a:bodyPr/>
                    <a:lstStyle/>
                    <a:p>
                      <a:r>
                        <a:rPr lang="en-US" sz="2200" dirty="0" smtClean="0"/>
                        <a:t>How wide is this plate? Is it dirty?</a:t>
                      </a:r>
                      <a:endParaRPr lang="vi-VN" sz="2200" dirty="0"/>
                    </a:p>
                  </a:txBody>
                  <a:tcPr/>
                </a:tc>
                <a:tc>
                  <a:txBody>
                    <a:bodyPr/>
                    <a:lstStyle/>
                    <a:p>
                      <a:r>
                        <a:rPr lang="en-US" sz="2200" b="0" i="0" u="none" strike="noStrike" kern="1200" baseline="0" smtClean="0">
                          <a:solidFill>
                            <a:schemeClr val="dk1"/>
                          </a:solidFill>
                          <a:latin typeface="+mn-lt"/>
                          <a:ea typeface="+mn-ea"/>
                          <a:cs typeface="+mn-cs"/>
                        </a:rPr>
                        <a:t>Look at a picture of a random kitchen,</a:t>
                      </a:r>
                    </a:p>
                    <a:p>
                      <a:r>
                        <a:rPr lang="en-US" sz="2200" b="0" i="0" u="none" strike="noStrike" kern="1200" baseline="0" smtClean="0">
                          <a:solidFill>
                            <a:schemeClr val="dk1"/>
                          </a:solidFill>
                          <a:latin typeface="+mn-lt"/>
                          <a:ea typeface="+mn-ea"/>
                          <a:cs typeface="+mn-cs"/>
                        </a:rPr>
                        <a:t>and find all the dirty plates.</a:t>
                      </a:r>
                    </a:p>
                  </a:txBody>
                  <a:tcPr/>
                </a:tc>
                <a:extLst>
                  <a:ext uri="{0D108BD9-81ED-4DB2-BD59-A6C34878D82A}">
                    <a16:rowId xmlns="" xmlns:a16="http://schemas.microsoft.com/office/drawing/2014/main" val="730217255"/>
                  </a:ext>
                </a:extLst>
              </a:tr>
              <a:tr h="661962">
                <a:tc>
                  <a:txBody>
                    <a:bodyPr/>
                    <a:lstStyle/>
                    <a:p>
                      <a:r>
                        <a:rPr lang="en-US" sz="2200" b="0" i="0" u="none" strike="noStrike" kern="1200" baseline="0" dirty="0" smtClean="0">
                          <a:solidFill>
                            <a:schemeClr val="dk1"/>
                          </a:solidFill>
                          <a:latin typeface="+mn-lt"/>
                          <a:ea typeface="+mn-ea"/>
                          <a:cs typeface="+mn-cs"/>
                        </a:rPr>
                        <a:t>Did something change between these two</a:t>
                      </a:r>
                    </a:p>
                    <a:p>
                      <a:r>
                        <a:rPr lang="vi-VN" sz="2200" b="0" i="0" u="none" strike="noStrike" kern="1200" baseline="0" dirty="0" smtClean="0">
                          <a:solidFill>
                            <a:schemeClr val="dk1"/>
                          </a:solidFill>
                          <a:latin typeface="+mn-lt"/>
                          <a:ea typeface="+mn-ea"/>
                          <a:cs typeface="+mn-cs"/>
                        </a:rPr>
                        <a:t>images?</a:t>
                      </a:r>
                      <a:endParaRPr lang="vi-VN" sz="2200" dirty="0"/>
                    </a:p>
                  </a:txBody>
                  <a:tcPr/>
                </a:tc>
                <a:tc>
                  <a:txBody>
                    <a:bodyPr/>
                    <a:lstStyle/>
                    <a:p>
                      <a:r>
                        <a:rPr lang="en-US" sz="2200" dirty="0" smtClean="0"/>
                        <a:t>Track an object or person moving through</a:t>
                      </a:r>
                    </a:p>
                    <a:p>
                      <a:r>
                        <a:rPr lang="en-US" sz="2200" dirty="0" smtClean="0"/>
                        <a:t>a crowded room of other people.</a:t>
                      </a:r>
                      <a:endParaRPr lang="vi-VN" sz="2200" dirty="0"/>
                    </a:p>
                  </a:txBody>
                  <a:tcPr/>
                </a:tc>
                <a:extLst>
                  <a:ext uri="{0D108BD9-81ED-4DB2-BD59-A6C34878D82A}">
                    <a16:rowId xmlns="" xmlns:a16="http://schemas.microsoft.com/office/drawing/2014/main" val="759342009"/>
                  </a:ext>
                </a:extLst>
              </a:tr>
              <a:tr h="661962">
                <a:tc>
                  <a:txBody>
                    <a:bodyPr/>
                    <a:lstStyle/>
                    <a:p>
                      <a:r>
                        <a:rPr lang="en-US" sz="2200" b="0" i="0" u="none" strike="noStrike" kern="1200" baseline="0" dirty="0" smtClean="0">
                          <a:solidFill>
                            <a:schemeClr val="dk1"/>
                          </a:solidFill>
                          <a:latin typeface="+mn-lt"/>
                          <a:ea typeface="+mn-ea"/>
                          <a:cs typeface="+mn-cs"/>
                        </a:rPr>
                        <a:t>Measure the diameter of a wheel. Check</a:t>
                      </a:r>
                    </a:p>
                    <a:p>
                      <a:r>
                        <a:rPr lang="en-US" sz="2200" b="0" i="0" u="none" strike="noStrike" kern="1200" baseline="0" dirty="0" smtClean="0">
                          <a:solidFill>
                            <a:schemeClr val="dk1"/>
                          </a:solidFill>
                          <a:latin typeface="+mn-lt"/>
                          <a:ea typeface="+mn-ea"/>
                          <a:cs typeface="+mn-cs"/>
                        </a:rPr>
                        <a:t>to see if it is bent.</a:t>
                      </a:r>
                      <a:endParaRPr lang="vi-VN" sz="2200" dirty="0"/>
                    </a:p>
                  </a:txBody>
                  <a:tcPr/>
                </a:tc>
                <a:tc>
                  <a:txBody>
                    <a:bodyPr/>
                    <a:lstStyle/>
                    <a:p>
                      <a:r>
                        <a:rPr lang="en-US" sz="2200" smtClean="0"/>
                        <a:t>Identify arbitrary parts on pictures of</a:t>
                      </a:r>
                    </a:p>
                    <a:p>
                      <a:r>
                        <a:rPr lang="en-US" sz="2200" smtClean="0"/>
                        <a:t>bicycles.</a:t>
                      </a:r>
                    </a:p>
                  </a:txBody>
                  <a:tcPr/>
                </a:tc>
                <a:extLst>
                  <a:ext uri="{0D108BD9-81ED-4DB2-BD59-A6C34878D82A}">
                    <a16:rowId xmlns="" xmlns:a16="http://schemas.microsoft.com/office/drawing/2014/main" val="1541033062"/>
                  </a:ext>
                </a:extLst>
              </a:tr>
              <a:tr h="661962">
                <a:tc>
                  <a:txBody>
                    <a:bodyPr/>
                    <a:lstStyle/>
                    <a:p>
                      <a:r>
                        <a:rPr lang="en-US" sz="2200" b="0" i="0" u="none" strike="noStrike" kern="1200" baseline="0" dirty="0" smtClean="0">
                          <a:solidFill>
                            <a:schemeClr val="dk1"/>
                          </a:solidFill>
                          <a:latin typeface="+mn-lt"/>
                          <a:ea typeface="+mn-ea"/>
                          <a:cs typeface="+mn-cs"/>
                        </a:rPr>
                        <a:t>What color is this leaf?</a:t>
                      </a:r>
                      <a:endParaRPr lang="vi-VN" sz="2200" dirty="0"/>
                    </a:p>
                  </a:txBody>
                  <a:tcPr/>
                </a:tc>
                <a:tc>
                  <a:txBody>
                    <a:bodyPr/>
                    <a:lstStyle/>
                    <a:p>
                      <a:r>
                        <a:rPr lang="en-US" sz="2200" b="0" i="0" u="none" strike="noStrike" kern="1200" baseline="0" dirty="0" smtClean="0">
                          <a:solidFill>
                            <a:schemeClr val="dk1"/>
                          </a:solidFill>
                          <a:latin typeface="+mn-lt"/>
                          <a:ea typeface="+mn-ea"/>
                          <a:cs typeface="+mn-cs"/>
                        </a:rPr>
                        <a:t>What kind of leaf is this?</a:t>
                      </a:r>
                      <a:endParaRPr lang="vi-VN" sz="2200" dirty="0"/>
                    </a:p>
                  </a:txBody>
                  <a:tcPr/>
                </a:tc>
                <a:extLst>
                  <a:ext uri="{0D108BD9-81ED-4DB2-BD59-A6C34878D82A}">
                    <a16:rowId xmlns="" xmlns:a16="http://schemas.microsoft.com/office/drawing/2014/main" val="242962752"/>
                  </a:ext>
                </a:extLst>
              </a:tr>
            </a:tbl>
          </a:graphicData>
        </a:graphic>
      </p:graphicFrame>
    </p:spTree>
    <p:extLst>
      <p:ext uri="{BB962C8B-B14F-4D97-AF65-F5344CB8AC3E}">
        <p14:creationId xmlns:p14="http://schemas.microsoft.com/office/powerpoint/2010/main" val="35107022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smtClean="0"/>
              <a:t>PROBLEMS</a:t>
            </a:r>
            <a:r>
              <a:rPr lang="en-US" smtClean="0"/>
              <a:t> </a:t>
            </a:r>
            <a:endParaRPr lang="en-US"/>
          </a:p>
        </p:txBody>
      </p:sp>
      <p:sp>
        <p:nvSpPr>
          <p:cNvPr id="6" name="Content Placeholder 5"/>
          <p:cNvSpPr>
            <a:spLocks noGrp="1"/>
          </p:cNvSpPr>
          <p:nvPr>
            <p:ph idx="1"/>
          </p:nvPr>
        </p:nvSpPr>
        <p:spPr>
          <a:xfrm>
            <a:off x="1295400" y="2556932"/>
            <a:ext cx="9634869" cy="2504166"/>
          </a:xfrm>
        </p:spPr>
        <p:txBody>
          <a:bodyPr>
            <a:normAutofit fontScale="77500" lnSpcReduction="20000"/>
          </a:bodyPr>
          <a:lstStyle/>
          <a:p>
            <a:r>
              <a:rPr lang="en-US" b="1" smtClean="0"/>
              <a:t>Prb1: Design a machine vision system </a:t>
            </a:r>
            <a:r>
              <a:rPr lang="en-US" smtClean="0"/>
              <a:t>to </a:t>
            </a:r>
            <a:r>
              <a:rPr lang="en-US" b="1" smtClean="0"/>
              <a:t>read the label </a:t>
            </a:r>
            <a:r>
              <a:rPr lang="en-US" smtClean="0"/>
              <a:t>of the main integrated circuit (IC). Explain what each block will do, their input and output, what are the most challenging requirements, and how they will be met by the designed solution. </a:t>
            </a:r>
            <a:br>
              <a:rPr lang="en-US" smtClean="0"/>
            </a:br>
            <a:r>
              <a:rPr lang="en-US" smtClean="0"/>
              <a:t> </a:t>
            </a:r>
            <a:br>
              <a:rPr lang="en-US" smtClean="0"/>
            </a:br>
            <a:endParaRPr lang="en-US"/>
          </a:p>
        </p:txBody>
      </p:sp>
      <p:pic>
        <p:nvPicPr>
          <p:cNvPr id="1027" name="Picture 3"/>
          <p:cNvPicPr>
            <a:picLocks noChangeAspect="1" noChangeArrowheads="1"/>
          </p:cNvPicPr>
          <p:nvPr/>
        </p:nvPicPr>
        <p:blipFill>
          <a:blip r:embed="rId2"/>
          <a:srcRect/>
          <a:stretch>
            <a:fillRect/>
          </a:stretch>
        </p:blipFill>
        <p:spPr bwMode="auto">
          <a:xfrm>
            <a:off x="3976576" y="3975648"/>
            <a:ext cx="2870791" cy="2155843"/>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smtClean="0"/>
              <a:t>PROBLEMS</a:t>
            </a:r>
            <a:r>
              <a:rPr lang="en-US" smtClean="0"/>
              <a:t> </a:t>
            </a:r>
            <a:endParaRPr lang="en-US"/>
          </a:p>
        </p:txBody>
      </p:sp>
      <p:sp>
        <p:nvSpPr>
          <p:cNvPr id="6" name="Content Placeholder 5"/>
          <p:cNvSpPr>
            <a:spLocks noGrp="1"/>
          </p:cNvSpPr>
          <p:nvPr>
            <p:ph sz="half" idx="1"/>
          </p:nvPr>
        </p:nvSpPr>
        <p:spPr/>
        <p:txBody>
          <a:bodyPr>
            <a:normAutofit fontScale="85000" lnSpcReduction="20000"/>
          </a:bodyPr>
          <a:lstStyle/>
          <a:p>
            <a:r>
              <a:rPr lang="en-US" b="1" smtClean="0"/>
              <a:t>Prb2: </a:t>
            </a:r>
            <a:r>
              <a:rPr lang="en-US" smtClean="0"/>
              <a:t>Who do you think would perform better at the following tasks- man (HVS) or computer (MVS) and why?</a:t>
            </a:r>
            <a:br>
              <a:rPr lang="en-US" smtClean="0"/>
            </a:br>
            <a:r>
              <a:rPr lang="en-US" smtClean="0"/>
              <a:t>a) Determining which line is the shortest</a:t>
            </a:r>
            <a:br>
              <a:rPr lang="en-US" smtClean="0"/>
            </a:br>
            <a:r>
              <a:rPr lang="en-US" smtClean="0"/>
              <a:t>b) Determining which circle is the smallest </a:t>
            </a:r>
            <a:br>
              <a:rPr lang="en-US" smtClean="0"/>
            </a:br>
            <a:endParaRPr lang="en-US"/>
          </a:p>
        </p:txBody>
      </p:sp>
      <p:pic>
        <p:nvPicPr>
          <p:cNvPr id="2051" name="Picture 3"/>
          <p:cNvPicPr>
            <a:picLocks noGrp="1" noChangeAspect="1" noChangeArrowheads="1"/>
          </p:cNvPicPr>
          <p:nvPr>
            <p:ph sz="half" idx="2"/>
          </p:nvPr>
        </p:nvPicPr>
        <p:blipFill>
          <a:blip r:embed="rId2"/>
          <a:srcRect/>
          <a:stretch>
            <a:fillRect/>
          </a:stretch>
        </p:blipFill>
        <p:spPr bwMode="auto">
          <a:xfrm>
            <a:off x="6181725" y="3260201"/>
            <a:ext cx="4718050" cy="1910810"/>
          </a:xfrm>
          <a:prstGeom prst="rect">
            <a:avLst/>
          </a:prstGeom>
          <a:noFill/>
          <a:ln w="9525">
            <a:noFill/>
            <a:miter lim="800000"/>
            <a:headEnd/>
            <a:tailEnd/>
          </a:ln>
          <a:effec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smtClean="0"/>
              <a:t>PROBLEMS</a:t>
            </a:r>
            <a:r>
              <a:rPr lang="en-US" smtClean="0"/>
              <a:t> </a:t>
            </a:r>
            <a:endParaRPr lang="en-US"/>
          </a:p>
        </p:txBody>
      </p:sp>
      <p:sp>
        <p:nvSpPr>
          <p:cNvPr id="3" name="Content Placeholder 2"/>
          <p:cNvSpPr>
            <a:spLocks noGrp="1"/>
          </p:cNvSpPr>
          <p:nvPr>
            <p:ph sz="half" idx="1"/>
          </p:nvPr>
        </p:nvSpPr>
        <p:spPr/>
        <p:txBody>
          <a:bodyPr>
            <a:normAutofit fontScale="77500" lnSpcReduction="20000"/>
          </a:bodyPr>
          <a:lstStyle/>
          <a:p>
            <a:r>
              <a:rPr lang="en-US" smtClean="0"/>
              <a:t>Who do you think would perform better at the following tasks:</a:t>
            </a:r>
            <a:br>
              <a:rPr lang="en-US" smtClean="0"/>
            </a:br>
            <a:r>
              <a:rPr lang="en-US" smtClean="0"/>
              <a:t>man (HVS) or computer (MVS) and why?</a:t>
            </a:r>
            <a:br>
              <a:rPr lang="en-US" smtClean="0"/>
            </a:br>
            <a:r>
              <a:rPr lang="en-US" smtClean="0"/>
              <a:t>a) Segmenting the image containing the letter “F” from the background</a:t>
            </a:r>
            <a:br>
              <a:rPr lang="en-US" smtClean="0"/>
            </a:br>
            <a:r>
              <a:rPr lang="en-US" smtClean="0"/>
              <a:t>b) Segmenting the white triang </a:t>
            </a:r>
            <a:br>
              <a:rPr lang="en-US" smtClean="0"/>
            </a:br>
            <a:endParaRPr lang="en-US"/>
          </a:p>
        </p:txBody>
      </p:sp>
      <p:pic>
        <p:nvPicPr>
          <p:cNvPr id="3074" name="Picture 2"/>
          <p:cNvPicPr>
            <a:picLocks noGrp="1" noChangeAspect="1" noChangeArrowheads="1"/>
          </p:cNvPicPr>
          <p:nvPr>
            <p:ph sz="half" idx="2"/>
          </p:nvPr>
        </p:nvPicPr>
        <p:blipFill>
          <a:blip r:embed="rId2"/>
          <a:srcRect/>
          <a:stretch>
            <a:fillRect/>
          </a:stretch>
        </p:blipFill>
        <p:spPr bwMode="auto">
          <a:xfrm>
            <a:off x="6181725" y="2870962"/>
            <a:ext cx="4718050" cy="2689289"/>
          </a:xfrm>
          <a:prstGeom prst="rect">
            <a:avLst/>
          </a:prstGeom>
          <a:noFill/>
          <a:ln w="9525">
            <a:noFill/>
            <a:miter lim="800000"/>
            <a:headEnd/>
            <a:tailEnd/>
          </a:ln>
          <a:effec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Topics for Assignment </a:t>
            </a:r>
            <a:endParaRPr lang="en-US"/>
          </a:p>
        </p:txBody>
      </p:sp>
      <p:sp>
        <p:nvSpPr>
          <p:cNvPr id="3" name="Content Placeholder 2"/>
          <p:cNvSpPr>
            <a:spLocks noGrp="1"/>
          </p:cNvSpPr>
          <p:nvPr>
            <p:ph sz="half" idx="1"/>
          </p:nvPr>
        </p:nvSpPr>
        <p:spPr/>
        <p:txBody>
          <a:bodyPr/>
          <a:lstStyle/>
          <a:p>
            <a:endParaRPr lang="en-US"/>
          </a:p>
        </p:txBody>
      </p:sp>
      <p:sp>
        <p:nvSpPr>
          <p:cNvPr id="4" name="Content Placeholder 3"/>
          <p:cNvSpPr>
            <a:spLocks noGrp="1"/>
          </p:cNvSpPr>
          <p:nvPr>
            <p:ph sz="half" idx="2"/>
          </p:nvPr>
        </p:nvSpPr>
        <p:spPr/>
        <p:txBody>
          <a:bodyPr/>
          <a:lstStyle/>
          <a:p>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References</a:t>
            </a:r>
          </a:p>
        </p:txBody>
      </p:sp>
      <p:sp>
        <p:nvSpPr>
          <p:cNvPr id="5" name="Content Placeholder 4"/>
          <p:cNvSpPr>
            <a:spLocks noGrp="1"/>
          </p:cNvSpPr>
          <p:nvPr>
            <p:ph idx="1"/>
          </p:nvPr>
        </p:nvSpPr>
        <p:spPr/>
        <p:txBody>
          <a:bodyPr/>
          <a:lstStyle/>
          <a:p>
            <a:r>
              <a:rPr lang="en-US" dirty="0"/>
              <a:t>Practical Image and Video Processing </a:t>
            </a:r>
            <a:r>
              <a:rPr lang="en-US" dirty="0" smtClean="0"/>
              <a:t>using </a:t>
            </a:r>
            <a:r>
              <a:rPr lang="fr-FR" dirty="0" smtClean="0"/>
              <a:t>Matlab</a:t>
            </a:r>
            <a:r>
              <a:rPr lang="fr-FR" dirty="0"/>
              <a:t>, </a:t>
            </a:r>
            <a:r>
              <a:rPr lang="fr-FR" dirty="0" err="1"/>
              <a:t>Oge</a:t>
            </a:r>
            <a:r>
              <a:rPr lang="fr-FR" dirty="0"/>
              <a:t> Marques, 2011, </a:t>
            </a:r>
            <a:r>
              <a:rPr lang="fr-FR" b="1" dirty="0" err="1"/>
              <a:t>Chapter</a:t>
            </a:r>
            <a:r>
              <a:rPr lang="fr-FR" b="1" dirty="0"/>
              <a:t> 1</a:t>
            </a:r>
            <a:endParaRPr lang="vi-VN" dirty="0"/>
          </a:p>
        </p:txBody>
      </p:sp>
    </p:spTree>
    <p:extLst>
      <p:ext uri="{BB962C8B-B14F-4D97-AF65-F5344CB8AC3E}">
        <p14:creationId xmlns:p14="http://schemas.microsoft.com/office/powerpoint/2010/main" val="2483029333"/>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Organic</Template>
  <TotalTime>284</TotalTime>
  <Words>725</Words>
  <Application>Microsoft Office PowerPoint</Application>
  <PresentationFormat>Custom</PresentationFormat>
  <Paragraphs>92</Paragraphs>
  <Slides>28</Slides>
  <Notes>0</Notes>
  <HiddenSlides>0</HiddenSlides>
  <MMClips>0</MMClips>
  <ScaleCrop>false</ScaleCrop>
  <HeadingPairs>
    <vt:vector size="4" baseType="variant">
      <vt:variant>
        <vt:lpstr>Theme</vt:lpstr>
      </vt:variant>
      <vt:variant>
        <vt:i4>1</vt:i4>
      </vt:variant>
      <vt:variant>
        <vt:lpstr>Slide Titles</vt:lpstr>
      </vt:variant>
      <vt:variant>
        <vt:i4>28</vt:i4>
      </vt:variant>
    </vt:vector>
  </HeadingPairs>
  <TitlesOfParts>
    <vt:vector size="29" baseType="lpstr">
      <vt:lpstr>Organic</vt:lpstr>
      <vt:lpstr>CHAPTER 1</vt:lpstr>
      <vt:lpstr>WHAT WILL WE LEARN?</vt:lpstr>
      <vt:lpstr>Human Activities Covered  by Image Processing</vt:lpstr>
      <vt:lpstr>What is an Image?</vt:lpstr>
      <vt:lpstr>What Is a Digital Image?</vt:lpstr>
      <vt:lpstr>What Is Digital Image Processing?</vt:lpstr>
      <vt:lpstr>What Is the Scope of Image Processing?</vt:lpstr>
      <vt:lpstr>Contributing and Overlapping Areas</vt:lpstr>
      <vt:lpstr>Typical Image Processing Operations</vt:lpstr>
      <vt:lpstr>Sharpening</vt:lpstr>
      <vt:lpstr>Noise Removal</vt:lpstr>
      <vt:lpstr>Deblurring</vt:lpstr>
      <vt:lpstr>Edge Extraction</vt:lpstr>
      <vt:lpstr>Binarization</vt:lpstr>
      <vt:lpstr>Blurring</vt:lpstr>
      <vt:lpstr>Contrast Enhancement</vt:lpstr>
      <vt:lpstr>Object Segmentation and Labeling</vt:lpstr>
      <vt:lpstr>Components of a Digital Image Processing System</vt:lpstr>
      <vt:lpstr>Machine Visual System</vt:lpstr>
      <vt:lpstr>Human Visual System</vt:lpstr>
      <vt:lpstr>MVS vs. HVS</vt:lpstr>
      <vt:lpstr>Easy vs Hard Problems</vt:lpstr>
      <vt:lpstr>Easy vs Hard Problems</vt:lpstr>
      <vt:lpstr>PROBLEMS </vt:lpstr>
      <vt:lpstr>PROBLEMS </vt:lpstr>
      <vt:lpstr>PROBLEMS </vt:lpstr>
      <vt:lpstr>Topics for Assignment </vt:lpstr>
      <vt:lpstr>References</vt:lpstr>
    </vt:vector>
  </TitlesOfParts>
  <Company>00000</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dc:title>
  <dc:creator>MAYTINH</dc:creator>
  <cp:lastModifiedBy>Nguyen </cp:lastModifiedBy>
  <cp:revision>27</cp:revision>
  <dcterms:created xsi:type="dcterms:W3CDTF">2017-05-09T03:09:34Z</dcterms:created>
  <dcterms:modified xsi:type="dcterms:W3CDTF">2022-12-05T04:32:26Z</dcterms:modified>
</cp:coreProperties>
</file>
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-57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FEF59C9-AC0B-4896-9217-64A6B5201B25}" type="datetimeFigureOut">
              <a:rPr lang="vi-VN" smtClean="0"/>
              <a:pPr/>
              <a:t>07/06/2017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4099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89758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07/06/2017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73321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9028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07/06/2017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37741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07/06/2017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0997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07/06/2017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32295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07/06/2017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66013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07/06/2017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8191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07/06/2017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81776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07/06/2017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95454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5930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9270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175601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784925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38428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142135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1622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EF59C9-AC0B-4896-9217-64A6B5201B25}" type="datetimeFigureOut">
              <a:rPr lang="vi-VN" smtClean="0"/>
              <a:pPr/>
              <a:t>07/06/2017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2706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8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smtClean="0"/>
              <a:t>CHAPTER 11</a:t>
            </a:r>
            <a:endParaRPr lang="vi-VN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smtClean="0"/>
              <a:t>FREQUENCY-DOMAIN FILTERING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xmlns="" val="122089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WHAT WILL WE LEARN?</a:t>
            </a:r>
            <a:endParaRPr lang="vi-VN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Which mathematical tools are used to represent an image’s contents in the 2D frequency domain?</a:t>
            </a:r>
          </a:p>
          <a:p>
            <a:r>
              <a:rPr lang="en-US" smtClean="0"/>
              <a:t>What is the Fourier transform, what are its main properties, and how is it used in the context of frequency-domain filtering?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How are image processing filters designed and implemented in the frequency domain?</a:t>
            </a:r>
          </a:p>
          <a:p>
            <a:r>
              <a:rPr lang="en-US" smtClean="0"/>
              <a:t>What are the differences between low-pass and high-pass filters (HPFs)?</a:t>
            </a:r>
          </a:p>
          <a:p>
            <a:r>
              <a:rPr lang="en-US" smtClean="0"/>
              <a:t>What are the differences among ideal, Butterworth, and Gaussian filters?</a:t>
            </a:r>
          </a:p>
        </p:txBody>
      </p:sp>
    </p:spTree>
    <p:extLst>
      <p:ext uri="{BB962C8B-B14F-4D97-AF65-F5344CB8AC3E}">
        <p14:creationId xmlns:p14="http://schemas.microsoft.com/office/powerpoint/2010/main" xmlns="" val="3546310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Frequency-domain operations</a:t>
            </a:r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238500" y="2640013"/>
            <a:ext cx="5715000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TRANSFORM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A </a:t>
            </a:r>
            <a:r>
              <a:rPr lang="en-US" i="1" smtClean="0"/>
              <a:t>transform </a:t>
            </a:r>
            <a:r>
              <a:rPr lang="en-US" smtClean="0"/>
              <a:t>is a mathematical tool that allows the conversion of a set </a:t>
            </a:r>
            <a:r>
              <a:rPr lang="en-US" smtClean="0"/>
              <a:t>of </a:t>
            </a:r>
            <a:r>
              <a:rPr lang="en-US" smtClean="0"/>
              <a:t>values to </a:t>
            </a:r>
            <a:r>
              <a:rPr lang="en-US" smtClean="0"/>
              <a:t>another set of values, creating, therefore, a new way of representing </a:t>
            </a:r>
            <a:r>
              <a:rPr lang="en-US" smtClean="0"/>
              <a:t>the </a:t>
            </a:r>
            <a:r>
              <a:rPr lang="en-US" smtClean="0"/>
              <a:t>same information.</a:t>
            </a:r>
          </a:p>
          <a:p>
            <a:pPr lvl="1"/>
            <a:r>
              <a:rPr lang="en-US" smtClean="0"/>
              <a:t>O</a:t>
            </a:r>
            <a:r>
              <a:rPr lang="en-US" smtClean="0"/>
              <a:t>riginal domain </a:t>
            </a:r>
            <a:r>
              <a:rPr lang="en-US" i="1" smtClean="0"/>
              <a:t>spatial domain</a:t>
            </a:r>
          </a:p>
          <a:p>
            <a:pPr lvl="1"/>
            <a:r>
              <a:rPr lang="en-US" smtClean="0"/>
              <a:t>Results domain: </a:t>
            </a:r>
            <a:r>
              <a:rPr lang="en-US" i="1" smtClean="0"/>
              <a:t>transform domain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Forward and Inverse transform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Forward </a:t>
            </a:r>
            <a:r>
              <a:rPr lang="en-US" smtClean="0"/>
              <a:t>transform</a:t>
            </a:r>
          </a:p>
          <a:p>
            <a:endParaRPr lang="en-US" smtClean="0"/>
          </a:p>
          <a:p>
            <a:r>
              <a:rPr lang="en-US" smtClean="0"/>
              <a:t>Inverse </a:t>
            </a:r>
            <a:r>
              <a:rPr lang="en-US" smtClean="0"/>
              <a:t>transform</a:t>
            </a:r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09694" y="2823198"/>
            <a:ext cx="4596900" cy="121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55134" y="4493623"/>
            <a:ext cx="4720042" cy="1180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The 2D Discrete Fourier Transform</a:t>
            </a:r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51427" y="2521131"/>
            <a:ext cx="9483995" cy="3461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 MATLAB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2D FT:  </a:t>
            </a:r>
            <a:r>
              <a:rPr lang="en-US" b="1" i="1" smtClean="0"/>
              <a:t>fft2</a:t>
            </a:r>
            <a:endParaRPr lang="en-US" b="1" i="1" smtClean="0"/>
          </a:p>
          <a:p>
            <a:r>
              <a:rPr lang="en-US" smtClean="0"/>
              <a:t>Inverse FT: </a:t>
            </a:r>
            <a:r>
              <a:rPr lang="en-US" b="1" i="1" smtClean="0"/>
              <a:t>ifft2</a:t>
            </a:r>
          </a:p>
          <a:p>
            <a:r>
              <a:rPr lang="en-US" smtClean="0"/>
              <a:t>Example: </a:t>
            </a:r>
          </a:p>
          <a:p>
            <a:pPr lvl="2">
              <a:buNone/>
            </a:pP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</a:t>
            </a: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 imread(’Figure11_04_a.png’);</a:t>
            </a:r>
          </a:p>
          <a:p>
            <a:pPr lvl="2">
              <a:buNone/>
            </a:pP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Id = im2double(I);</a:t>
            </a:r>
          </a:p>
          <a:p>
            <a:pPr lvl="2">
              <a:buNone/>
            </a:pP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ft = fft2(Id);</a:t>
            </a:r>
          </a:p>
          <a:p>
            <a:pPr lvl="2">
              <a:buNone/>
            </a:pP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ft_shift = fftshift(ft);</a:t>
            </a:r>
          </a:p>
          <a:p>
            <a:pPr lvl="2">
              <a:buNone/>
            </a:pPr>
            <a:r>
              <a:rPr lang="en-US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imshow(log(1 + abs(ft_shift)), [])</a:t>
            </a:r>
            <a:endParaRPr lang="en-US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Properties of the Fourier Transform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smtClean="0"/>
              <a:t>Linearity:</a:t>
            </a:r>
            <a:endParaRPr lang="en-US" b="1" i="1" smtClean="0"/>
          </a:p>
          <a:p>
            <a:r>
              <a:rPr lang="en-US" b="1" smtClean="0"/>
              <a:t>Translation:</a:t>
            </a:r>
          </a:p>
          <a:p>
            <a:endParaRPr lang="en-US" b="1" smtClean="0"/>
          </a:p>
          <a:p>
            <a:r>
              <a:rPr lang="en-US" b="1" smtClean="0"/>
              <a:t>Conjugate Symmetry:</a:t>
            </a:r>
            <a:r>
              <a:rPr lang="en-US" i="1" smtClean="0"/>
              <a:t> F(u, v) </a:t>
            </a:r>
            <a:r>
              <a:rPr lang="en-US" i="1" smtClean="0"/>
              <a:t>= </a:t>
            </a:r>
            <a:r>
              <a:rPr lang="en-US" i="1" smtClean="0"/>
              <a:t>F</a:t>
            </a:r>
            <a:r>
              <a:rPr lang="en-US" smtClean="0"/>
              <a:t>∗</a:t>
            </a:r>
            <a:r>
              <a:rPr lang="en-US" smtClean="0"/>
              <a:t>(−</a:t>
            </a:r>
            <a:r>
              <a:rPr lang="en-US" i="1" smtClean="0"/>
              <a:t>u,−v)</a:t>
            </a:r>
            <a:endParaRPr lang="en-US" b="1" smtClean="0"/>
          </a:p>
          <a:p>
            <a:r>
              <a:rPr lang="en-US" b="1" smtClean="0"/>
              <a:t>Periodicity:    </a:t>
            </a:r>
            <a:r>
              <a:rPr lang="en-US" smtClean="0"/>
              <a:t>infinitely </a:t>
            </a:r>
            <a:r>
              <a:rPr lang="en-US" smtClean="0"/>
              <a:t>periodic in both the </a:t>
            </a:r>
            <a:r>
              <a:rPr lang="en-US" i="1" smtClean="0"/>
              <a:t>u </a:t>
            </a:r>
            <a:r>
              <a:rPr lang="en-US" i="1" smtClean="0"/>
              <a:t>and </a:t>
            </a:r>
            <a:r>
              <a:rPr lang="en-US" i="1" smtClean="0"/>
              <a:t>v </a:t>
            </a:r>
            <a:r>
              <a:rPr lang="en-US" smtClean="0"/>
              <a:t>directions</a:t>
            </a:r>
            <a:endParaRPr lang="en-US" b="1" smtClean="0"/>
          </a:p>
          <a:p>
            <a:r>
              <a:rPr lang="en-US" b="1" smtClean="0"/>
              <a:t>Separability: </a:t>
            </a:r>
            <a:r>
              <a:rPr lang="en-US" smtClean="0"/>
              <a:t>can be </a:t>
            </a:r>
            <a:r>
              <a:rPr lang="en-US" smtClean="0"/>
              <a:t>computed by two passes of the 1D </a:t>
            </a:r>
            <a:r>
              <a:rPr lang="en-US" smtClean="0"/>
              <a:t>FT </a:t>
            </a:r>
            <a:r>
              <a:rPr lang="en-US" smtClean="0"/>
              <a:t>algorithm</a:t>
            </a:r>
            <a:endParaRPr lang="en-US" b="1" smtClean="0"/>
          </a:p>
          <a:p>
            <a:r>
              <a:rPr lang="en-US" b="1" smtClean="0"/>
              <a:t>Rotation: </a:t>
            </a:r>
            <a:r>
              <a:rPr lang="en-US" smtClean="0"/>
              <a:t>If an image is rotated by a certain </a:t>
            </a:r>
            <a:r>
              <a:rPr lang="en-US" smtClean="0"/>
              <a:t>angle </a:t>
            </a:r>
            <a:r>
              <a:rPr lang="en-US" i="1" smtClean="0"/>
              <a:t>θ</a:t>
            </a:r>
            <a:r>
              <a:rPr lang="en-US" smtClean="0"/>
              <a:t>, its 2D FT will be rotated by the </a:t>
            </a:r>
            <a:r>
              <a:rPr lang="en-US" smtClean="0"/>
              <a:t>same </a:t>
            </a:r>
            <a:r>
              <a:rPr lang="en-US" smtClean="0"/>
              <a:t>angle</a:t>
            </a:r>
            <a:endParaRPr lang="en-US" b="1" smtClean="0"/>
          </a:p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9566" y="2256810"/>
            <a:ext cx="5904146" cy="415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8684" y="2641050"/>
            <a:ext cx="5880718" cy="449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02629" y="3093072"/>
            <a:ext cx="5904146" cy="365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06310" y="3493108"/>
            <a:ext cx="5900730" cy="334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Other Mathematical Transforms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LOW-PASS FILTERING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Attenuate </a:t>
            </a:r>
            <a:r>
              <a:rPr lang="en-US" smtClean="0"/>
              <a:t>the high-frequency </a:t>
            </a:r>
            <a:r>
              <a:rPr lang="en-US" smtClean="0"/>
              <a:t>components </a:t>
            </a:r>
            <a:r>
              <a:rPr lang="en-US" smtClean="0"/>
              <a:t>and leaving </a:t>
            </a:r>
            <a:r>
              <a:rPr lang="en-US" smtClean="0"/>
              <a:t>the low-frequency </a:t>
            </a:r>
            <a:r>
              <a:rPr lang="en-US" smtClean="0"/>
              <a:t>components </a:t>
            </a:r>
            <a:r>
              <a:rPr lang="en-US" smtClean="0"/>
              <a:t>unchanged</a:t>
            </a:r>
          </a:p>
          <a:p>
            <a:pPr lvl="1"/>
            <a:r>
              <a:rPr lang="en-US" smtClean="0"/>
              <a:t>Ideal LPF</a:t>
            </a:r>
            <a:endParaRPr lang="en-US" smtClean="0"/>
          </a:p>
          <a:p>
            <a:pPr lvl="1"/>
            <a:r>
              <a:rPr lang="en-US" smtClean="0"/>
              <a:t>Gaussian </a:t>
            </a:r>
            <a:r>
              <a:rPr lang="en-US" smtClean="0"/>
              <a:t>LPF</a:t>
            </a:r>
            <a:endParaRPr lang="en-US" smtClean="0"/>
          </a:p>
          <a:p>
            <a:pPr lvl="1"/>
            <a:r>
              <a:rPr lang="en-US" smtClean="0"/>
              <a:t>Butterworth LPF</a:t>
            </a:r>
          </a:p>
          <a:p>
            <a:endParaRPr lang="en-US" smtClean="0"/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Ideal </a:t>
            </a:r>
            <a:r>
              <a:rPr lang="en-US" smtClean="0"/>
              <a:t>LPF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smtClean="0"/>
          </a:p>
          <a:p>
            <a:pPr>
              <a:buNone/>
            </a:pPr>
            <a:r>
              <a:rPr lang="en-US" smtClean="0"/>
              <a:t>	where</a:t>
            </a:r>
          </a:p>
          <a:p>
            <a:pPr>
              <a:buNone/>
            </a:pPr>
            <a:r>
              <a:rPr lang="en-US" smtClean="0"/>
              <a:t>	is distance </a:t>
            </a:r>
            <a:r>
              <a:rPr lang="en-US" smtClean="0"/>
              <a:t>between </a:t>
            </a:r>
            <a:r>
              <a:rPr lang="en-US" smtClean="0"/>
              <a:t>a </a:t>
            </a:r>
            <a:r>
              <a:rPr lang="en-US" smtClean="0"/>
              <a:t>point of coordinates (u</a:t>
            </a:r>
            <a:r>
              <a:rPr lang="en-US" smtClean="0"/>
              <a:t>, v) and the origin of the 2D </a:t>
            </a:r>
            <a:r>
              <a:rPr lang="en-US" smtClean="0"/>
              <a:t>frequency </a:t>
            </a:r>
            <a:r>
              <a:rPr lang="en-US" smtClean="0"/>
              <a:t>plan</a:t>
            </a:r>
          </a:p>
          <a:p>
            <a:pPr>
              <a:buNone/>
            </a:pPr>
            <a:r>
              <a:rPr lang="en-US" i="1" smtClean="0"/>
              <a:t>	     :  cutoff </a:t>
            </a:r>
            <a:r>
              <a:rPr lang="en-US" i="1" smtClean="0"/>
              <a:t>radius</a:t>
            </a:r>
            <a:endParaRPr lang="en-US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46073" y="3904432"/>
            <a:ext cx="4841403" cy="2195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56211" y="2103482"/>
            <a:ext cx="3522480" cy="1053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08512" y="3082965"/>
            <a:ext cx="3021103" cy="519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" name="Content Placeholder 9"/>
          <p:cNvGraphicFramePr>
            <a:graphicFrameLocks noChangeAspect="1"/>
          </p:cNvGraphicFramePr>
          <p:nvPr>
            <p:ph sz="half" idx="2"/>
          </p:nvPr>
        </p:nvGraphicFramePr>
        <p:xfrm>
          <a:off x="1653237" y="5212082"/>
          <a:ext cx="436822" cy="491394"/>
        </p:xfrm>
        <a:graphic>
          <a:graphicData uri="http://schemas.openxmlformats.org/presentationml/2006/ole">
            <p:oleObj spid="_x0000_s6149" name="Equation" r:id="rId6" imgW="203040" imgH="228600" progId="Equation.3">
              <p:embed/>
            </p:oleObj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HIGH-PASS FILTERING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Attenuate </a:t>
            </a:r>
            <a:r>
              <a:rPr lang="en-US" smtClean="0"/>
              <a:t>the </a:t>
            </a:r>
            <a:r>
              <a:rPr lang="en-US" smtClean="0"/>
              <a:t>low-frequency </a:t>
            </a:r>
            <a:r>
              <a:rPr lang="en-US" smtClean="0"/>
              <a:t>components</a:t>
            </a:r>
          </a:p>
          <a:p>
            <a:r>
              <a:rPr lang="en-US" smtClean="0"/>
              <a:t>E</a:t>
            </a:r>
            <a:r>
              <a:rPr lang="en-US" smtClean="0"/>
              <a:t>nhancing </a:t>
            </a:r>
            <a:r>
              <a:rPr lang="en-US" smtClean="0"/>
              <a:t>the </a:t>
            </a:r>
            <a:r>
              <a:rPr lang="en-US" smtClean="0"/>
              <a:t>high-frequency </a:t>
            </a:r>
            <a:r>
              <a:rPr lang="en-US" smtClean="0"/>
              <a:t>components</a:t>
            </a:r>
          </a:p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181725" y="3074007"/>
            <a:ext cx="4718050" cy="2283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High-Frequency Emphasis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Preserves </a:t>
            </a:r>
            <a:r>
              <a:rPr lang="en-US" smtClean="0"/>
              <a:t>the low-frequency contents of the input image (while enhancing </a:t>
            </a:r>
            <a:r>
              <a:rPr lang="en-US" smtClean="0"/>
              <a:t>its </a:t>
            </a:r>
            <a:r>
              <a:rPr lang="en-US" smtClean="0"/>
              <a:t>highfrequency components</a:t>
            </a:r>
            <a:r>
              <a:rPr lang="en-US" smtClean="0"/>
              <a:t>) by multiplying the high-pass filter function by a </a:t>
            </a:r>
            <a:r>
              <a:rPr lang="en-US" smtClean="0"/>
              <a:t>constant </a:t>
            </a:r>
            <a:r>
              <a:rPr lang="en-US" smtClean="0"/>
              <a:t>and adding </a:t>
            </a:r>
            <a:r>
              <a:rPr lang="en-US" smtClean="0"/>
              <a:t>an offset to the result</a:t>
            </a:r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885661" y="5185956"/>
            <a:ext cx="5415841" cy="831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Hands-on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TUTORIALS and </a:t>
            </a:r>
            <a:r>
              <a:rPr lang="en-US" b="1" smtClean="0"/>
              <a:t>PROBLEMS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PTER 5- Image sensing and acquisition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5- Image sensing and acquisition</Template>
  <TotalTime>3640</TotalTime>
  <Words>324</Words>
  <Application>Microsoft Office PowerPoint</Application>
  <PresentationFormat>Custom</PresentationFormat>
  <Paragraphs>53</Paragraphs>
  <Slides>14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CHAPTER 5- Image sensing and acquisition</vt:lpstr>
      <vt:lpstr>Microsoft Equation 3.0</vt:lpstr>
      <vt:lpstr>CHAPTER 11</vt:lpstr>
      <vt:lpstr>WHAT WILL WE LEARN?</vt:lpstr>
      <vt:lpstr>Frequency-domain operations</vt:lpstr>
      <vt:lpstr>TRANSFORM</vt:lpstr>
      <vt:lpstr>Forward and Inverse transform</vt:lpstr>
      <vt:lpstr>The 2D Discrete Fourier Transform</vt:lpstr>
      <vt:lpstr>In MATLAB</vt:lpstr>
      <vt:lpstr>Properties of the Fourier Transform</vt:lpstr>
      <vt:lpstr>Other Mathematical Transforms</vt:lpstr>
      <vt:lpstr>LOW-PASS FILTERING</vt:lpstr>
      <vt:lpstr>Ideal LPF</vt:lpstr>
      <vt:lpstr>HIGH-PASS FILTERING</vt:lpstr>
      <vt:lpstr>High-Frequency Emphasis</vt:lpstr>
      <vt:lpstr>Hands-on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11</dc:title>
  <dc:creator>Thuy Nguyen</dc:creator>
  <cp:lastModifiedBy>Thuy Nguyen</cp:lastModifiedBy>
  <cp:revision>9</cp:revision>
  <dcterms:created xsi:type="dcterms:W3CDTF">2017-06-05T10:59:38Z</dcterms:created>
  <dcterms:modified xsi:type="dcterms:W3CDTF">2017-06-09T12:55:18Z</dcterms:modified>
</cp:coreProperties>
</file>
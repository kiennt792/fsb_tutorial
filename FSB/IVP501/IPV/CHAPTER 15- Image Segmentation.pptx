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4" d="100"/>
          <a:sy n="74" d="100"/>
        </p:scale>
        <p:origin x="-540"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FFEF59C9-AC0B-4896-9217-64A6B5201B25}" type="datetimeFigureOut">
              <a:rPr lang="vi-VN" smtClean="0"/>
              <a:pPr/>
              <a:t>24/02/2021</a:t>
            </a:fld>
            <a:endParaRPr lang="vi-VN"/>
          </a:p>
        </p:txBody>
      </p:sp>
      <p:sp>
        <p:nvSpPr>
          <p:cNvPr id="5" name="Footer Placeholder 4"/>
          <p:cNvSpPr>
            <a:spLocks noGrp="1"/>
          </p:cNvSpPr>
          <p:nvPr>
            <p:ph type="ftr" sz="quarter" idx="11"/>
          </p:nvPr>
        </p:nvSpPr>
        <p:spPr>
          <a:xfrm>
            <a:off x="2692397" y="5037663"/>
            <a:ext cx="5214635" cy="279400"/>
          </a:xfrm>
        </p:spPr>
        <p:txBody>
          <a:bodyPr/>
          <a:lstStyle/>
          <a:p>
            <a:endParaRPr lang="vi-VN"/>
          </a:p>
        </p:txBody>
      </p:sp>
      <p:sp>
        <p:nvSpPr>
          <p:cNvPr id="6" name="Slide Number Placeholder 5"/>
          <p:cNvSpPr>
            <a:spLocks noGrp="1"/>
          </p:cNvSpPr>
          <p:nvPr>
            <p:ph type="sldNum" sz="quarter" idx="12"/>
          </p:nvPr>
        </p:nvSpPr>
        <p:spPr>
          <a:xfrm>
            <a:off x="8956900" y="5037663"/>
            <a:ext cx="551167" cy="279400"/>
          </a:xfrm>
        </p:spPr>
        <p:txBody>
          <a:bodyPr/>
          <a:lstStyle/>
          <a:p>
            <a:fld id="{3D7DFF4C-B055-40F6-B08C-CE9D9467D3F9}" type="slidenum">
              <a:rPr lang="vi-VN" smtClean="0"/>
              <a:pPr/>
              <a:t>‹#›</a:t>
            </a:fld>
            <a:endParaRPr lang="vi-V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996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normAutofit/>
          </a:bodyPr>
          <a:lstStyle>
            <a:lvl1pPr>
              <a:defRPr sz="4800">
                <a:latin typeface="Arial" panose="020B0604020202020204" pitchFamily="34" charset="0"/>
                <a:cs typeface="Arial" panose="020B0604020202020204" pitchFamily="34" charset="0"/>
              </a:defRPr>
            </a:lvl1p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a:defRPr sz="3600"/>
            </a:lvl1pPr>
            <a:lvl2pPr>
              <a:defRPr sz="3200"/>
            </a:lvl2pPr>
            <a:lvl3pPr>
              <a:defRPr sz="2800"/>
            </a:lvl3pPr>
            <a:lvl4pPr>
              <a:defRPr sz="24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spTree>
    <p:extLst>
      <p:ext uri="{BB962C8B-B14F-4D97-AF65-F5344CB8AC3E}">
        <p14:creationId xmlns:p14="http://schemas.microsoft.com/office/powerpoint/2010/main" val="89758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Date Placeholder 2"/>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3D7DFF4C-B055-40F6-B08C-CE9D9467D3F9}" type="slidenum">
              <a:rPr lang="vi-VN" smtClean="0"/>
              <a:pPr/>
              <a:t>‹#›</a:t>
            </a:fld>
            <a:endParaRPr lang="vi-VN"/>
          </a:p>
        </p:txBody>
      </p:sp>
    </p:spTree>
    <p:extLst>
      <p:ext uri="{BB962C8B-B14F-4D97-AF65-F5344CB8AC3E}">
        <p14:creationId xmlns:p14="http://schemas.microsoft.com/office/powerpoint/2010/main" val="3733210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0289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lvl1pPr>
              <a:defRPr sz="32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lvl1pPr>
              <a:defRPr sz="32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3D7DFF4C-B055-40F6-B08C-CE9D9467D3F9}" type="slidenum">
              <a:rPr lang="vi-VN" smtClean="0"/>
              <a:pPr/>
              <a:t>‹#›</a:t>
            </a:fld>
            <a:endParaRPr lang="vi-VN"/>
          </a:p>
        </p:txBody>
      </p:sp>
    </p:spTree>
    <p:extLst>
      <p:ext uri="{BB962C8B-B14F-4D97-AF65-F5344CB8AC3E}">
        <p14:creationId xmlns:p14="http://schemas.microsoft.com/office/powerpoint/2010/main" val="2377413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3D7DFF4C-B055-40F6-B08C-CE9D9467D3F9}" type="slidenum">
              <a:rPr lang="vi-VN" smtClean="0"/>
              <a:pPr/>
              <a:t>‹#›</a:t>
            </a:fld>
            <a:endParaRPr lang="vi-V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9971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3D7DFF4C-B055-40F6-B08C-CE9D9467D3F9}" type="slidenum">
              <a:rPr lang="vi-VN" smtClean="0"/>
              <a:pPr/>
              <a:t>‹#›</a:t>
            </a:fld>
            <a:endParaRPr lang="vi-V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22958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3D7DFF4C-B055-40F6-B08C-CE9D9467D3F9}" type="slidenum">
              <a:rPr lang="vi-VN" smtClean="0"/>
              <a:pPr/>
              <a:t>‹#›</a:t>
            </a:fld>
            <a:endParaRPr lang="vi-VN"/>
          </a:p>
        </p:txBody>
      </p:sp>
    </p:spTree>
    <p:extLst>
      <p:ext uri="{BB962C8B-B14F-4D97-AF65-F5344CB8AC3E}">
        <p14:creationId xmlns:p14="http://schemas.microsoft.com/office/powerpoint/2010/main" val="3660130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3D7DFF4C-B055-40F6-B08C-CE9D9467D3F9}" type="slidenum">
              <a:rPr lang="vi-VN" smtClean="0"/>
              <a:pPr/>
              <a:t>‹#›</a:t>
            </a:fld>
            <a:endParaRPr lang="vi-V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1914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3D7DFF4C-B055-40F6-B08C-CE9D9467D3F9}" type="slidenum">
              <a:rPr lang="vi-VN" smtClean="0"/>
              <a:pPr/>
              <a:t>‹#›</a:t>
            </a:fld>
            <a:endParaRPr lang="vi-VN"/>
          </a:p>
        </p:txBody>
      </p:sp>
    </p:spTree>
    <p:extLst>
      <p:ext uri="{BB962C8B-B14F-4D97-AF65-F5344CB8AC3E}">
        <p14:creationId xmlns:p14="http://schemas.microsoft.com/office/powerpoint/2010/main" val="3817764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3D7DFF4C-B055-40F6-B08C-CE9D9467D3F9}" type="slidenum">
              <a:rPr lang="vi-VN" smtClean="0"/>
              <a:pPr/>
              <a:t>‹#›</a:t>
            </a:fld>
            <a:endParaRPr lang="vi-VN"/>
          </a:p>
        </p:txBody>
      </p:sp>
    </p:spTree>
    <p:extLst>
      <p:ext uri="{BB962C8B-B14F-4D97-AF65-F5344CB8AC3E}">
        <p14:creationId xmlns:p14="http://schemas.microsoft.com/office/powerpoint/2010/main" val="2695454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93015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27075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spTree>
    <p:extLst>
      <p:ext uri="{BB962C8B-B14F-4D97-AF65-F5344CB8AC3E}">
        <p14:creationId xmlns:p14="http://schemas.microsoft.com/office/powerpoint/2010/main" val="31756019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49253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84280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21358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FEF59C9-AC0B-4896-9217-64A6B5201B25}" type="datetimeFigureOut">
              <a:rPr lang="vi-VN" smtClean="0"/>
              <a:pPr/>
              <a:t>24/02/2021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6223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FEF59C9-AC0B-4896-9217-64A6B5201B25}" type="datetimeFigureOut">
              <a:rPr lang="vi-VN" smtClean="0"/>
              <a:pPr/>
              <a:t>24/02/2021</a:t>
            </a:fld>
            <a:endParaRPr lang="vi-V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vi-V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D7DFF4C-B055-40F6-B08C-CE9D9467D3F9}" type="slidenum">
              <a:rPr lang="vi-VN" smtClean="0"/>
              <a:pPr/>
              <a:t>‹#›</a:t>
            </a:fld>
            <a:endParaRPr lang="vi-VN"/>
          </a:p>
        </p:txBody>
      </p:sp>
    </p:spTree>
    <p:extLst>
      <p:ext uri="{BB962C8B-B14F-4D97-AF65-F5344CB8AC3E}">
        <p14:creationId xmlns:p14="http://schemas.microsoft.com/office/powerpoint/2010/main" val="26270662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8"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b="1" smtClean="0"/>
              <a:t>CHAPTER 15</a:t>
            </a:r>
            <a:endParaRPr lang="vi-VN" sz="4400" dirty="0"/>
          </a:p>
        </p:txBody>
      </p:sp>
      <p:sp>
        <p:nvSpPr>
          <p:cNvPr id="3" name="Subtitle 2"/>
          <p:cNvSpPr>
            <a:spLocks noGrp="1"/>
          </p:cNvSpPr>
          <p:nvPr>
            <p:ph type="subTitle" idx="1"/>
          </p:nvPr>
        </p:nvSpPr>
        <p:spPr/>
        <p:txBody>
          <a:bodyPr>
            <a:normAutofit/>
          </a:bodyPr>
          <a:lstStyle/>
          <a:p>
            <a:r>
              <a:rPr lang="en-US" sz="3200" smtClean="0">
                <a:latin typeface="Arial"/>
              </a:rPr>
              <a:t>IMAGE SEGMENTATION</a:t>
            </a:r>
            <a:endParaRPr lang="vi-VN" sz="3200" dirty="0"/>
          </a:p>
        </p:txBody>
      </p:sp>
    </p:spTree>
    <p:extLst>
      <p:ext uri="{BB962C8B-B14F-4D97-AF65-F5344CB8AC3E}">
        <p14:creationId xmlns:p14="http://schemas.microsoft.com/office/powerpoint/2010/main" val="12208975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vi-VN" b="1" dirty="0"/>
              <a:t>WHAT WILL WE LEARN?</a:t>
            </a:r>
            <a:endParaRPr lang="vi-VN" dirty="0"/>
          </a:p>
        </p:txBody>
      </p:sp>
      <p:sp>
        <p:nvSpPr>
          <p:cNvPr id="9" name="Content Placeholder 8"/>
          <p:cNvSpPr>
            <a:spLocks noGrp="1"/>
          </p:cNvSpPr>
          <p:nvPr>
            <p:ph idx="1"/>
          </p:nvPr>
        </p:nvSpPr>
        <p:spPr/>
        <p:txBody>
          <a:bodyPr>
            <a:normAutofit/>
          </a:bodyPr>
          <a:lstStyle/>
          <a:p>
            <a:r>
              <a:rPr lang="en-US" smtClean="0"/>
              <a:t>What is image segmentation and why is it relevant?</a:t>
            </a:r>
          </a:p>
          <a:p>
            <a:r>
              <a:rPr lang="en-US" smtClean="0"/>
              <a:t>What is image thresholding and how is it implemented in MATLAB?</a:t>
            </a:r>
          </a:p>
          <a:p>
            <a:r>
              <a:rPr lang="en-US" smtClean="0"/>
              <a:t>What are the most commonly used image segmentation techniques and how do they work?</a:t>
            </a:r>
          </a:p>
        </p:txBody>
      </p:sp>
    </p:spTree>
    <p:extLst>
      <p:ext uri="{BB962C8B-B14F-4D97-AF65-F5344CB8AC3E}">
        <p14:creationId xmlns:p14="http://schemas.microsoft.com/office/powerpoint/2010/main" val="35463107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Introduction</a:t>
            </a:r>
            <a:endParaRPr lang="en-US"/>
          </a:p>
        </p:txBody>
      </p:sp>
      <p:sp>
        <p:nvSpPr>
          <p:cNvPr id="3" name="Content Placeholder 2"/>
          <p:cNvSpPr>
            <a:spLocks noGrp="1"/>
          </p:cNvSpPr>
          <p:nvPr>
            <p:ph idx="1"/>
          </p:nvPr>
        </p:nvSpPr>
        <p:spPr/>
        <p:txBody>
          <a:bodyPr>
            <a:noAutofit/>
          </a:bodyPr>
          <a:lstStyle/>
          <a:p>
            <a:r>
              <a:rPr lang="en-US" sz="2400" b="1" smtClean="0"/>
              <a:t>Segmentation</a:t>
            </a:r>
            <a:r>
              <a:rPr lang="en-US" sz="2400" smtClean="0"/>
              <a:t>: </a:t>
            </a:r>
            <a:r>
              <a:rPr lang="en-US" sz="2400" b="1" smtClean="0"/>
              <a:t>Partitioning</a:t>
            </a:r>
            <a:r>
              <a:rPr lang="en-US" sz="2400" smtClean="0"/>
              <a:t> an image into a set of </a:t>
            </a:r>
            <a:r>
              <a:rPr lang="en-US" sz="2400" b="1" smtClean="0"/>
              <a:t>non-overlapping regions</a:t>
            </a:r>
            <a:r>
              <a:rPr lang="en-US" sz="2400" smtClean="0"/>
              <a:t> whose union is the entire image. </a:t>
            </a:r>
          </a:p>
          <a:p>
            <a:pPr lvl="1"/>
            <a:r>
              <a:rPr lang="en-US" sz="2400" smtClean="0"/>
              <a:t>These regions should ideally correspond to objects and their meaningful parts, and background. </a:t>
            </a:r>
          </a:p>
          <a:p>
            <a:r>
              <a:rPr lang="en-US" sz="2400" smtClean="0"/>
              <a:t>Based on one of two basic properties that can be extracted from pixel values -- </a:t>
            </a:r>
            <a:r>
              <a:rPr lang="en-US" sz="2400" b="1" smtClean="0"/>
              <a:t>discontinuity</a:t>
            </a:r>
            <a:r>
              <a:rPr lang="en-US" sz="2400" smtClean="0"/>
              <a:t> and </a:t>
            </a:r>
            <a:r>
              <a:rPr lang="en-US" sz="2400" b="1" smtClean="0"/>
              <a:t>similarity</a:t>
            </a:r>
            <a:r>
              <a:rPr lang="en-US" sz="2400" smtClean="0"/>
              <a:t> -- or a combination of them. </a:t>
            </a:r>
          </a:p>
          <a:p>
            <a:r>
              <a:rPr lang="en-US" sz="2400" smtClean="0"/>
              <a:t>One of the most crucial tasks in image processing and computer vision. </a:t>
            </a:r>
          </a:p>
          <a:p>
            <a:r>
              <a:rPr lang="en-US" sz="2400" smtClean="0"/>
              <a:t>S</a:t>
            </a:r>
            <a:r>
              <a:rPr lang="en-US" sz="2400" b="1" smtClean="0"/>
              <a:t>till an open research problem</a:t>
            </a:r>
            <a:r>
              <a:rPr lang="en-US" sz="2400" smtClean="0"/>
              <a:t>.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Introduction</a:t>
            </a:r>
            <a:endParaRPr lang="en-US"/>
          </a:p>
        </p:txBody>
      </p:sp>
      <p:sp>
        <p:nvSpPr>
          <p:cNvPr id="4" name="Content Placeholder 3"/>
          <p:cNvSpPr>
            <a:spLocks noGrp="1"/>
          </p:cNvSpPr>
          <p:nvPr>
            <p:ph sz="half" idx="1"/>
          </p:nvPr>
        </p:nvSpPr>
        <p:spPr/>
        <p:txBody>
          <a:bodyPr/>
          <a:lstStyle/>
          <a:p>
            <a:r>
              <a:rPr lang="en-US" smtClean="0"/>
              <a:t>Segmentation: easy and hard images </a:t>
            </a:r>
          </a:p>
          <a:p>
            <a:endParaRPr lang="en-US"/>
          </a:p>
        </p:txBody>
      </p:sp>
      <p:pic>
        <p:nvPicPr>
          <p:cNvPr id="1026" name="Picture 2"/>
          <p:cNvPicPr>
            <a:picLocks noGrp="1" noChangeAspect="1" noChangeArrowheads="1"/>
          </p:cNvPicPr>
          <p:nvPr>
            <p:ph sz="half" idx="2"/>
          </p:nvPr>
        </p:nvPicPr>
        <p:blipFill>
          <a:blip r:embed="rId2"/>
          <a:srcRect/>
          <a:stretch>
            <a:fillRect/>
          </a:stretch>
        </p:blipFill>
        <p:spPr bwMode="auto">
          <a:xfrm>
            <a:off x="6429604" y="2560638"/>
            <a:ext cx="4222291" cy="33099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Introduction</a:t>
            </a:r>
            <a:endParaRPr lang="en-US"/>
          </a:p>
        </p:txBody>
      </p:sp>
      <p:sp>
        <p:nvSpPr>
          <p:cNvPr id="3" name="Content Placeholder 2"/>
          <p:cNvSpPr>
            <a:spLocks noGrp="1"/>
          </p:cNvSpPr>
          <p:nvPr>
            <p:ph idx="1"/>
          </p:nvPr>
        </p:nvSpPr>
        <p:spPr/>
        <p:txBody>
          <a:bodyPr>
            <a:normAutofit fontScale="62500" lnSpcReduction="20000"/>
          </a:bodyPr>
          <a:lstStyle/>
          <a:p>
            <a:r>
              <a:rPr lang="en-US" smtClean="0"/>
              <a:t>There is no underlying theory of image segmentation, only ad hoc methods, whose performance is often evaluated indirectly, based on the performance of the larger system to which they belong. </a:t>
            </a:r>
          </a:p>
          <a:p>
            <a:r>
              <a:rPr lang="en-US" smtClean="0"/>
              <a:t>Image segmentation techniques can vary widely according to: </a:t>
            </a:r>
          </a:p>
          <a:p>
            <a:pPr lvl="1"/>
            <a:r>
              <a:rPr lang="en-US" smtClean="0"/>
              <a:t>type of image (e.g., binary, gray, color) </a:t>
            </a:r>
          </a:p>
          <a:p>
            <a:pPr lvl="1"/>
            <a:r>
              <a:rPr lang="en-US" smtClean="0"/>
              <a:t>choice of mathematical framework (e.g., morphology, image statistics, graph theory) </a:t>
            </a:r>
          </a:p>
          <a:p>
            <a:pPr lvl="1"/>
            <a:r>
              <a:rPr lang="en-US" smtClean="0"/>
              <a:t>type of features (e.g., intensity, color, texture, motion) and </a:t>
            </a:r>
          </a:p>
          <a:p>
            <a:pPr lvl="1"/>
            <a:r>
              <a:rPr lang="en-US" smtClean="0"/>
              <a:t>approach (e.g., top-down, bottom-up, graph-based). </a:t>
            </a:r>
          </a:p>
          <a:p>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Introduction</a:t>
            </a:r>
            <a:endParaRPr lang="en-US"/>
          </a:p>
        </p:txBody>
      </p:sp>
      <p:sp>
        <p:nvSpPr>
          <p:cNvPr id="3" name="Content Placeholder 2"/>
          <p:cNvSpPr>
            <a:spLocks noGrp="1"/>
          </p:cNvSpPr>
          <p:nvPr>
            <p:ph idx="1"/>
          </p:nvPr>
        </p:nvSpPr>
        <p:spPr/>
        <p:txBody>
          <a:bodyPr>
            <a:normAutofit fontScale="55000" lnSpcReduction="20000"/>
          </a:bodyPr>
          <a:lstStyle/>
          <a:p>
            <a:r>
              <a:rPr lang="en-US" smtClean="0"/>
              <a:t>There is no universally accepted taxonomy for classification of image segmentation algorithms, either. </a:t>
            </a:r>
          </a:p>
          <a:p>
            <a:r>
              <a:rPr lang="en-US" smtClean="0"/>
              <a:t>In the book, we use three categories: </a:t>
            </a:r>
          </a:p>
          <a:p>
            <a:pPr lvl="1"/>
            <a:r>
              <a:rPr lang="en-US" b="1" smtClean="0"/>
              <a:t>Intensity-based</a:t>
            </a:r>
            <a:r>
              <a:rPr lang="en-US" smtClean="0"/>
              <a:t> (non-contextual) methods: work based on pixel distributions (i.e., histograms). </a:t>
            </a:r>
          </a:p>
          <a:p>
            <a:pPr>
              <a:buNone/>
            </a:pPr>
            <a:r>
              <a:rPr lang="en-US" smtClean="0"/>
              <a:t>		      Example: thresholding. </a:t>
            </a:r>
          </a:p>
          <a:p>
            <a:pPr lvl="1"/>
            <a:r>
              <a:rPr lang="en-US" b="1" smtClean="0"/>
              <a:t>Region-based</a:t>
            </a:r>
            <a:r>
              <a:rPr lang="en-US" smtClean="0"/>
              <a:t> (contextual) methods: rely on adjacency and connectivity criteria between a pixel and its neighbors. </a:t>
            </a:r>
          </a:p>
          <a:p>
            <a:pPr>
              <a:buNone/>
            </a:pPr>
            <a:r>
              <a:rPr lang="en-US" smtClean="0"/>
              <a:t>		      Examples: region growing and split-and-merge. </a:t>
            </a:r>
          </a:p>
          <a:p>
            <a:pPr lvl="1"/>
            <a:r>
              <a:rPr lang="en-US" b="1" smtClean="0"/>
              <a:t>Other methods</a:t>
            </a:r>
            <a:r>
              <a:rPr lang="en-US" smtClean="0"/>
              <a:t>: these include segmentation based on texture, edges, and motion, among others. </a:t>
            </a:r>
          </a:p>
          <a:p>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Intensity-based segmentation </a:t>
            </a:r>
            <a:endParaRPr lang="en-US"/>
          </a:p>
        </p:txBody>
      </p:sp>
      <p:sp>
        <p:nvSpPr>
          <p:cNvPr id="3" name="Content Placeholder 2"/>
          <p:cNvSpPr>
            <a:spLocks noGrp="1"/>
          </p:cNvSpPr>
          <p:nvPr>
            <p:ph idx="1"/>
          </p:nvPr>
        </p:nvSpPr>
        <p:spPr/>
        <p:txBody>
          <a:bodyPr>
            <a:normAutofit lnSpcReduction="10000"/>
          </a:bodyPr>
          <a:lstStyle/>
          <a:p>
            <a:r>
              <a:rPr lang="en-US" smtClean="0"/>
              <a:t>Rely on pixel statistics (histogram properties) to determine which pixels belong to foreground objects and which pixels should be labeled as background. </a:t>
            </a:r>
          </a:p>
          <a:p>
            <a:pPr lvl="1"/>
            <a:r>
              <a:rPr lang="en-US" smtClean="0"/>
              <a:t>The simplest method within this category is </a:t>
            </a:r>
            <a:r>
              <a:rPr lang="en-US" i="1" smtClean="0"/>
              <a:t>image thresholding. </a:t>
            </a:r>
          </a:p>
          <a:p>
            <a:endParaRPr lang="en-US" b="1"/>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Image thresholding </a:t>
            </a:r>
            <a:endParaRPr lang="en-US"/>
          </a:p>
        </p:txBody>
      </p:sp>
      <p:sp>
        <p:nvSpPr>
          <p:cNvPr id="3" name="Content Placeholder 2"/>
          <p:cNvSpPr>
            <a:spLocks noGrp="1"/>
          </p:cNvSpPr>
          <p:nvPr>
            <p:ph idx="1"/>
          </p:nvPr>
        </p:nvSpPr>
        <p:spPr/>
        <p:txBody>
          <a:bodyPr>
            <a:normAutofit/>
          </a:bodyPr>
          <a:lstStyle/>
          <a:p>
            <a:r>
              <a:rPr lang="en-US" sz="2800" b="1" u="sng" smtClean="0"/>
              <a:t>Def.: </a:t>
            </a:r>
            <a:r>
              <a:rPr lang="en-US" sz="2800" smtClean="0"/>
              <a:t>The conversion of an image with many gray levels into another image with fewer gray levels, usually only two. </a:t>
            </a:r>
          </a:p>
          <a:p>
            <a:r>
              <a:rPr lang="en-US" sz="2800" smtClean="0"/>
              <a:t>This conversion is usually performed by </a:t>
            </a:r>
            <a:r>
              <a:rPr lang="en-US" sz="2800" b="1" smtClean="0"/>
              <a:t>comparing</a:t>
            </a:r>
            <a:r>
              <a:rPr lang="en-US" sz="2800" smtClean="0"/>
              <a:t> each pixel intensity against a </a:t>
            </a:r>
            <a:r>
              <a:rPr lang="en-US" sz="2800" b="1" smtClean="0"/>
              <a:t>reference value </a:t>
            </a:r>
            <a:r>
              <a:rPr lang="en-US" sz="2800" smtClean="0"/>
              <a:t>(threshold) and </a:t>
            </a:r>
            <a:r>
              <a:rPr lang="en-US" sz="2800" b="1" smtClean="0"/>
              <a:t>replacing the pixel with a value that means ‘white’ or ‘black’ </a:t>
            </a:r>
            <a:r>
              <a:rPr lang="en-US" sz="2800" smtClean="0"/>
              <a:t>depending on the outcome of the comparison. </a:t>
            </a:r>
          </a:p>
          <a:p>
            <a:endParaRPr lang="en-US"/>
          </a:p>
        </p:txBody>
      </p:sp>
      <p:pic>
        <p:nvPicPr>
          <p:cNvPr id="2050" name="Picture 2"/>
          <p:cNvPicPr>
            <a:picLocks noChangeAspect="1" noChangeArrowheads="1"/>
          </p:cNvPicPr>
          <p:nvPr/>
        </p:nvPicPr>
        <p:blipFill>
          <a:blip r:embed="rId2"/>
          <a:srcRect/>
          <a:stretch>
            <a:fillRect/>
          </a:stretch>
        </p:blipFill>
        <p:spPr bwMode="auto">
          <a:xfrm>
            <a:off x="6470996" y="5091942"/>
            <a:ext cx="4107730" cy="103056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Image thresholding </a:t>
            </a:r>
            <a:endParaRPr lang="en-US"/>
          </a:p>
        </p:txBody>
      </p:sp>
      <p:sp>
        <p:nvSpPr>
          <p:cNvPr id="3" name="Content Placeholder 2"/>
          <p:cNvSpPr>
            <a:spLocks noGrp="1"/>
          </p:cNvSpPr>
          <p:nvPr>
            <p:ph idx="1"/>
          </p:nvPr>
        </p:nvSpPr>
        <p:spPr/>
        <p:txBody>
          <a:bodyPr>
            <a:normAutofit fontScale="77500" lnSpcReduction="20000"/>
          </a:bodyPr>
          <a:lstStyle/>
          <a:p>
            <a:r>
              <a:rPr lang="en-US" smtClean="0"/>
              <a:t>Global thresholding: single value of </a:t>
            </a:r>
            <a:r>
              <a:rPr lang="en-US" i="1" smtClean="0"/>
              <a:t>T for the whole image</a:t>
            </a:r>
          </a:p>
          <a:p>
            <a:r>
              <a:rPr lang="en-US" smtClean="0"/>
              <a:t>Steps: </a:t>
            </a:r>
          </a:p>
          <a:p>
            <a:pPr lvl="1">
              <a:buNone/>
            </a:pPr>
            <a:r>
              <a:rPr lang="en-US" smtClean="0"/>
              <a:t>1. Inspect the image's histogram (using </a:t>
            </a:r>
            <a:r>
              <a:rPr lang="en-US" b="1" smtClean="0"/>
              <a:t>imhist</a:t>
            </a:r>
            <a:r>
              <a:rPr lang="en-US" smtClean="0"/>
              <a:t>)</a:t>
            </a:r>
            <a:endParaRPr lang="en-US" b="1" smtClean="0"/>
          </a:p>
          <a:p>
            <a:pPr lvl="1">
              <a:buNone/>
            </a:pPr>
            <a:r>
              <a:rPr lang="en-US" smtClean="0"/>
              <a:t>2. Select an appropriate value for </a:t>
            </a:r>
            <a:r>
              <a:rPr lang="en-US" i="1" smtClean="0"/>
              <a:t>T</a:t>
            </a:r>
          </a:p>
          <a:p>
            <a:pPr lvl="1">
              <a:buNone/>
            </a:pPr>
            <a:r>
              <a:rPr lang="en-US" smtClean="0"/>
              <a:t>3. Apply the selected value (using </a:t>
            </a:r>
            <a:r>
              <a:rPr lang="en-US" b="1" smtClean="0"/>
              <a:t>im2bw</a:t>
            </a:r>
            <a:r>
              <a:rPr lang="en-US" smtClean="0"/>
              <a:t>) to the image</a:t>
            </a:r>
            <a:r>
              <a:rPr lang="en-US" b="1" smtClean="0"/>
              <a:t> </a:t>
            </a:r>
          </a:p>
          <a:p>
            <a:pPr lvl="1">
              <a:buNone/>
            </a:pPr>
            <a:r>
              <a:rPr lang="en-US" smtClean="0"/>
              <a:t>4. Inspect the results: if they are acceptable, save resulting image; otherwise, make adjustments and repeat steps 2-4 </a:t>
            </a:r>
          </a:p>
          <a:p>
            <a:pPr>
              <a:buNone/>
            </a:pP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Image thresholding </a:t>
            </a:r>
            <a:endParaRPr lang="en-US"/>
          </a:p>
        </p:txBody>
      </p:sp>
      <p:sp>
        <p:nvSpPr>
          <p:cNvPr id="3" name="Content Placeholder 2"/>
          <p:cNvSpPr>
            <a:spLocks noGrp="1"/>
          </p:cNvSpPr>
          <p:nvPr>
            <p:ph idx="1"/>
          </p:nvPr>
        </p:nvSpPr>
        <p:spPr/>
        <p:txBody>
          <a:bodyPr/>
          <a:lstStyle/>
          <a:p>
            <a:r>
              <a:rPr lang="en-US" sz="2800" smtClean="0"/>
              <a:t>Global thresholding: a procedure for selecting the best value of </a:t>
            </a:r>
            <a:r>
              <a:rPr lang="en-US" sz="2800" i="1" smtClean="0"/>
              <a:t>T </a:t>
            </a:r>
            <a:r>
              <a:rPr lang="en-US" sz="2800" smtClean="0"/>
              <a:t>automatically (Gonzalez &amp; Woods, 2008)</a:t>
            </a:r>
          </a:p>
          <a:p>
            <a:endParaRPr lang="en-US"/>
          </a:p>
        </p:txBody>
      </p:sp>
      <p:pic>
        <p:nvPicPr>
          <p:cNvPr id="3074" name="Picture 2"/>
          <p:cNvPicPr>
            <a:picLocks noChangeAspect="1" noChangeArrowheads="1"/>
          </p:cNvPicPr>
          <p:nvPr/>
        </p:nvPicPr>
        <p:blipFill>
          <a:blip r:embed="rId2"/>
          <a:srcRect/>
          <a:stretch>
            <a:fillRect/>
          </a:stretch>
        </p:blipFill>
        <p:spPr bwMode="auto">
          <a:xfrm>
            <a:off x="2701166" y="3457369"/>
            <a:ext cx="6524625" cy="27527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Image thresholding </a:t>
            </a:r>
            <a:endParaRPr lang="en-US"/>
          </a:p>
        </p:txBody>
      </p:sp>
      <p:sp>
        <p:nvSpPr>
          <p:cNvPr id="3" name="Content Placeholder 2"/>
          <p:cNvSpPr>
            <a:spLocks noGrp="1"/>
          </p:cNvSpPr>
          <p:nvPr>
            <p:ph sz="half" idx="1"/>
          </p:nvPr>
        </p:nvSpPr>
        <p:spPr>
          <a:xfrm>
            <a:off x="1271943" y="2560320"/>
            <a:ext cx="4134943" cy="3310128"/>
          </a:xfrm>
        </p:spPr>
        <p:txBody>
          <a:bodyPr>
            <a:normAutofit/>
          </a:bodyPr>
          <a:lstStyle/>
          <a:p>
            <a:r>
              <a:rPr lang="en-US" sz="2800" smtClean="0"/>
              <a:t>Global thresholding example </a:t>
            </a:r>
          </a:p>
          <a:p>
            <a:pPr>
              <a:buNone/>
            </a:pPr>
            <a:r>
              <a:rPr lang="en-US" sz="2800" b="1" smtClean="0"/>
              <a:t> </a:t>
            </a:r>
            <a:endParaRPr lang="en-US" sz="2800"/>
          </a:p>
        </p:txBody>
      </p:sp>
      <p:pic>
        <p:nvPicPr>
          <p:cNvPr id="4098" name="Picture 2"/>
          <p:cNvPicPr>
            <a:picLocks noGrp="1" noChangeAspect="1" noChangeArrowheads="1"/>
          </p:cNvPicPr>
          <p:nvPr>
            <p:ph sz="half" idx="2"/>
          </p:nvPr>
        </p:nvPicPr>
        <p:blipFill>
          <a:blip r:embed="rId2"/>
          <a:srcRect/>
          <a:stretch>
            <a:fillRect/>
          </a:stretch>
        </p:blipFill>
        <p:spPr bwMode="auto">
          <a:xfrm>
            <a:off x="6109251" y="2560638"/>
            <a:ext cx="4586191" cy="352254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Image thresholding </a:t>
            </a:r>
            <a:endParaRPr lang="en-US"/>
          </a:p>
        </p:txBody>
      </p:sp>
      <p:sp>
        <p:nvSpPr>
          <p:cNvPr id="3" name="Content Placeholder 2"/>
          <p:cNvSpPr>
            <a:spLocks noGrp="1"/>
          </p:cNvSpPr>
          <p:nvPr>
            <p:ph idx="1"/>
          </p:nvPr>
        </p:nvSpPr>
        <p:spPr/>
        <p:txBody>
          <a:bodyPr>
            <a:normAutofit/>
          </a:bodyPr>
          <a:lstStyle/>
          <a:p>
            <a:r>
              <a:rPr lang="en-US" smtClean="0"/>
              <a:t>Optimal thresholding </a:t>
            </a:r>
          </a:p>
          <a:p>
            <a:pPr lvl="1"/>
            <a:r>
              <a:rPr lang="en-US" smtClean="0"/>
              <a:t>(Otsu, 1979), implemented in the IPT as: </a:t>
            </a:r>
            <a:r>
              <a:rPr lang="en-US" b="1" smtClean="0"/>
              <a:t>graythresh. </a:t>
            </a:r>
          </a:p>
          <a:p>
            <a:pPr lvl="1"/>
            <a:r>
              <a:rPr lang="en-US" smtClean="0"/>
              <a:t>For the previous example, provides the optimal value </a:t>
            </a:r>
            <a:r>
              <a:rPr lang="en-US" i="1" smtClean="0"/>
              <a:t>T = 0.4941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Image thresholding </a:t>
            </a:r>
            <a:endParaRPr lang="en-US"/>
          </a:p>
        </p:txBody>
      </p:sp>
      <p:sp>
        <p:nvSpPr>
          <p:cNvPr id="3" name="Content Placeholder 2"/>
          <p:cNvSpPr>
            <a:spLocks noGrp="1"/>
          </p:cNvSpPr>
          <p:nvPr>
            <p:ph idx="1"/>
          </p:nvPr>
        </p:nvSpPr>
        <p:spPr/>
        <p:txBody>
          <a:bodyPr>
            <a:normAutofit/>
          </a:bodyPr>
          <a:lstStyle/>
          <a:p>
            <a:r>
              <a:rPr lang="en-US" sz="2800" smtClean="0"/>
              <a:t>The role of illumination and noise </a:t>
            </a:r>
          </a:p>
          <a:p>
            <a:pPr lvl="1"/>
            <a:r>
              <a:rPr lang="en-US" sz="2800" smtClean="0"/>
              <a:t>Even easy images may become hard to segment… </a:t>
            </a:r>
          </a:p>
          <a:p>
            <a:endParaRPr lang="en-US"/>
          </a:p>
        </p:txBody>
      </p:sp>
      <p:pic>
        <p:nvPicPr>
          <p:cNvPr id="5122" name="Picture 2"/>
          <p:cNvPicPr>
            <a:picLocks noChangeAspect="1" noChangeArrowheads="1"/>
          </p:cNvPicPr>
          <p:nvPr/>
        </p:nvPicPr>
        <p:blipFill>
          <a:blip r:embed="rId2"/>
          <a:srcRect/>
          <a:stretch>
            <a:fillRect/>
          </a:stretch>
        </p:blipFill>
        <p:spPr bwMode="auto">
          <a:xfrm>
            <a:off x="1179445" y="3650846"/>
            <a:ext cx="4907062" cy="2206615"/>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6546575" y="3748674"/>
            <a:ext cx="4793526" cy="208228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Image thresholding </a:t>
            </a:r>
            <a:endParaRPr lang="en-US"/>
          </a:p>
        </p:txBody>
      </p:sp>
      <p:pic>
        <p:nvPicPr>
          <p:cNvPr id="6146" name="Picture 2"/>
          <p:cNvPicPr>
            <a:picLocks noGrp="1" noChangeAspect="1" noChangeArrowheads="1"/>
          </p:cNvPicPr>
          <p:nvPr>
            <p:ph idx="1"/>
          </p:nvPr>
        </p:nvPicPr>
        <p:blipFill>
          <a:blip r:embed="rId2"/>
          <a:srcRect/>
          <a:stretch>
            <a:fillRect/>
          </a:stretch>
        </p:blipFill>
        <p:spPr bwMode="auto">
          <a:xfrm>
            <a:off x="2357437" y="2592388"/>
            <a:ext cx="7477125" cy="32480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Local thresholding </a:t>
            </a:r>
          </a:p>
        </p:txBody>
      </p:sp>
      <p:sp>
        <p:nvSpPr>
          <p:cNvPr id="3" name="Content Placeholder 2"/>
          <p:cNvSpPr>
            <a:spLocks noGrp="1"/>
          </p:cNvSpPr>
          <p:nvPr>
            <p:ph idx="1"/>
          </p:nvPr>
        </p:nvSpPr>
        <p:spPr/>
        <p:txBody>
          <a:bodyPr>
            <a:normAutofit fontScale="85000" lnSpcReduction="20000"/>
          </a:bodyPr>
          <a:lstStyle/>
          <a:p>
            <a:r>
              <a:rPr lang="en-US" smtClean="0"/>
              <a:t>Local (adaptive) thresholding uses block processing to threshold blocks of pixels, one block at a time. </a:t>
            </a:r>
          </a:p>
          <a:p>
            <a:pPr lvl="1"/>
            <a:r>
              <a:rPr lang="en-US" smtClean="0"/>
              <a:t>The size of the block is usually specified by the user. </a:t>
            </a:r>
          </a:p>
          <a:p>
            <a:pPr lvl="1"/>
            <a:r>
              <a:rPr lang="en-US" smtClean="0"/>
              <a:t>Trade-off: </a:t>
            </a:r>
          </a:p>
          <a:p>
            <a:pPr lvl="2"/>
            <a:r>
              <a:rPr lang="en-US" smtClean="0"/>
              <a:t>If the blocks that are too small: large computational cost. </a:t>
            </a:r>
          </a:p>
          <a:p>
            <a:pPr lvl="2"/>
            <a:r>
              <a:rPr lang="en-US" smtClean="0"/>
              <a:t>If the blocks that are too large: results may not be substantially better than the ones obtained with global thresholding. </a:t>
            </a:r>
          </a:p>
          <a:p>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Local thresholding </a:t>
            </a:r>
            <a:endParaRPr lang="en-US"/>
          </a:p>
        </p:txBody>
      </p:sp>
      <p:sp>
        <p:nvSpPr>
          <p:cNvPr id="3" name="Content Placeholder 2"/>
          <p:cNvSpPr>
            <a:spLocks noGrp="1"/>
          </p:cNvSpPr>
          <p:nvPr>
            <p:ph idx="1"/>
          </p:nvPr>
        </p:nvSpPr>
        <p:spPr/>
        <p:txBody>
          <a:bodyPr/>
          <a:lstStyle/>
          <a:p>
            <a:r>
              <a:rPr lang="en-US" smtClean="0"/>
              <a:t>Example </a:t>
            </a:r>
          </a:p>
          <a:p>
            <a:endParaRPr lang="en-US"/>
          </a:p>
        </p:txBody>
      </p:sp>
      <p:pic>
        <p:nvPicPr>
          <p:cNvPr id="7170" name="Picture 2"/>
          <p:cNvPicPr>
            <a:picLocks noChangeAspect="1" noChangeArrowheads="1"/>
          </p:cNvPicPr>
          <p:nvPr/>
        </p:nvPicPr>
        <p:blipFill>
          <a:blip r:embed="rId2"/>
          <a:srcRect/>
          <a:stretch>
            <a:fillRect/>
          </a:stretch>
        </p:blipFill>
        <p:spPr bwMode="auto">
          <a:xfrm>
            <a:off x="3157330" y="3318841"/>
            <a:ext cx="6248400" cy="25527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Region-based segmentation </a:t>
            </a:r>
            <a:endParaRPr lang="en-US"/>
          </a:p>
        </p:txBody>
      </p:sp>
      <p:sp>
        <p:nvSpPr>
          <p:cNvPr id="3" name="Content Placeholder 2"/>
          <p:cNvSpPr>
            <a:spLocks noGrp="1"/>
          </p:cNvSpPr>
          <p:nvPr>
            <p:ph idx="1"/>
          </p:nvPr>
        </p:nvSpPr>
        <p:spPr/>
        <p:txBody>
          <a:bodyPr>
            <a:normAutofit lnSpcReduction="10000"/>
          </a:bodyPr>
          <a:lstStyle/>
          <a:p>
            <a:r>
              <a:rPr lang="en-US" smtClean="0"/>
              <a:t>Based on the fact that a pixel cannot be considered a part of an object or not based solely on its gray value. </a:t>
            </a:r>
          </a:p>
          <a:p>
            <a:r>
              <a:rPr lang="en-US" smtClean="0"/>
              <a:t>Incorporate measures of connectivity among pixels in order to decide whether those pixels belong to the same region (or object) or not.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Region-based segmentation</a:t>
            </a:r>
            <a:endParaRPr lang="en-US"/>
          </a:p>
        </p:txBody>
      </p:sp>
      <p:sp>
        <p:nvSpPr>
          <p:cNvPr id="3" name="Content Placeholder 2"/>
          <p:cNvSpPr>
            <a:spLocks noGrp="1"/>
          </p:cNvSpPr>
          <p:nvPr>
            <p:ph idx="1"/>
          </p:nvPr>
        </p:nvSpPr>
        <p:spPr/>
        <p:txBody>
          <a:bodyPr/>
          <a:lstStyle/>
          <a:p>
            <a:r>
              <a:rPr lang="en-US" sz="2800" smtClean="0"/>
              <a:t>Divide an image </a:t>
            </a:r>
            <a:r>
              <a:rPr lang="en-US" sz="2800" i="1" smtClean="0"/>
              <a:t>I </a:t>
            </a:r>
            <a:r>
              <a:rPr lang="en-US" sz="2800" smtClean="0"/>
              <a:t>into n regions</a:t>
            </a:r>
            <a:r>
              <a:rPr lang="en-US" sz="2800" i="1" smtClean="0"/>
              <a:t> R1, R2, …, Rn : </a:t>
            </a:r>
          </a:p>
          <a:p>
            <a:pPr>
              <a:buNone/>
            </a:pPr>
            <a:endParaRPr lang="en-US" sz="2800" i="1" smtClean="0"/>
          </a:p>
          <a:p>
            <a:endParaRPr lang="en-US"/>
          </a:p>
        </p:txBody>
      </p:sp>
      <p:pic>
        <p:nvPicPr>
          <p:cNvPr id="8194" name="Picture 2"/>
          <p:cNvPicPr>
            <a:picLocks noChangeAspect="1" noChangeArrowheads="1"/>
          </p:cNvPicPr>
          <p:nvPr/>
        </p:nvPicPr>
        <p:blipFill>
          <a:blip r:embed="rId2"/>
          <a:srcRect/>
          <a:stretch>
            <a:fillRect/>
          </a:stretch>
        </p:blipFill>
        <p:spPr bwMode="auto">
          <a:xfrm>
            <a:off x="1952625" y="3079681"/>
            <a:ext cx="4362138" cy="1571832"/>
          </a:xfrm>
          <a:prstGeom prst="rect">
            <a:avLst/>
          </a:prstGeom>
          <a:noFill/>
          <a:ln w="9525">
            <a:noFill/>
            <a:miter lim="800000"/>
            <a:headEnd/>
            <a:tailEnd/>
          </a:ln>
          <a:effectLst/>
        </p:spPr>
      </p:pic>
      <p:pic>
        <p:nvPicPr>
          <p:cNvPr id="8195" name="Picture 3"/>
          <p:cNvPicPr>
            <a:picLocks noChangeAspect="1" noChangeArrowheads="1"/>
          </p:cNvPicPr>
          <p:nvPr/>
        </p:nvPicPr>
        <p:blipFill>
          <a:blip r:embed="rId3"/>
          <a:srcRect/>
          <a:stretch>
            <a:fillRect/>
          </a:stretch>
        </p:blipFill>
        <p:spPr bwMode="auto">
          <a:xfrm>
            <a:off x="1663345" y="4638260"/>
            <a:ext cx="8036392" cy="144448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Region-based segmentation</a:t>
            </a:r>
            <a:endParaRPr lang="en-US"/>
          </a:p>
        </p:txBody>
      </p:sp>
      <p:sp>
        <p:nvSpPr>
          <p:cNvPr id="3" name="Content Placeholder 2"/>
          <p:cNvSpPr>
            <a:spLocks noGrp="1"/>
          </p:cNvSpPr>
          <p:nvPr>
            <p:ph idx="1"/>
          </p:nvPr>
        </p:nvSpPr>
        <p:spPr/>
        <p:txBody>
          <a:bodyPr>
            <a:normAutofit fontScale="92500" lnSpcReduction="20000"/>
          </a:bodyPr>
          <a:lstStyle/>
          <a:p>
            <a:r>
              <a:rPr lang="en-US" smtClean="0"/>
              <a:t>Logical predicates (also called </a:t>
            </a:r>
            <a:r>
              <a:rPr lang="en-US" i="1" smtClean="0"/>
              <a:t>homogeneity criteria</a:t>
            </a:r>
            <a:r>
              <a:rPr lang="en-US" smtClean="0"/>
              <a:t>) include</a:t>
            </a:r>
            <a:r>
              <a:rPr lang="en-US" i="1" smtClean="0"/>
              <a:t>: </a:t>
            </a:r>
          </a:p>
          <a:p>
            <a:pPr lvl="1"/>
            <a:r>
              <a:rPr lang="en-US" smtClean="0"/>
              <a:t>Pure uniformity </a:t>
            </a:r>
          </a:p>
          <a:p>
            <a:pPr lvl="1"/>
            <a:r>
              <a:rPr lang="en-US" smtClean="0"/>
              <a:t>Local mean relative to global mean </a:t>
            </a:r>
          </a:p>
          <a:p>
            <a:pPr lvl="1"/>
            <a:r>
              <a:rPr lang="en-US" smtClean="0"/>
              <a:t>Local standard deviation relative to global mean </a:t>
            </a:r>
          </a:p>
          <a:p>
            <a:pPr lvl="1"/>
            <a:r>
              <a:rPr lang="en-US" smtClean="0"/>
              <a:t>Variance </a:t>
            </a:r>
          </a:p>
          <a:p>
            <a:pPr lvl="1"/>
            <a:r>
              <a:rPr lang="en-US" smtClean="0"/>
              <a:t>Texture </a:t>
            </a:r>
          </a:p>
          <a:p>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Region-based segmentation</a:t>
            </a:r>
            <a:endParaRPr lang="en-US"/>
          </a:p>
        </p:txBody>
      </p:sp>
      <p:sp>
        <p:nvSpPr>
          <p:cNvPr id="3" name="Content Placeholder 2"/>
          <p:cNvSpPr>
            <a:spLocks noGrp="1"/>
          </p:cNvSpPr>
          <p:nvPr>
            <p:ph idx="1"/>
          </p:nvPr>
        </p:nvSpPr>
        <p:spPr/>
        <p:txBody>
          <a:bodyPr>
            <a:normAutofit fontScale="70000" lnSpcReduction="20000"/>
          </a:bodyPr>
          <a:lstStyle/>
          <a:p>
            <a:r>
              <a:rPr lang="en-US" smtClean="0"/>
              <a:t>Region growing – key factors: </a:t>
            </a:r>
          </a:p>
          <a:p>
            <a:pPr lvl="1"/>
            <a:r>
              <a:rPr lang="en-US" smtClean="0"/>
              <a:t>Choice of similarity criteria: for monochrome images, regions are analyzed based on intensity levels and connectivity properties. </a:t>
            </a:r>
          </a:p>
          <a:p>
            <a:pPr lvl="1"/>
            <a:r>
              <a:rPr lang="en-US" smtClean="0"/>
              <a:t>Selection of seed points: these can be determined interactively (if the application allows) or based on a preliminary cluster analysis of the image, used to determine groups of pixels that share similar properties, from which a seed can be chosen. </a:t>
            </a:r>
          </a:p>
          <a:p>
            <a:pPr lvl="1"/>
            <a:r>
              <a:rPr lang="en-US" smtClean="0"/>
              <a:t>Stopping rule: a region should stop growing when there are no further pixels that satisfy the homogeneity and connectivity criteria to be included in that region. </a:t>
            </a:r>
          </a:p>
          <a:p>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Region-based segmentation</a:t>
            </a:r>
            <a:endParaRPr lang="en-US"/>
          </a:p>
        </p:txBody>
      </p:sp>
      <p:pic>
        <p:nvPicPr>
          <p:cNvPr id="9218" name="Picture 2"/>
          <p:cNvPicPr>
            <a:picLocks noGrp="1" noChangeAspect="1" noChangeArrowheads="1"/>
          </p:cNvPicPr>
          <p:nvPr>
            <p:ph idx="1"/>
          </p:nvPr>
        </p:nvPicPr>
        <p:blipFill>
          <a:blip r:embed="rId2"/>
          <a:srcRect/>
          <a:stretch>
            <a:fillRect/>
          </a:stretch>
        </p:blipFill>
        <p:spPr bwMode="auto">
          <a:xfrm>
            <a:off x="2769703" y="2299082"/>
            <a:ext cx="6056243" cy="401237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Region-based segmentation</a:t>
            </a:r>
            <a:endParaRPr lang="en-US"/>
          </a:p>
        </p:txBody>
      </p:sp>
      <p:sp>
        <p:nvSpPr>
          <p:cNvPr id="3" name="Content Placeholder 2"/>
          <p:cNvSpPr>
            <a:spLocks noGrp="1"/>
          </p:cNvSpPr>
          <p:nvPr>
            <p:ph idx="1"/>
          </p:nvPr>
        </p:nvSpPr>
        <p:spPr/>
        <p:txBody>
          <a:bodyPr>
            <a:normAutofit/>
          </a:bodyPr>
          <a:lstStyle/>
          <a:p>
            <a:r>
              <a:rPr lang="en-US" sz="2800" smtClean="0"/>
              <a:t>Region growing - example </a:t>
            </a:r>
          </a:p>
        </p:txBody>
      </p:sp>
      <p:pic>
        <p:nvPicPr>
          <p:cNvPr id="10242" name="Picture 2"/>
          <p:cNvPicPr>
            <a:picLocks noChangeAspect="1" noChangeArrowheads="1"/>
          </p:cNvPicPr>
          <p:nvPr/>
        </p:nvPicPr>
        <p:blipFill>
          <a:blip r:embed="rId2"/>
          <a:srcRect/>
          <a:stretch>
            <a:fillRect/>
          </a:stretch>
        </p:blipFill>
        <p:spPr bwMode="auto">
          <a:xfrm>
            <a:off x="3294821" y="3134761"/>
            <a:ext cx="4403117" cy="721622"/>
          </a:xfrm>
          <a:prstGeom prst="rect">
            <a:avLst/>
          </a:prstGeom>
          <a:noFill/>
          <a:ln w="9525">
            <a:noFill/>
            <a:miter lim="800000"/>
            <a:headEnd/>
            <a:tailEnd/>
          </a:ln>
          <a:effectLst/>
        </p:spPr>
      </p:pic>
      <p:pic>
        <p:nvPicPr>
          <p:cNvPr id="10243" name="Picture 3"/>
          <p:cNvPicPr>
            <a:picLocks noChangeAspect="1" noChangeArrowheads="1"/>
          </p:cNvPicPr>
          <p:nvPr/>
        </p:nvPicPr>
        <p:blipFill>
          <a:blip r:embed="rId3"/>
          <a:srcRect/>
          <a:stretch>
            <a:fillRect/>
          </a:stretch>
        </p:blipFill>
        <p:spPr bwMode="auto">
          <a:xfrm>
            <a:off x="2542140" y="4193100"/>
            <a:ext cx="6085025" cy="198096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Region-based segmentation</a:t>
            </a:r>
            <a:endParaRPr lang="en-US"/>
          </a:p>
        </p:txBody>
      </p:sp>
      <p:sp>
        <p:nvSpPr>
          <p:cNvPr id="3" name="Content Placeholder 2"/>
          <p:cNvSpPr>
            <a:spLocks noGrp="1"/>
          </p:cNvSpPr>
          <p:nvPr>
            <p:ph idx="1"/>
          </p:nvPr>
        </p:nvSpPr>
        <p:spPr/>
        <p:txBody>
          <a:bodyPr/>
          <a:lstStyle/>
          <a:p>
            <a:r>
              <a:rPr lang="en-US" smtClean="0"/>
              <a:t>Region growing: </a:t>
            </a:r>
          </a:p>
          <a:p>
            <a:pPr>
              <a:buNone/>
            </a:pPr>
            <a:r>
              <a:rPr lang="en-US" smtClean="0"/>
              <a:t>	additional examples </a:t>
            </a:r>
          </a:p>
          <a:p>
            <a:endParaRPr lang="en-US"/>
          </a:p>
        </p:txBody>
      </p:sp>
      <p:pic>
        <p:nvPicPr>
          <p:cNvPr id="11266" name="Picture 2"/>
          <p:cNvPicPr>
            <a:picLocks noChangeAspect="1" noChangeArrowheads="1"/>
          </p:cNvPicPr>
          <p:nvPr/>
        </p:nvPicPr>
        <p:blipFill>
          <a:blip r:embed="rId2"/>
          <a:srcRect/>
          <a:stretch>
            <a:fillRect/>
          </a:stretch>
        </p:blipFill>
        <p:spPr bwMode="auto">
          <a:xfrm>
            <a:off x="6268279" y="2470607"/>
            <a:ext cx="4427677" cy="361896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Region-based segmentation</a:t>
            </a:r>
            <a:endParaRPr lang="en-US"/>
          </a:p>
        </p:txBody>
      </p:sp>
      <p:sp>
        <p:nvSpPr>
          <p:cNvPr id="3" name="Content Placeholder 2"/>
          <p:cNvSpPr>
            <a:spLocks noGrp="1"/>
          </p:cNvSpPr>
          <p:nvPr>
            <p:ph idx="1"/>
          </p:nvPr>
        </p:nvSpPr>
        <p:spPr/>
        <p:txBody>
          <a:bodyPr>
            <a:normAutofit fontScale="70000" lnSpcReduction="20000"/>
          </a:bodyPr>
          <a:lstStyle/>
          <a:p>
            <a:r>
              <a:rPr lang="en-US" smtClean="0"/>
              <a:t>Region growing – limitations: </a:t>
            </a:r>
          </a:p>
          <a:p>
            <a:pPr lvl="1"/>
            <a:r>
              <a:rPr lang="en-US" smtClean="0"/>
              <a:t>Not very stable: significantly different results are obtained when switching between 4-connectivity and 8-connectivity criteria. </a:t>
            </a:r>
          </a:p>
          <a:p>
            <a:pPr lvl="1"/>
            <a:r>
              <a:rPr lang="en-US" smtClean="0"/>
              <a:t>Segmentation results are very sensitive to choice of logical uniformity predicate. </a:t>
            </a:r>
          </a:p>
          <a:p>
            <a:pPr lvl="1"/>
            <a:r>
              <a:rPr lang="en-US" smtClean="0"/>
              <a:t>The number of seeds provided by the user may not be sufficient to assign every pixel to a region. </a:t>
            </a:r>
          </a:p>
          <a:p>
            <a:pPr lvl="1"/>
            <a:r>
              <a:rPr lang="en-US" smtClean="0"/>
              <a:t>If two or more seeds that should belong to the same region are incorrectly provided to the algorithm, it will be forced to create distinct regions around them whereas only one region should exist. </a:t>
            </a:r>
          </a:p>
          <a:p>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Region-based segmentation</a:t>
            </a:r>
            <a:endParaRPr lang="en-US"/>
          </a:p>
        </p:txBody>
      </p:sp>
      <p:sp>
        <p:nvSpPr>
          <p:cNvPr id="3" name="Content Placeholder 2"/>
          <p:cNvSpPr>
            <a:spLocks noGrp="1"/>
          </p:cNvSpPr>
          <p:nvPr>
            <p:ph idx="1"/>
          </p:nvPr>
        </p:nvSpPr>
        <p:spPr/>
        <p:txBody>
          <a:bodyPr>
            <a:normAutofit lnSpcReduction="10000"/>
          </a:bodyPr>
          <a:lstStyle/>
          <a:p>
            <a:r>
              <a:rPr lang="en-US" smtClean="0"/>
              <a:t>Region splitting and merging </a:t>
            </a:r>
          </a:p>
          <a:p>
            <a:pPr lvl="1"/>
            <a:r>
              <a:rPr lang="en-US" smtClean="0"/>
              <a:t>Start from the entire image and partition (split) it into smaller subimages until each resulting region is considered homogeneous by some criterion. </a:t>
            </a:r>
          </a:p>
          <a:p>
            <a:pPr lvl="1"/>
            <a:r>
              <a:rPr lang="en-US" smtClean="0"/>
              <a:t>Merge two or more adjacent regions into one if they satisfy a homogeneity criterion. </a:t>
            </a:r>
          </a:p>
          <a:p>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Region-based segmentation</a:t>
            </a:r>
            <a:endParaRPr lang="en-US"/>
          </a:p>
        </p:txBody>
      </p:sp>
      <p:sp>
        <p:nvSpPr>
          <p:cNvPr id="3" name="Content Placeholder 2"/>
          <p:cNvSpPr>
            <a:spLocks noGrp="1"/>
          </p:cNvSpPr>
          <p:nvPr>
            <p:ph sz="half" idx="1"/>
          </p:nvPr>
        </p:nvSpPr>
        <p:spPr/>
        <p:txBody>
          <a:bodyPr>
            <a:normAutofit fontScale="85000" lnSpcReduction="10000"/>
          </a:bodyPr>
          <a:lstStyle/>
          <a:p>
            <a:r>
              <a:rPr lang="en-US" sz="2800" smtClean="0"/>
              <a:t>Region splitting and merging </a:t>
            </a:r>
          </a:p>
          <a:p>
            <a:pPr lvl="1"/>
            <a:r>
              <a:rPr lang="en-US" sz="2800" smtClean="0"/>
              <a:t>Data structure: quadtree, a special type of tree in which each node (except for the leaves) has four children</a:t>
            </a:r>
          </a:p>
          <a:p>
            <a:pPr lvl="1"/>
            <a:r>
              <a:rPr lang="en-US" sz="2800" smtClean="0"/>
              <a:t>Each leaf node in the quadtree corresponds to a region in the segmented image </a:t>
            </a:r>
          </a:p>
          <a:p>
            <a:endParaRPr lang="en-US"/>
          </a:p>
        </p:txBody>
      </p:sp>
      <p:pic>
        <p:nvPicPr>
          <p:cNvPr id="12290" name="Picture 2"/>
          <p:cNvPicPr>
            <a:picLocks noGrp="1" noChangeAspect="1" noChangeArrowheads="1"/>
          </p:cNvPicPr>
          <p:nvPr>
            <p:ph sz="half" idx="2"/>
          </p:nvPr>
        </p:nvPicPr>
        <p:blipFill>
          <a:blip r:embed="rId2"/>
          <a:srcRect/>
          <a:stretch>
            <a:fillRect/>
          </a:stretch>
        </p:blipFill>
        <p:spPr bwMode="auto">
          <a:xfrm>
            <a:off x="6216650" y="3263106"/>
            <a:ext cx="4648200" cy="1905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Region-based segmentation</a:t>
            </a:r>
            <a:endParaRPr lang="en-US"/>
          </a:p>
        </p:txBody>
      </p:sp>
      <p:sp>
        <p:nvSpPr>
          <p:cNvPr id="3" name="Content Placeholder 2"/>
          <p:cNvSpPr>
            <a:spLocks noGrp="1"/>
          </p:cNvSpPr>
          <p:nvPr>
            <p:ph idx="1"/>
          </p:nvPr>
        </p:nvSpPr>
        <p:spPr/>
        <p:txBody>
          <a:bodyPr/>
          <a:lstStyle/>
          <a:p>
            <a:r>
              <a:rPr lang="en-US" sz="2800" smtClean="0"/>
              <a:t>Region splitting and merging  algoritms:</a:t>
            </a:r>
          </a:p>
          <a:p>
            <a:endParaRPr lang="en-US"/>
          </a:p>
        </p:txBody>
      </p:sp>
      <p:pic>
        <p:nvPicPr>
          <p:cNvPr id="13314" name="Picture 2"/>
          <p:cNvPicPr>
            <a:picLocks noChangeAspect="1" noChangeArrowheads="1"/>
          </p:cNvPicPr>
          <p:nvPr/>
        </p:nvPicPr>
        <p:blipFill>
          <a:blip r:embed="rId2"/>
          <a:srcRect/>
          <a:stretch>
            <a:fillRect/>
          </a:stretch>
        </p:blipFill>
        <p:spPr bwMode="auto">
          <a:xfrm>
            <a:off x="1944136" y="3167684"/>
            <a:ext cx="8034751" cy="30619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Region-based segmentation</a:t>
            </a:r>
            <a:endParaRPr lang="en-US"/>
          </a:p>
        </p:txBody>
      </p:sp>
      <p:sp>
        <p:nvSpPr>
          <p:cNvPr id="3" name="Content Placeholder 2"/>
          <p:cNvSpPr>
            <a:spLocks noGrp="1"/>
          </p:cNvSpPr>
          <p:nvPr>
            <p:ph idx="1"/>
          </p:nvPr>
        </p:nvSpPr>
        <p:spPr/>
        <p:txBody>
          <a:bodyPr>
            <a:normAutofit fontScale="92500" lnSpcReduction="10000"/>
          </a:bodyPr>
          <a:lstStyle/>
          <a:p>
            <a:r>
              <a:rPr lang="en-US" smtClean="0"/>
              <a:t>Morphological image segmentation algorithm (</a:t>
            </a:r>
            <a:r>
              <a:rPr lang="en-US" b="1" smtClean="0"/>
              <a:t>watershed</a:t>
            </a:r>
            <a:r>
              <a:rPr lang="en-US" smtClean="0"/>
              <a:t>) </a:t>
            </a:r>
          </a:p>
          <a:p>
            <a:r>
              <a:rPr lang="en-US" smtClean="0"/>
              <a:t>Used to represent regions in a segmented image (equivalent to catchment basins) and the boundaries among them (analogous to the ridge lines). </a:t>
            </a:r>
          </a:p>
          <a:p>
            <a:r>
              <a:rPr lang="en-US" smtClean="0"/>
              <a:t>In MATLAB: </a:t>
            </a:r>
            <a:r>
              <a:rPr lang="en-US" b="1" smtClean="0"/>
              <a:t>watershed </a:t>
            </a:r>
          </a:p>
          <a:p>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Region-based segmentation</a:t>
            </a:r>
            <a:endParaRPr lang="en-US"/>
          </a:p>
        </p:txBody>
      </p:sp>
      <p:sp>
        <p:nvSpPr>
          <p:cNvPr id="3" name="Content Placeholder 2"/>
          <p:cNvSpPr>
            <a:spLocks noGrp="1"/>
          </p:cNvSpPr>
          <p:nvPr>
            <p:ph sz="half" idx="1"/>
          </p:nvPr>
        </p:nvSpPr>
        <p:spPr/>
        <p:txBody>
          <a:bodyPr>
            <a:normAutofit lnSpcReduction="10000"/>
          </a:bodyPr>
          <a:lstStyle/>
          <a:p>
            <a:r>
              <a:rPr lang="en-US" smtClean="0"/>
              <a:t>The distance transform </a:t>
            </a:r>
          </a:p>
          <a:p>
            <a:r>
              <a:rPr lang="en-US" smtClean="0"/>
              <a:t>Computes the distance from every pixel to the nearest nonzero-valued pixel. </a:t>
            </a:r>
          </a:p>
          <a:p>
            <a:r>
              <a:rPr lang="en-US" smtClean="0"/>
              <a:t>In MATLAB: </a:t>
            </a:r>
            <a:r>
              <a:rPr lang="en-US" b="1" smtClean="0"/>
              <a:t>bwdist </a:t>
            </a:r>
          </a:p>
          <a:p>
            <a:endParaRPr lang="en-US"/>
          </a:p>
        </p:txBody>
      </p:sp>
      <p:sp>
        <p:nvSpPr>
          <p:cNvPr id="4" name="Content Placeholder 3"/>
          <p:cNvSpPr>
            <a:spLocks noGrp="1"/>
          </p:cNvSpPr>
          <p:nvPr>
            <p:ph sz="half" idx="2"/>
          </p:nvPr>
        </p:nvSpPr>
        <p:spPr/>
        <p:txBody>
          <a:bodyPr>
            <a:normAutofit lnSpcReduction="10000"/>
          </a:bodyPr>
          <a:lstStyle/>
          <a:p>
            <a:endParaRPr lang="en-US"/>
          </a:p>
        </p:txBody>
      </p:sp>
      <p:pic>
        <p:nvPicPr>
          <p:cNvPr id="14338" name="Picture 2"/>
          <p:cNvPicPr>
            <a:picLocks noChangeAspect="1" noChangeArrowheads="1"/>
          </p:cNvPicPr>
          <p:nvPr/>
        </p:nvPicPr>
        <p:blipFill>
          <a:blip r:embed="rId2"/>
          <a:srcRect/>
          <a:stretch>
            <a:fillRect/>
          </a:stretch>
        </p:blipFill>
        <p:spPr bwMode="auto">
          <a:xfrm>
            <a:off x="6752811" y="2468217"/>
            <a:ext cx="3086100" cy="1524000"/>
          </a:xfrm>
          <a:prstGeom prst="rect">
            <a:avLst/>
          </a:prstGeom>
          <a:noFill/>
          <a:ln w="9525">
            <a:noFill/>
            <a:miter lim="800000"/>
            <a:headEnd/>
            <a:tailEnd/>
          </a:ln>
          <a:effectLst/>
        </p:spPr>
      </p:pic>
      <p:pic>
        <p:nvPicPr>
          <p:cNvPr id="14339" name="Picture 3"/>
          <p:cNvPicPr>
            <a:picLocks noChangeAspect="1" noChangeArrowheads="1"/>
          </p:cNvPicPr>
          <p:nvPr/>
        </p:nvPicPr>
        <p:blipFill>
          <a:blip r:embed="rId3"/>
          <a:srcRect/>
          <a:stretch>
            <a:fillRect/>
          </a:stretch>
        </p:blipFill>
        <p:spPr bwMode="auto">
          <a:xfrm>
            <a:off x="6732312" y="3963023"/>
            <a:ext cx="3286125" cy="20859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Region-based segmentation</a:t>
            </a:r>
            <a:endParaRPr lang="en-US"/>
          </a:p>
        </p:txBody>
      </p:sp>
      <p:sp>
        <p:nvSpPr>
          <p:cNvPr id="3" name="Content Placeholder 2"/>
          <p:cNvSpPr>
            <a:spLocks noGrp="1"/>
          </p:cNvSpPr>
          <p:nvPr>
            <p:ph sz="half" idx="1"/>
          </p:nvPr>
        </p:nvSpPr>
        <p:spPr/>
        <p:txBody>
          <a:bodyPr>
            <a:normAutofit/>
          </a:bodyPr>
          <a:lstStyle/>
          <a:p>
            <a:r>
              <a:rPr lang="en-US" smtClean="0"/>
              <a:t>Morphological image segmentation algorithm (watershed) – Example 15.5 </a:t>
            </a:r>
          </a:p>
          <a:p>
            <a:endParaRPr lang="en-US"/>
          </a:p>
        </p:txBody>
      </p:sp>
      <p:sp>
        <p:nvSpPr>
          <p:cNvPr id="6" name="Content Placeholder 5"/>
          <p:cNvSpPr>
            <a:spLocks noGrp="1"/>
          </p:cNvSpPr>
          <p:nvPr>
            <p:ph sz="half" idx="2"/>
          </p:nvPr>
        </p:nvSpPr>
        <p:spPr/>
        <p:txBody>
          <a:bodyPr>
            <a:normAutofit/>
          </a:bodyPr>
          <a:lstStyle/>
          <a:p>
            <a:endParaRPr lang="en-US"/>
          </a:p>
        </p:txBody>
      </p:sp>
      <p:pic>
        <p:nvPicPr>
          <p:cNvPr id="15363" name="Picture 3"/>
          <p:cNvPicPr>
            <a:picLocks noChangeAspect="1" noChangeArrowheads="1"/>
          </p:cNvPicPr>
          <p:nvPr/>
        </p:nvPicPr>
        <p:blipFill>
          <a:blip r:embed="rId2"/>
          <a:srcRect/>
          <a:stretch>
            <a:fillRect/>
          </a:stretch>
        </p:blipFill>
        <p:spPr bwMode="auto">
          <a:xfrm>
            <a:off x="5774635" y="2610677"/>
            <a:ext cx="5535511" cy="348532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Region-based segmentation</a:t>
            </a:r>
            <a:endParaRPr lang="en-US"/>
          </a:p>
        </p:txBody>
      </p:sp>
      <p:sp>
        <p:nvSpPr>
          <p:cNvPr id="4" name="Content Placeholder 3"/>
          <p:cNvSpPr>
            <a:spLocks noGrp="1"/>
          </p:cNvSpPr>
          <p:nvPr>
            <p:ph sz="half" idx="1"/>
          </p:nvPr>
        </p:nvSpPr>
        <p:spPr/>
        <p:txBody>
          <a:bodyPr>
            <a:normAutofit/>
          </a:bodyPr>
          <a:lstStyle/>
          <a:p>
            <a:r>
              <a:rPr lang="en-US" smtClean="0"/>
              <a:t>Morphological image segmentation algorithm (watershed) – Example 15.5 </a:t>
            </a:r>
          </a:p>
          <a:p>
            <a:endParaRPr lang="en-US"/>
          </a:p>
        </p:txBody>
      </p:sp>
      <p:pic>
        <p:nvPicPr>
          <p:cNvPr id="16386" name="Picture 2"/>
          <p:cNvPicPr>
            <a:picLocks noGrp="1" noChangeAspect="1" noChangeArrowheads="1"/>
          </p:cNvPicPr>
          <p:nvPr>
            <p:ph sz="half" idx="2"/>
          </p:nvPr>
        </p:nvPicPr>
        <p:blipFill>
          <a:blip r:embed="rId2"/>
          <a:srcRect/>
          <a:stretch>
            <a:fillRect/>
          </a:stretch>
        </p:blipFill>
        <p:spPr bwMode="auto">
          <a:xfrm>
            <a:off x="6305033" y="2441194"/>
            <a:ext cx="4349715" cy="378732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Hands-on</a:t>
            </a:r>
            <a:endParaRPr lang="en-US"/>
          </a:p>
        </p:txBody>
      </p:sp>
      <p:sp>
        <p:nvSpPr>
          <p:cNvPr id="3" name="Content Placeholder 2"/>
          <p:cNvSpPr>
            <a:spLocks noGrp="1"/>
          </p:cNvSpPr>
          <p:nvPr>
            <p:ph idx="1"/>
          </p:nvPr>
        </p:nvSpPr>
        <p:spPr/>
        <p:txBody>
          <a:bodyPr/>
          <a:lstStyle/>
          <a:p>
            <a:r>
              <a:rPr lang="en-US" smtClean="0"/>
              <a:t>Tutorial 15.1: Image thresholding (page 379) </a:t>
            </a:r>
          </a:p>
          <a:p>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HAPTER 5- Image sensing and acquisition">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CHAPTER 5- Image sensing and acquisition</Template>
  <TotalTime>8258</TotalTime>
  <Words>1083</Words>
  <Application>Microsoft Office PowerPoint</Application>
  <PresentationFormat>Custom</PresentationFormat>
  <Paragraphs>116</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CHAPTER 5- Image sensing and acquisition</vt:lpstr>
      <vt:lpstr>CHAPTER 15</vt:lpstr>
      <vt:lpstr>WHAT WILL WE LEARN?</vt:lpstr>
      <vt:lpstr>Introduction</vt:lpstr>
      <vt:lpstr>Introduction</vt:lpstr>
      <vt:lpstr>Introduction</vt:lpstr>
      <vt:lpstr>Introduction</vt:lpstr>
      <vt:lpstr>Intensity-based segmentation </vt:lpstr>
      <vt:lpstr>Image thresholding </vt:lpstr>
      <vt:lpstr>Image thresholding </vt:lpstr>
      <vt:lpstr>Image thresholding </vt:lpstr>
      <vt:lpstr>Image thresholding </vt:lpstr>
      <vt:lpstr>Image thresholding </vt:lpstr>
      <vt:lpstr>Image thresholding </vt:lpstr>
      <vt:lpstr>Image thresholding </vt:lpstr>
      <vt:lpstr>Local thresholding </vt:lpstr>
      <vt:lpstr>Local thresholding </vt:lpstr>
      <vt:lpstr>Region-based segmentation </vt:lpstr>
      <vt:lpstr>Region-based segmentation</vt:lpstr>
      <vt:lpstr>Region-based segmentation</vt:lpstr>
      <vt:lpstr>Region-based segmentation</vt:lpstr>
      <vt:lpstr>Region-based segmentation</vt:lpstr>
      <vt:lpstr>Region-based segmentation</vt:lpstr>
      <vt:lpstr>Region-based segmentation</vt:lpstr>
      <vt:lpstr>Region-based segmentation</vt:lpstr>
      <vt:lpstr>Region-based segmentation</vt:lpstr>
      <vt:lpstr>Region-based segmentation</vt:lpstr>
      <vt:lpstr>Region-based segmentation</vt:lpstr>
      <vt:lpstr>Region-based segmentation</vt:lpstr>
      <vt:lpstr>Region-based segmentation</vt:lpstr>
      <vt:lpstr>Region-based segmentation</vt:lpstr>
      <vt:lpstr>Region-based segmentation</vt:lpstr>
      <vt:lpstr>Hands-on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15</dc:title>
  <dc:creator>Thuy Nguyen</dc:creator>
  <cp:lastModifiedBy>Nguyen </cp:lastModifiedBy>
  <cp:revision>13</cp:revision>
  <dcterms:created xsi:type="dcterms:W3CDTF">2017-06-16T06:26:23Z</dcterms:created>
  <dcterms:modified xsi:type="dcterms:W3CDTF">2021-02-24T02:06:21Z</dcterms:modified>
</cp:coreProperties>
</file>
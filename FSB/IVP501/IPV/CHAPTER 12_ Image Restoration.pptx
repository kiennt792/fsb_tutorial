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45" d="100"/>
          <a:sy n="45" d="100"/>
        </p:scale>
        <p:origin x="-96" y="-6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4099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89758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7332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9028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3774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0997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2295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6601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8191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8177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9545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5930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9270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175601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8492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3842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42135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1622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EF59C9-AC0B-4896-9217-64A6B5201B25}" type="datetimeFigureOut">
              <a:rPr lang="vi-VN" smtClean="0"/>
              <a:pPr/>
              <a:t>12/06/2017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2706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smtClean="0"/>
              <a:t>CHAPTER 12</a:t>
            </a:r>
            <a:endParaRPr lang="vi-V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smtClean="0">
                <a:latin typeface="Arial"/>
              </a:rPr>
              <a:t>IMAGE RESTORATION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xmlns="" val="122089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WHAT WILL WE LEARN?</a:t>
            </a:r>
            <a:endParaRPr lang="vi-V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What is noise (in the context of image processing) and how can it be modeled?</a:t>
            </a:r>
          </a:p>
          <a:p>
            <a:r>
              <a:rPr lang="en-US" smtClean="0"/>
              <a:t>What are the main types of noise that may affect an image?</a:t>
            </a:r>
          </a:p>
          <a:p>
            <a:r>
              <a:rPr lang="en-US" smtClean="0"/>
              <a:t>What is blurring (in the context of image processing) and howcan it be modeled?</a:t>
            </a:r>
          </a:p>
          <a:p>
            <a:r>
              <a:rPr lang="en-US" smtClean="0"/>
              <a:t>Which noise removal techniques are typically used in image processing?</a:t>
            </a:r>
          </a:p>
          <a:p>
            <a:r>
              <a:rPr lang="en-US" smtClean="0"/>
              <a:t>Which deblurring techniques are typically used in image processing?</a:t>
            </a:r>
          </a:p>
        </p:txBody>
      </p:sp>
    </p:spTree>
    <p:extLst>
      <p:ext uri="{BB962C8B-B14F-4D97-AF65-F5344CB8AC3E}">
        <p14:creationId xmlns:p14="http://schemas.microsoft.com/office/powerpoint/2010/main" xmlns="" val="354631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IMAGE DEGRADATION AND RESTORATION PROBLEM</a:t>
            </a:r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33667" y="2808513"/>
            <a:ext cx="9807317" cy="2073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30630" y="5052470"/>
            <a:ext cx="461010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26295" y="5131252"/>
            <a:ext cx="460057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54455" y="5845220"/>
            <a:ext cx="344805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Restoration filter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mtClean="0"/>
              <a:t>Collect knowledge about the degradation process</a:t>
            </a:r>
          </a:p>
          <a:p>
            <a:pPr marL="742950" indent="-742950">
              <a:buFont typeface="+mj-lt"/>
              <a:buAutoNum type="arabicPeriod"/>
            </a:pPr>
            <a:r>
              <a:rPr lang="en-US" smtClean="0"/>
              <a:t>Use that knowledge to develop a degradation model.</a:t>
            </a:r>
          </a:p>
          <a:p>
            <a:pPr marL="742950" indent="-742950">
              <a:buFont typeface="+mj-lt"/>
              <a:buAutoNum type="arabicPeriod"/>
            </a:pPr>
            <a:r>
              <a:rPr lang="en-US" smtClean="0"/>
              <a:t>Develop the inverse degradation process and model it as a filter.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NOISE AND NOISE MODELS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Gaussian Noise</a:t>
            </a:r>
          </a:p>
          <a:p>
            <a:r>
              <a:rPr lang="en-US" smtClean="0"/>
              <a:t>Impulse (Salt and Pepper) Noise</a:t>
            </a:r>
          </a:p>
          <a:p>
            <a:r>
              <a:rPr lang="en-US" smtClean="0"/>
              <a:t>Uniform Noise</a:t>
            </a:r>
          </a:p>
          <a:p>
            <a:r>
              <a:rPr lang="en-US" smtClean="0"/>
              <a:t>Rayleigh Noise</a:t>
            </a:r>
          </a:p>
          <a:p>
            <a:r>
              <a:rPr lang="en-US" smtClean="0"/>
              <a:t>Gamma (Erlang) Noise</a:t>
            </a:r>
          </a:p>
          <a:p>
            <a:r>
              <a:rPr lang="en-US" smtClean="0"/>
              <a:t>Exponential Noise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Noise Estimation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It is often necessary to estimate the type of noise (and the main parameters of its PDF) before designing a solution for noise reduction.</a:t>
            </a:r>
          </a:p>
          <a:p>
            <a:pPr lvl="1"/>
            <a:r>
              <a:rPr lang="en-US" smtClean="0"/>
              <a:t>If primary source of noise is sensor: generate test images consisting of large patches of homogeneous gray-level values and observe the resulting histograms</a:t>
            </a:r>
          </a:p>
          <a:p>
            <a:pPr lvl="1"/>
            <a:r>
              <a:rPr lang="en-US" smtClean="0"/>
              <a:t>Crop a relatively large homogeneous region from an image and inspect its histogram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7053888" cy="5592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35122" y="0"/>
            <a:ext cx="4630813" cy="6596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2530" y="5842337"/>
            <a:ext cx="6422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 (a) original image; (b) noisy image (c) histogram of the original image; (d) histogram of the noisy image; (e) histogram of selected patch showing clearly that the noise is of Gaussian type in this case.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93136" y="546376"/>
            <a:ext cx="3741934" cy="5690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77973" y="637955"/>
            <a:ext cx="3705626" cy="5635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784651" y="1127053"/>
            <a:ext cx="155235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mtClean="0"/>
              <a:t>(a and b) Gaussian; </a:t>
            </a:r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r>
              <a:rPr lang="en-US" sz="2000" smtClean="0"/>
              <a:t>(c and d) exponential; </a:t>
            </a:r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r>
              <a:rPr lang="en-US" sz="2000" smtClean="0"/>
              <a:t>(e and f) salt and pepper.</a:t>
            </a:r>
            <a:endParaRPr lang="en-US" sz="2000"/>
          </a:p>
        </p:txBody>
      </p:sp>
      <p:sp>
        <p:nvSpPr>
          <p:cNvPr id="7" name="TextBox 6"/>
          <p:cNvSpPr txBox="1"/>
          <p:nvPr/>
        </p:nvSpPr>
        <p:spPr>
          <a:xfrm>
            <a:off x="10228522" y="637953"/>
            <a:ext cx="172598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mtClean="0"/>
              <a:t>((a and b) Rayleigh; </a:t>
            </a:r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r>
              <a:rPr lang="en-US" sz="2000" smtClean="0"/>
              <a:t>(c and d) Gamma; </a:t>
            </a:r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r>
              <a:rPr lang="en-US" sz="2000" smtClean="0"/>
              <a:t>(e and f) uniform.</a:t>
            </a:r>
          </a:p>
          <a:p>
            <a:r>
              <a:rPr lang="en-US" sz="2000" smtClean="0"/>
              <a:t>.</a:t>
            </a:r>
            <a:endParaRPr 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Image Restoration Techniques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cap="small" smtClean="0"/>
              <a:t>NOISE REDUCTION USING SPATIAL-DOMAIN TECHNIQUES</a:t>
            </a:r>
          </a:p>
          <a:p>
            <a:pPr marL="742950" indent="-742950">
              <a:buFont typeface="+mj-lt"/>
              <a:buAutoNum type="arabicPeriod"/>
            </a:pPr>
            <a:r>
              <a:rPr lang="en-US" cap="small" smtClean="0"/>
              <a:t>NOISE REDUCTION USING FREQUENCY-DOMAIN TECHNIQUES</a:t>
            </a:r>
          </a:p>
          <a:p>
            <a:pPr marL="742950" indent="-742950">
              <a:buFont typeface="+mj-lt"/>
              <a:buAutoNum type="arabicPeriod"/>
            </a:pPr>
            <a:r>
              <a:rPr lang="en-US" cap="small" smtClean="0"/>
              <a:t>IMAGE DEBLURRING TECHNIQUES</a:t>
            </a:r>
            <a:endParaRPr lang="en-US" cap="smal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NOISE REDUCTION USING SPATIAL-DOMAIN TECHNIQUES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smtClean="0"/>
              <a:t>Mean Filters</a:t>
            </a:r>
          </a:p>
          <a:p>
            <a:pPr lvl="1"/>
            <a:r>
              <a:rPr lang="en-US" b="1" smtClean="0"/>
              <a:t>Arithmetic Mean Filter</a:t>
            </a:r>
            <a:r>
              <a:rPr lang="en-US" smtClean="0"/>
              <a:t>: operates on an </a:t>
            </a:r>
            <a:r>
              <a:rPr lang="en-US" i="1" smtClean="0"/>
              <a:t>m × n sliding window by calculating the average of all pixel values </a:t>
            </a:r>
            <a:r>
              <a:rPr lang="en-US" smtClean="0"/>
              <a:t>within the window and replacing the center pixel value in the destination image with the result</a:t>
            </a:r>
          </a:p>
          <a:p>
            <a:pPr lvl="1"/>
            <a:r>
              <a:rPr lang="en-US" smtClean="0"/>
              <a:t>Geometric Mean Filter</a:t>
            </a:r>
          </a:p>
          <a:p>
            <a:pPr lvl="1"/>
            <a:r>
              <a:rPr lang="en-US" smtClean="0"/>
              <a:t>Harmonic Mean Filter</a:t>
            </a:r>
          </a:p>
          <a:p>
            <a:pPr lvl="1"/>
            <a:r>
              <a:rPr lang="en-US" smtClean="0"/>
              <a:t>Contraharmonic Mean Filter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smtClean="0"/>
              <a:t>The Median Filter</a:t>
            </a:r>
            <a:r>
              <a:rPr lang="en-US" smtClean="0"/>
              <a:t>: selecting the middle pixel value from the ordered set of values within the </a:t>
            </a:r>
            <a:r>
              <a:rPr lang="en-US" i="1" smtClean="0"/>
              <a:t>m × n </a:t>
            </a:r>
            <a:r>
              <a:rPr lang="en-US" smtClean="0"/>
              <a:t>neighborhood (W) around the reference pixel.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 Matlab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TUTORIAL 12.1 page 331 (289)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871" y="833277"/>
            <a:ext cx="9601196" cy="1303867"/>
          </a:xfrm>
        </p:spPr>
        <p:txBody>
          <a:bodyPr>
            <a:noAutofit/>
          </a:bodyPr>
          <a:lstStyle/>
          <a:p>
            <a:r>
              <a:rPr lang="en-US" sz="4000" smtClean="0"/>
              <a:t>NOISE REDUCTION USING FREQUENCY DOMAIN TECHNIQUES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Periodic Noise: arises as a result of electrical or electromechanical interference during the image acquisition process.</a:t>
            </a:r>
          </a:p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98558" y="3812327"/>
            <a:ext cx="6400800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Bandreject Filter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attenuates frequency components within a certain range (the stopband of the filter), while leaving all other frequency components untouched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Bandpass Filter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Allows certain frequencies (within its passband) to be preserved while attenuating all others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IMAGE DEBLURRING TECHNIQUES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i="1" smtClean="0"/>
              <a:t>					</a:t>
            </a:r>
            <a:r>
              <a:rPr lang="pl-PL" i="1" smtClean="0"/>
              <a:t>G(u, v) = F(u, v)H(u, v) + 0</a:t>
            </a:r>
            <a:endParaRPr lang="en-US" i="1" smtClean="0"/>
          </a:p>
          <a:p>
            <a:pPr>
              <a:buNone/>
            </a:pPr>
            <a:endParaRPr lang="en-US" i="1" smtClean="0"/>
          </a:p>
          <a:p>
            <a:pPr>
              <a:buNone/>
            </a:pPr>
            <a:endParaRPr lang="en-US" i="1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37715" y="3402418"/>
            <a:ext cx="5785613" cy="999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smtClean="0"/>
              <a:t>Wiener Filtering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mtClean="0"/>
              <a:t>Is an image restoration solution that can be applied to images that have been subject to a degradation function and also contain noise</a:t>
            </a:r>
          </a:p>
          <a:p>
            <a:endParaRPr lang="en-US" smtClean="0"/>
          </a:p>
          <a:p>
            <a:endParaRPr lang="en-US" smtClean="0"/>
          </a:p>
          <a:p>
            <a:pPr>
              <a:buNone/>
            </a:pPr>
            <a:r>
              <a:rPr lang="en-US" i="1" smtClean="0"/>
              <a:t>	</a:t>
            </a:r>
            <a:r>
              <a:rPr lang="en-US" smtClean="0"/>
              <a:t>K is a constant used to approximate the amount of noise</a:t>
            </a:r>
          </a:p>
          <a:p>
            <a:endParaRPr 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53110" y="3871912"/>
            <a:ext cx="5640616" cy="1146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In MATLAB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smtClean="0"/>
              <a:t>deconvreg</a:t>
            </a:r>
            <a:r>
              <a:rPr lang="en-US" smtClean="0"/>
              <a:t>: deblur image using regularized filter</a:t>
            </a:r>
          </a:p>
          <a:p>
            <a:r>
              <a:rPr lang="en-US" b="1" smtClean="0"/>
              <a:t>deconvlucy</a:t>
            </a:r>
            <a:r>
              <a:rPr lang="en-US" smtClean="0"/>
              <a:t>: deblur image using Lucy–Richardson method</a:t>
            </a:r>
          </a:p>
          <a:p>
            <a:r>
              <a:rPr lang="en-US" b="1" smtClean="0"/>
              <a:t>deconvblind</a:t>
            </a:r>
            <a:r>
              <a:rPr lang="en-US" smtClean="0"/>
              <a:t>: deblur image using blind deconvolution</a:t>
            </a:r>
          </a:p>
          <a:p>
            <a:pPr>
              <a:buNone/>
            </a:pP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Hands-on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Tutorial 12.1</a:t>
            </a:r>
          </a:p>
          <a:p>
            <a:r>
              <a:rPr lang="en-US" smtClean="0"/>
              <a:t>Problems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PTER 5- Image sensing and acquisition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5- Image sensing and acquisition</Template>
  <TotalTime>3419</TotalTime>
  <Words>522</Words>
  <Application>Microsoft Office PowerPoint</Application>
  <PresentationFormat>Custom</PresentationFormat>
  <Paragraphs>87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CHAPTER 5- Image sensing and acquisition</vt:lpstr>
      <vt:lpstr>CHAPTER 12</vt:lpstr>
      <vt:lpstr>WHAT WILL WE LEARN?</vt:lpstr>
      <vt:lpstr>IMAGE DEGRADATION AND RESTORATION PROBLEM</vt:lpstr>
      <vt:lpstr>Restoration filter</vt:lpstr>
      <vt:lpstr>NOISE AND NOISE MODELS</vt:lpstr>
      <vt:lpstr>Noise Estimation</vt:lpstr>
      <vt:lpstr>Slide 7</vt:lpstr>
      <vt:lpstr>Slide 8</vt:lpstr>
      <vt:lpstr>Image Restoration Techniques</vt:lpstr>
      <vt:lpstr>NOISE REDUCTION USING SPATIAL-DOMAIN TECHNIQUES</vt:lpstr>
      <vt:lpstr>In Matlab</vt:lpstr>
      <vt:lpstr>NOISE REDUCTION USING FREQUENCY DOMAIN TECHNIQUES</vt:lpstr>
      <vt:lpstr>Bandreject Filter</vt:lpstr>
      <vt:lpstr>Bandpass Filter</vt:lpstr>
      <vt:lpstr>IMAGE DEBLURRING TECHNIQUES</vt:lpstr>
      <vt:lpstr>Wiener Filtering</vt:lpstr>
      <vt:lpstr>In MATLAB</vt:lpstr>
      <vt:lpstr>Hands-on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12</dc:title>
  <dc:creator>Thuy Nguyen</dc:creator>
  <cp:lastModifiedBy>Thuy Nguyen</cp:lastModifiedBy>
  <cp:revision>45</cp:revision>
  <dcterms:created xsi:type="dcterms:W3CDTF">2017-06-10T02:33:55Z</dcterms:created>
  <dcterms:modified xsi:type="dcterms:W3CDTF">2017-06-12T11:36:31Z</dcterms:modified>
</cp:coreProperties>
</file>
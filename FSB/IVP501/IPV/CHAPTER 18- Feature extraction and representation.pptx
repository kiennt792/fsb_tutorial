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-114" y="-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FEF59C9-AC0B-4896-9217-64A6B5201B25}" type="datetimeFigureOut">
              <a:rPr lang="vi-VN" smtClean="0"/>
              <a:pPr/>
              <a:t>16/06/2017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4099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16/06/2017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89758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16/06/2017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373321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16/06/2017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59028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16/06/2017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237741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16/06/2017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50997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16/06/2017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322958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16/06/2017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366013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16/06/2017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58191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16/06/2017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381776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16/06/2017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2695454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16/06/2017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559301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16/06/2017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192707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16/06/2017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3175601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16/06/2017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784925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16/06/2017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538428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16/06/2017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142135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16/06/2017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61622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FEF59C9-AC0B-4896-9217-64A6B5201B25}" type="datetimeFigureOut">
              <a:rPr lang="vi-VN" smtClean="0"/>
              <a:pPr/>
              <a:t>16/06/2017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262706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8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smtClean="0"/>
              <a:t>CHAPTER </a:t>
            </a:r>
            <a:r>
              <a:rPr lang="en-US" sz="4400" b="1" smtClean="0"/>
              <a:t>18</a:t>
            </a:r>
            <a:endParaRPr lang="vi-VN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smtClean="0"/>
              <a:t>FEATURE EXTRACTION AND</a:t>
            </a:r>
          </a:p>
          <a:p>
            <a:r>
              <a:rPr lang="en-US" sz="3200" smtClean="0"/>
              <a:t>REPRESENTATION</a:t>
            </a:r>
            <a:endParaRPr lang="vi-VN" sz="3200" dirty="0"/>
          </a:p>
        </p:txBody>
      </p:sp>
    </p:spTree>
    <p:extLst>
      <p:ext uri="{BB962C8B-B14F-4D97-AF65-F5344CB8AC3E}">
        <p14:creationId xmlns="" xmlns:p14="http://schemas.microsoft.com/office/powerpoint/2010/main" val="122089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WHAT WILL WE LEARN?</a:t>
            </a:r>
            <a:endParaRPr lang="vi-V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What </a:t>
            </a:r>
            <a:r>
              <a:rPr lang="en-US" smtClean="0"/>
              <a:t>is feature extraction and why is it a critical step in most computer vision and image processing solutions? </a:t>
            </a:r>
          </a:p>
          <a:p>
            <a:r>
              <a:rPr lang="en-US" smtClean="0"/>
              <a:t>Which </a:t>
            </a:r>
            <a:r>
              <a:rPr lang="en-US" smtClean="0"/>
              <a:t>types of features can be extracted from an image and how is this usually done? </a:t>
            </a:r>
          </a:p>
          <a:p>
            <a:r>
              <a:rPr lang="en-US" smtClean="0"/>
              <a:t>How </a:t>
            </a:r>
            <a:r>
              <a:rPr lang="en-US" smtClean="0"/>
              <a:t>are the extracted features usually represented for further processing? </a:t>
            </a:r>
          </a:p>
        </p:txBody>
      </p:sp>
    </p:spTree>
    <p:extLst>
      <p:ext uri="{BB962C8B-B14F-4D97-AF65-F5344CB8AC3E}">
        <p14:creationId xmlns="" xmlns:p14="http://schemas.microsoft.com/office/powerpoint/2010/main" val="3546310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Introduction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mtClean="0"/>
              <a:t>Feature extraction: </a:t>
            </a:r>
            <a:r>
              <a:rPr lang="en-US" b="1" smtClean="0"/>
              <a:t>certain </a:t>
            </a:r>
            <a:r>
              <a:rPr lang="en-US" b="1" smtClean="0"/>
              <a:t>features of interest within an image are detected and represented for further processing.</a:t>
            </a:r>
            <a:r>
              <a:rPr lang="en-US" smtClean="0"/>
              <a:t> </a:t>
            </a:r>
          </a:p>
          <a:p>
            <a:r>
              <a:rPr lang="en-US" smtClean="0"/>
              <a:t>It </a:t>
            </a:r>
            <a:r>
              <a:rPr lang="en-US" smtClean="0"/>
              <a:t>is a </a:t>
            </a:r>
            <a:r>
              <a:rPr lang="en-US" b="1" smtClean="0"/>
              <a:t>critical</a:t>
            </a:r>
            <a:r>
              <a:rPr lang="en-US" smtClean="0"/>
              <a:t> step in most computer vision and image processing solutions. </a:t>
            </a:r>
          </a:p>
          <a:p>
            <a:r>
              <a:rPr lang="en-US" smtClean="0"/>
              <a:t>It </a:t>
            </a:r>
            <a:r>
              <a:rPr lang="en-US" smtClean="0"/>
              <a:t>marks the </a:t>
            </a:r>
            <a:r>
              <a:rPr lang="en-US" b="1" smtClean="0"/>
              <a:t>transition from pictorial to non-pictorial</a:t>
            </a:r>
            <a:r>
              <a:rPr lang="en-US" smtClean="0"/>
              <a:t> (alphanumerical, usually quantitative) data representation. </a:t>
            </a:r>
          </a:p>
          <a:p>
            <a:r>
              <a:rPr lang="en-US" smtClean="0"/>
              <a:t>The </a:t>
            </a:r>
            <a:r>
              <a:rPr lang="en-US" smtClean="0"/>
              <a:t>resulting representation can be subsequently used as the input to a number of </a:t>
            </a:r>
            <a:r>
              <a:rPr lang="en-US" b="1" smtClean="0"/>
              <a:t>pattern recognition</a:t>
            </a:r>
            <a:r>
              <a:rPr lang="en-US" smtClean="0"/>
              <a:t> and </a:t>
            </a:r>
            <a:r>
              <a:rPr lang="en-US" b="1" smtClean="0"/>
              <a:t>classification</a:t>
            </a:r>
            <a:r>
              <a:rPr lang="en-US" smtClean="0"/>
              <a:t> techniques which will then label, classify, or recognize the </a:t>
            </a:r>
            <a:r>
              <a:rPr lang="en-US" b="1" smtClean="0"/>
              <a:t>semantic contents</a:t>
            </a:r>
            <a:r>
              <a:rPr lang="en-US" smtClean="0"/>
              <a:t> of the image or its objects</a:t>
            </a:r>
            <a:r>
              <a:rPr lang="en-US" smtClean="0"/>
              <a:t>. </a:t>
            </a:r>
            <a:endParaRPr lang="en-US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mtClean="0"/>
              <a:t>Most </a:t>
            </a:r>
            <a:r>
              <a:rPr lang="en-US" smtClean="0"/>
              <a:t>techniques presented in this chapter assume that an image has undergone segmentation. </a:t>
            </a:r>
          </a:p>
          <a:p>
            <a:r>
              <a:rPr lang="en-US" smtClean="0"/>
              <a:t>Goal </a:t>
            </a:r>
            <a:r>
              <a:rPr lang="en-US" smtClean="0"/>
              <a:t>of feature extraction and representation techniques: to convert the segmented objects into representations that </a:t>
            </a:r>
            <a:r>
              <a:rPr lang="en-US" b="1" smtClean="0"/>
              <a:t>better describe </a:t>
            </a:r>
            <a:r>
              <a:rPr lang="en-US" smtClean="0"/>
              <a:t>their main features and attributes. </a:t>
            </a:r>
          </a:p>
          <a:p>
            <a:r>
              <a:rPr lang="en-US" smtClean="0"/>
              <a:t>There </a:t>
            </a:r>
            <a:r>
              <a:rPr lang="en-US" smtClean="0"/>
              <a:t>are </a:t>
            </a:r>
            <a:r>
              <a:rPr lang="en-US" b="1" smtClean="0"/>
              <a:t>many ways </a:t>
            </a:r>
            <a:r>
              <a:rPr lang="en-US" smtClean="0"/>
              <a:t>an image (and its objects) can be represented for image analysis purposes.</a:t>
            </a:r>
            <a:r>
              <a:rPr lang="en-US" b="1" smtClean="0"/>
              <a:t> </a:t>
            </a:r>
          </a:p>
          <a:p>
            <a:r>
              <a:rPr lang="en-US" smtClean="0"/>
              <a:t>In </a:t>
            </a:r>
            <a:r>
              <a:rPr lang="en-US" smtClean="0"/>
              <a:t>this topic we present several representative techniques for feature extraction using a broad range of image properties.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Feature </a:t>
            </a:r>
            <a:r>
              <a:rPr lang="en-US" smtClean="0"/>
              <a:t>vectors and vector spaces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5100" smtClean="0"/>
              <a:t>A </a:t>
            </a:r>
            <a:r>
              <a:rPr lang="en-US" sz="5100" b="1" smtClean="0"/>
              <a:t>feature vector </a:t>
            </a:r>
            <a:r>
              <a:rPr lang="en-US" sz="5100" smtClean="0"/>
              <a:t>is a </a:t>
            </a:r>
            <a:r>
              <a:rPr lang="en-US" sz="5100" b="1" smtClean="0"/>
              <a:t>n×1 array </a:t>
            </a:r>
            <a:r>
              <a:rPr lang="en-US" sz="5100" smtClean="0"/>
              <a:t>that encodes the </a:t>
            </a:r>
            <a:r>
              <a:rPr lang="en-US" sz="5100" i="1" smtClean="0"/>
              <a:t>n</a:t>
            </a:r>
            <a:r>
              <a:rPr lang="en-US" sz="5100" smtClean="0"/>
              <a:t> features (or measurements) of an image or object. </a:t>
            </a:r>
          </a:p>
          <a:p>
            <a:r>
              <a:rPr lang="en-US" smtClean="0"/>
              <a:t>The </a:t>
            </a:r>
            <a:r>
              <a:rPr lang="en-US" smtClean="0"/>
              <a:t>array contents may be: </a:t>
            </a:r>
          </a:p>
          <a:p>
            <a:pPr lvl="1"/>
            <a:r>
              <a:rPr lang="en-US" smtClean="0"/>
              <a:t>Symbolic </a:t>
            </a:r>
            <a:endParaRPr lang="en-US" smtClean="0"/>
          </a:p>
          <a:p>
            <a:pPr lvl="1"/>
            <a:r>
              <a:rPr lang="en-US" b="1" smtClean="0"/>
              <a:t>Numerical </a:t>
            </a:r>
            <a:endParaRPr lang="en-US" b="1" smtClean="0"/>
          </a:p>
          <a:p>
            <a:pPr lvl="1"/>
            <a:r>
              <a:rPr lang="en-US" smtClean="0"/>
              <a:t>Both </a:t>
            </a:r>
            <a:endParaRPr lang="en-US" smtClean="0"/>
          </a:p>
          <a:p>
            <a:r>
              <a:rPr lang="en-US" smtClean="0"/>
              <a:t>The </a:t>
            </a:r>
            <a:r>
              <a:rPr lang="en-US" smtClean="0"/>
              <a:t>FV is a compact representation of an image (or object), which can be associated with the notion of a feature space, an </a:t>
            </a:r>
            <a:r>
              <a:rPr lang="en-US" i="1" smtClean="0"/>
              <a:t>n-dimensional hyperspace </a:t>
            </a:r>
            <a:r>
              <a:rPr lang="en-US" smtClean="0"/>
              <a:t>that allows the visualization (for n &lt; 4) and interpretation of the feature vectors' contents, their relative distances, etc</a:t>
            </a:r>
            <a:r>
              <a:rPr lang="en-US" i="1" smtClean="0"/>
              <a:t>. </a:t>
            </a:r>
          </a:p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92387" y="3900280"/>
            <a:ext cx="28194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Feature </a:t>
            </a:r>
            <a:r>
              <a:rPr lang="en-US" smtClean="0"/>
              <a:t>vectors and vector spaces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Example </a:t>
            </a:r>
            <a:r>
              <a:rPr lang="en-US" smtClean="0"/>
              <a:t>18.1 </a:t>
            </a:r>
            <a:endParaRPr lang="en-US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52472" y="2011846"/>
            <a:ext cx="3848100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5852" y="3443328"/>
            <a:ext cx="6178618" cy="2838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Invariance </a:t>
            </a:r>
            <a:r>
              <a:rPr lang="en-US" smtClean="0"/>
              <a:t>and robustness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It </a:t>
            </a:r>
            <a:r>
              <a:rPr lang="en-US" smtClean="0"/>
              <a:t>is often required that the features used to represent an image be invariant to rotation, scaling, and translation (RST). </a:t>
            </a:r>
          </a:p>
          <a:p>
            <a:r>
              <a:rPr lang="en-US" smtClean="0"/>
              <a:t>RST </a:t>
            </a:r>
            <a:r>
              <a:rPr lang="en-US" smtClean="0"/>
              <a:t>invariance ensures that a machine vision system will still be able to recognize objects even when they appear at different size, position within the image, and angle (relative to a horizontal reference). </a:t>
            </a:r>
          </a:p>
          <a:p>
            <a:r>
              <a:rPr lang="en-US" smtClean="0"/>
              <a:t>Clearly </a:t>
            </a:r>
            <a:r>
              <a:rPr lang="en-US" smtClean="0"/>
              <a:t>this requirement is application-dependent</a:t>
            </a:r>
            <a:r>
              <a:rPr lang="en-US" smtClean="0"/>
              <a:t>. </a:t>
            </a:r>
            <a:endParaRPr lang="en-US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Binary </a:t>
            </a:r>
            <a:r>
              <a:rPr lang="en-US" smtClean="0"/>
              <a:t>object 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Notation</a:t>
            </a:r>
            <a:r>
              <a:rPr lang="en-US" smtClean="0"/>
              <a:t>: </a:t>
            </a:r>
            <a:r>
              <a:rPr lang="en-US" smtClean="0"/>
              <a:t>A </a:t>
            </a:r>
            <a:r>
              <a:rPr lang="en-US" smtClean="0"/>
              <a:t>binary object, in this case, is a connected region within a binary image </a:t>
            </a:r>
            <a:r>
              <a:rPr lang="en-US" i="1" smtClean="0"/>
              <a:t>f(x, y), </a:t>
            </a:r>
            <a:r>
              <a:rPr lang="en-US" smtClean="0"/>
              <a:t>which will be denoted </a:t>
            </a:r>
            <a:r>
              <a:rPr lang="en-US" smtClean="0"/>
              <a:t>as </a:t>
            </a:r>
            <a:r>
              <a:rPr lang="en-US" smtClean="0"/>
              <a:t>O</a:t>
            </a:r>
            <a:r>
              <a:rPr lang="en-US" baseline="-25000" smtClean="0"/>
              <a:t>i</a:t>
            </a:r>
            <a:r>
              <a:rPr lang="en-US" smtClean="0"/>
              <a:t>, </a:t>
            </a:r>
            <a:r>
              <a:rPr lang="en-US" smtClean="0"/>
              <a:t>i &gt; 0. </a:t>
            </a:r>
          </a:p>
          <a:p>
            <a:r>
              <a:rPr lang="en-US" smtClean="0"/>
              <a:t>In </a:t>
            </a:r>
            <a:r>
              <a:rPr lang="en-US" smtClean="0"/>
              <a:t>MATLAB: </a:t>
            </a:r>
            <a:r>
              <a:rPr lang="en-US" b="1" smtClean="0"/>
              <a:t>bwlabel </a:t>
            </a:r>
            <a:endParaRPr lang="en-US" smtClean="0"/>
          </a:p>
          <a:p>
            <a:r>
              <a:rPr lang="en-US" smtClean="0"/>
              <a:t>Mathematically: </a:t>
            </a:r>
          </a:p>
          <a:p>
            <a:endParaRPr lang="en-US" b="1" smtClean="0"/>
          </a:p>
          <a:p>
            <a:pPr>
              <a:buNone/>
            </a:pPr>
            <a:endParaRPr lang="en-US" smtClean="0"/>
          </a:p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81762" y="4956778"/>
            <a:ext cx="5148937" cy="10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Binary </a:t>
            </a:r>
            <a:r>
              <a:rPr lang="en-US" smtClean="0"/>
              <a:t>object 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Area</a:t>
            </a:r>
            <a:r>
              <a:rPr lang="en-US" smtClean="0"/>
              <a:t>: </a:t>
            </a:r>
          </a:p>
          <a:p>
            <a:endParaRPr lang="en-US" smtClean="0"/>
          </a:p>
          <a:p>
            <a:r>
              <a:rPr lang="en-US" smtClean="0"/>
              <a:t>Centroid</a:t>
            </a:r>
            <a:r>
              <a:rPr lang="en-US" smtClean="0"/>
              <a:t>: </a:t>
            </a:r>
          </a:p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50329" y="2541311"/>
            <a:ext cx="3228767" cy="1126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59726" y="3510310"/>
            <a:ext cx="3357770" cy="2597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Binary object 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Axis </a:t>
            </a:r>
            <a:r>
              <a:rPr lang="en-US" smtClean="0"/>
              <a:t>of least second moment</a:t>
            </a:r>
            <a:r>
              <a:rPr lang="en-US" smtClean="0"/>
              <a:t>: </a:t>
            </a:r>
            <a:endParaRPr lang="en-US" smtClean="0"/>
          </a:p>
          <a:p>
            <a:endParaRPr lang="en-US" smtClean="0"/>
          </a:p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05651" y="1948070"/>
            <a:ext cx="2798378" cy="2501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28323" y="4757531"/>
            <a:ext cx="8742209" cy="1295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Binary object 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Projections</a:t>
            </a:r>
            <a:r>
              <a:rPr lang="en-US" smtClean="0"/>
              <a:t>: </a:t>
            </a:r>
          </a:p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15962" y="3152568"/>
            <a:ext cx="230505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48312" y="2531165"/>
            <a:ext cx="4013740" cy="3529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Binary </a:t>
            </a:r>
            <a:r>
              <a:rPr lang="en-US" smtClean="0"/>
              <a:t>object 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Euler </a:t>
            </a:r>
            <a:r>
              <a:rPr lang="en-US" smtClean="0"/>
              <a:t>number: </a:t>
            </a:r>
          </a:p>
          <a:p>
            <a:pPr>
              <a:buNone/>
            </a:pPr>
            <a:r>
              <a:rPr lang="en-US" smtClean="0"/>
              <a:t>		E </a:t>
            </a:r>
            <a:r>
              <a:rPr lang="en-US" smtClean="0"/>
              <a:t>= C - H </a:t>
            </a:r>
          </a:p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92500" y="3190668"/>
            <a:ext cx="5286375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Binary object 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Perimeter</a:t>
            </a:r>
            <a:r>
              <a:rPr lang="en-US" smtClean="0"/>
              <a:t>: </a:t>
            </a:r>
            <a:endParaRPr lang="en-US" smtClean="0"/>
          </a:p>
          <a:p>
            <a:r>
              <a:rPr lang="en-US" smtClean="0"/>
              <a:t>Can </a:t>
            </a:r>
            <a:r>
              <a:rPr lang="en-US" smtClean="0"/>
              <a:t>be calculated by counting the number of object pixels (whose value is 1) that have one or more background pixels (whose value is 0) as their neighbors. </a:t>
            </a:r>
          </a:p>
          <a:p>
            <a:r>
              <a:rPr lang="en-US" smtClean="0"/>
              <a:t>Alternative </a:t>
            </a:r>
            <a:r>
              <a:rPr lang="en-US" smtClean="0"/>
              <a:t>method: extract the edge (contour) of the object and then count the number of pixels in the resulting border. </a:t>
            </a:r>
          </a:p>
          <a:p>
            <a:r>
              <a:rPr lang="en-US" smtClean="0"/>
              <a:t>In </a:t>
            </a:r>
            <a:r>
              <a:rPr lang="en-US" smtClean="0"/>
              <a:t>MATLAB: </a:t>
            </a:r>
            <a:r>
              <a:rPr lang="en-US" b="1" smtClean="0"/>
              <a:t>bwperim </a:t>
            </a:r>
          </a:p>
          <a:p>
            <a:endParaRPr lang="en-US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Binary </a:t>
            </a:r>
            <a:r>
              <a:rPr lang="en-US" smtClean="0"/>
              <a:t>object 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6957656" cy="3310128"/>
          </a:xfrm>
        </p:spPr>
        <p:txBody>
          <a:bodyPr>
            <a:normAutofit fontScale="92500" lnSpcReduction="10000"/>
          </a:bodyPr>
          <a:lstStyle/>
          <a:p>
            <a:r>
              <a:rPr lang="en-US" smtClean="0"/>
              <a:t>Thinness </a:t>
            </a:r>
            <a:r>
              <a:rPr lang="en-US" smtClean="0"/>
              <a:t>ratio: </a:t>
            </a:r>
          </a:p>
          <a:p>
            <a:r>
              <a:rPr lang="en-US" smtClean="0"/>
              <a:t>Often </a:t>
            </a:r>
            <a:r>
              <a:rPr lang="en-US" smtClean="0"/>
              <a:t>used as a measure of roundness. </a:t>
            </a:r>
          </a:p>
          <a:p>
            <a:r>
              <a:rPr lang="en-US" smtClean="0"/>
              <a:t>The </a:t>
            </a:r>
            <a:r>
              <a:rPr lang="en-US" smtClean="0"/>
              <a:t>higher the thinness ratio (as it approaches 1), the more round the object. </a:t>
            </a:r>
          </a:p>
          <a:p>
            <a:r>
              <a:rPr lang="en-US" smtClean="0"/>
              <a:t>Its </a:t>
            </a:r>
            <a:r>
              <a:rPr lang="en-US" smtClean="0"/>
              <a:t>inverse is sometimes called </a:t>
            </a:r>
            <a:r>
              <a:rPr lang="en-US" i="1" smtClean="0"/>
              <a:t>irregularity or compactness ratio</a:t>
            </a:r>
            <a:r>
              <a:rPr lang="en-US" i="1" smtClean="0"/>
              <a:t>. </a:t>
            </a:r>
            <a:endParaRPr lang="en-US" i="1" smtClean="0"/>
          </a:p>
          <a:p>
            <a:endParaRPr lang="en-US" i="1" smtClean="0"/>
          </a:p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23899" y="2461693"/>
            <a:ext cx="1303476" cy="69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8455025" y="3455921"/>
            <a:ext cx="2444750" cy="1519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Binary </a:t>
            </a:r>
            <a:r>
              <a:rPr lang="en-US" smtClean="0"/>
              <a:t>object 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Eccentricity</a:t>
            </a:r>
            <a:r>
              <a:rPr lang="en-US" smtClean="0"/>
              <a:t>: </a:t>
            </a:r>
          </a:p>
          <a:p>
            <a:r>
              <a:rPr lang="en-US" smtClean="0"/>
              <a:t>The </a:t>
            </a:r>
            <a:r>
              <a:rPr lang="en-US" smtClean="0"/>
              <a:t>ratio of the major and minor axes of the object (A/B) . </a:t>
            </a:r>
          </a:p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345237" y="2972594"/>
            <a:ext cx="4391025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Binary object 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Aspect </a:t>
            </a:r>
            <a:r>
              <a:rPr lang="en-US" smtClean="0"/>
              <a:t>ratio: </a:t>
            </a:r>
          </a:p>
          <a:p>
            <a:pPr lvl="1"/>
            <a:r>
              <a:rPr lang="en-US" smtClean="0"/>
              <a:t>The </a:t>
            </a:r>
            <a:r>
              <a:rPr lang="en-US" smtClean="0"/>
              <a:t>ratio of the major and minor axes of the </a:t>
            </a:r>
            <a:r>
              <a:rPr lang="en-US" smtClean="0"/>
              <a:t>object </a:t>
            </a:r>
            <a:endParaRPr lang="en-US" smtClean="0"/>
          </a:p>
          <a:p>
            <a:pPr lvl="1">
              <a:buNone/>
            </a:pPr>
            <a:r>
              <a:rPr lang="en-US" smtClean="0"/>
              <a:t> </a:t>
            </a:r>
            <a:endParaRPr lang="en-US" smtClean="0"/>
          </a:p>
          <a:p>
            <a:r>
              <a:rPr lang="en-US" smtClean="0"/>
              <a:t>Elongatedness </a:t>
            </a:r>
            <a:r>
              <a:rPr lang="en-US" smtClean="0"/>
              <a:t>(a/b): </a:t>
            </a:r>
          </a:p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71071" y="3838783"/>
            <a:ext cx="3256729" cy="839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41704" y="4280572"/>
            <a:ext cx="3657601" cy="1895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Binary object features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Moments</a:t>
            </a:r>
            <a:r>
              <a:rPr lang="en-US" smtClean="0"/>
              <a:t>: </a:t>
            </a:r>
          </a:p>
          <a:p>
            <a:r>
              <a:rPr lang="en-US" smtClean="0"/>
              <a:t>The </a:t>
            </a:r>
            <a:r>
              <a:rPr lang="en-US" smtClean="0"/>
              <a:t>2D </a:t>
            </a:r>
            <a:r>
              <a:rPr lang="en-US" i="1" smtClean="0"/>
              <a:t>moment of order (p + q) </a:t>
            </a:r>
            <a:r>
              <a:rPr lang="en-US" smtClean="0"/>
              <a:t>of a digital image f(x, y) is defined as: </a:t>
            </a:r>
          </a:p>
          <a:p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09624" y="4618372"/>
            <a:ext cx="4358515" cy="1352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Binary object features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Central </a:t>
            </a:r>
            <a:r>
              <a:rPr lang="en-US" smtClean="0"/>
              <a:t>moments: </a:t>
            </a:r>
          </a:p>
          <a:p>
            <a:pPr lvl="1"/>
            <a:r>
              <a:rPr lang="en-US" smtClean="0"/>
              <a:t>Translation-invariant </a:t>
            </a:r>
            <a:r>
              <a:rPr lang="en-US" smtClean="0"/>
              <a:t>equivalent of moments. </a:t>
            </a:r>
          </a:p>
          <a:p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6540" y="3768004"/>
            <a:ext cx="4779895" cy="24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Binary object features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Normalized </a:t>
            </a:r>
            <a:r>
              <a:rPr lang="en-US" smtClean="0"/>
              <a:t>central moments: </a:t>
            </a:r>
          </a:p>
          <a:p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09165" y="3405188"/>
            <a:ext cx="2873652" cy="2690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24672" y="4320209"/>
            <a:ext cx="2420590" cy="484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Binary object features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RST-invariant </a:t>
            </a:r>
            <a:r>
              <a:rPr lang="en-US" smtClean="0"/>
              <a:t>moments [Hu, 1962]: </a:t>
            </a:r>
          </a:p>
          <a:p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13697" y="3280741"/>
            <a:ext cx="8104946" cy="2875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Binary </a:t>
            </a:r>
            <a:r>
              <a:rPr lang="en-US" smtClean="0"/>
              <a:t>object 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MATLAB </a:t>
            </a:r>
            <a:r>
              <a:rPr lang="en-US" b="1" smtClean="0"/>
              <a:t>regionprops function </a:t>
            </a:r>
          </a:p>
          <a:p>
            <a:r>
              <a:rPr lang="en-US" smtClean="0"/>
              <a:t>Measures </a:t>
            </a:r>
            <a:r>
              <a:rPr lang="en-US" smtClean="0"/>
              <a:t>a set of properties for each labeled region </a:t>
            </a:r>
            <a:r>
              <a:rPr lang="en-US" i="1" smtClean="0"/>
              <a:t>L. </a:t>
            </a:r>
          </a:p>
          <a:p>
            <a:r>
              <a:rPr lang="en-US" smtClean="0"/>
              <a:t>One </a:t>
            </a:r>
            <a:r>
              <a:rPr lang="en-US" smtClean="0"/>
              <a:t>or more properties from the list in Table 18.2 (pp. 457-458) can be specified as parameters.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Boundary </a:t>
            </a:r>
            <a:r>
              <a:rPr lang="en-US" smtClean="0"/>
              <a:t>descriptors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Contour-based </a:t>
            </a:r>
            <a:r>
              <a:rPr lang="en-US" smtClean="0"/>
              <a:t>(as opposed to region-based) </a:t>
            </a:r>
          </a:p>
          <a:p>
            <a:r>
              <a:rPr lang="en-US" smtClean="0"/>
              <a:t>Assumptions</a:t>
            </a:r>
            <a:r>
              <a:rPr lang="en-US" smtClean="0"/>
              <a:t>: </a:t>
            </a:r>
          </a:p>
          <a:p>
            <a:pPr lvl="1"/>
            <a:r>
              <a:rPr lang="en-US" smtClean="0"/>
              <a:t>The </a:t>
            </a:r>
            <a:r>
              <a:rPr lang="en-US" smtClean="0"/>
              <a:t>contour (or boundary) of an object can be represented in a convenient coordinate system (Cartesian, polar, or tangential) and rely exclusively on boundary pixels to describe the region or object. </a:t>
            </a:r>
          </a:p>
          <a:p>
            <a:pPr lvl="1"/>
            <a:r>
              <a:rPr lang="en-US" smtClean="0"/>
              <a:t>The </a:t>
            </a:r>
            <a:r>
              <a:rPr lang="en-US" smtClean="0"/>
              <a:t>pixels belonging to the boundary of the object (or region) can be traced, starting from any background pixel, using an algorithm known as </a:t>
            </a:r>
            <a:r>
              <a:rPr lang="en-US" i="1" smtClean="0"/>
              <a:t>bug tracing.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Boundary descriptors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mtClean="0"/>
              <a:t>The </a:t>
            </a:r>
            <a:r>
              <a:rPr lang="en-US" i="1" smtClean="0"/>
              <a:t>bug tracing </a:t>
            </a:r>
            <a:r>
              <a:rPr lang="en-US" smtClean="0"/>
              <a:t>algorithm:</a:t>
            </a:r>
            <a:r>
              <a:rPr lang="en-US" i="1" smtClean="0"/>
              <a:t> </a:t>
            </a:r>
          </a:p>
          <a:p>
            <a:pPr lvl="1"/>
            <a:r>
              <a:rPr lang="en-US" smtClean="0"/>
              <a:t>repeat </a:t>
            </a:r>
            <a:endParaRPr lang="en-US" smtClean="0"/>
          </a:p>
          <a:p>
            <a:pPr lvl="2"/>
            <a:r>
              <a:rPr lang="en-US" smtClean="0"/>
              <a:t>as </a:t>
            </a:r>
            <a:r>
              <a:rPr lang="en-US" smtClean="0"/>
              <a:t>soon as the conceptual bug crosses into a boundary pixel, it makes a left turn and moves to the next pixel; </a:t>
            </a:r>
          </a:p>
          <a:p>
            <a:pPr lvl="2"/>
            <a:r>
              <a:rPr lang="en-US" smtClean="0"/>
              <a:t>if </a:t>
            </a:r>
            <a:r>
              <a:rPr lang="en-US" smtClean="0"/>
              <a:t>that pixel is a boundary pixel, the bug makes another left turn</a:t>
            </a:r>
            <a:r>
              <a:rPr lang="en-US" smtClean="0"/>
              <a:t>; </a:t>
            </a:r>
            <a:endParaRPr lang="en-US" smtClean="0"/>
          </a:p>
          <a:p>
            <a:pPr lvl="2">
              <a:buNone/>
            </a:pPr>
            <a:r>
              <a:rPr lang="en-US" smtClean="0"/>
              <a:t>	</a:t>
            </a:r>
            <a:r>
              <a:rPr lang="en-US" smtClean="0"/>
              <a:t>otherwise</a:t>
            </a:r>
            <a:r>
              <a:rPr lang="en-US" smtClean="0"/>
              <a:t>, it turns right; </a:t>
            </a:r>
          </a:p>
          <a:p>
            <a:pPr lvl="1"/>
            <a:r>
              <a:rPr lang="en-US" smtClean="0"/>
              <a:t>until </a:t>
            </a:r>
            <a:r>
              <a:rPr lang="en-US" smtClean="0"/>
              <a:t>the bug is back to the starting point. </a:t>
            </a:r>
          </a:p>
          <a:p>
            <a:r>
              <a:rPr lang="en-US" smtClean="0"/>
              <a:t>As </a:t>
            </a:r>
            <a:r>
              <a:rPr lang="en-US" smtClean="0"/>
              <a:t>the conceptual bug follows the contour, it builds a list of the coordinates of the boundary pixels being visited.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Boundary descriptors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smtClean="0"/>
              <a:t>Example </a:t>
            </a:r>
            <a:r>
              <a:rPr lang="en-US" sz="2800" smtClean="0"/>
              <a:t>18.2 The </a:t>
            </a:r>
            <a:r>
              <a:rPr lang="en-US" sz="2800" i="1" smtClean="0"/>
              <a:t>bug tracing algorithm in MATLAB (</a:t>
            </a:r>
            <a:r>
              <a:rPr lang="en-US" sz="2800" b="1" i="1" smtClean="0"/>
              <a:t>bwtraceboundary): </a:t>
            </a:r>
          </a:p>
          <a:p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38035" y="3974487"/>
            <a:ext cx="5828885" cy="2142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Boundary descriptors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Example </a:t>
            </a:r>
            <a:r>
              <a:rPr lang="en-US" smtClean="0"/>
              <a:t>18.3 Boundary tracing in MATLAB (</a:t>
            </a:r>
            <a:r>
              <a:rPr lang="en-US" b="1" smtClean="0"/>
              <a:t>bwboundaries): </a:t>
            </a:r>
          </a:p>
          <a:p>
            <a:pPr>
              <a:buNone/>
            </a:pPr>
            <a:endParaRPr 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05878" y="3833006"/>
            <a:ext cx="7381461" cy="2204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Chain </a:t>
            </a:r>
            <a:r>
              <a:rPr lang="en-US" smtClean="0"/>
              <a:t>code, Freeman code, and shape number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A </a:t>
            </a:r>
            <a:r>
              <a:rPr lang="en-US" smtClean="0"/>
              <a:t>chain code is a boundary representation technique by which a contour is represented as a sequence of straight-line segments of specified length (usually 1) and direction. </a:t>
            </a:r>
          </a:p>
          <a:p>
            <a:r>
              <a:rPr lang="en-US" smtClean="0"/>
              <a:t>The </a:t>
            </a:r>
            <a:r>
              <a:rPr lang="en-US" smtClean="0"/>
              <a:t>simplest chain code mechanism (crack code) consists of assigning a number to the direction followed by a bug tracking algorithm as follows: right (0), down (1), left (2), and up (3). </a:t>
            </a:r>
          </a:p>
          <a:p>
            <a:r>
              <a:rPr lang="en-US" smtClean="0"/>
              <a:t>Assuming </a:t>
            </a:r>
            <a:r>
              <a:rPr lang="en-US" smtClean="0"/>
              <a:t>that the total number of boundary points is p (the perimeter of the contour), the array C, where C(p) = 0, 1, 2, 3, contains the chain code of the boundary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Chain code, Freeman code, and shape number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3512091" cy="3310128"/>
          </a:xfrm>
        </p:spPr>
        <p:txBody>
          <a:bodyPr>
            <a:normAutofit fontScale="92500" lnSpcReduction="10000"/>
          </a:bodyPr>
          <a:lstStyle/>
          <a:p>
            <a:r>
              <a:rPr lang="en-US" smtClean="0"/>
              <a:t>Freeman </a:t>
            </a:r>
            <a:r>
              <a:rPr lang="en-US" smtClean="0"/>
              <a:t>code: a modified version of the basic chain code, using eight directions instead of four. </a:t>
            </a:r>
          </a:p>
          <a:p>
            <a:r>
              <a:rPr lang="en-US" smtClean="0"/>
              <a:t>Example</a:t>
            </a:r>
            <a:r>
              <a:rPr lang="en-US" smtClean="0"/>
              <a:t>: </a:t>
            </a:r>
          </a:p>
          <a:p>
            <a:endParaRPr lang="en-US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512183" y="2560638"/>
            <a:ext cx="3466704" cy="3416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Chain code, Freeman code, and shape number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Shape </a:t>
            </a:r>
            <a:r>
              <a:rPr lang="en-US" smtClean="0"/>
              <a:t>number: normalized, rotation-invariant, equivalent of the chain code. </a:t>
            </a:r>
          </a:p>
          <a:p>
            <a:endParaRPr lang="en-US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90361" y="3809794"/>
            <a:ext cx="8189082" cy="2060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Signatures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1D </a:t>
            </a:r>
            <a:r>
              <a:rPr lang="en-US" smtClean="0"/>
              <a:t>representation of a boundary, usually obtained by representing the boundary in a polar coordinate system and computing the distance r between each pixel along the boundary and the centroid of the region, and the angle θ subtended between a straight line connecting the boundary pixel to the centroid and a horizontal reference. </a:t>
            </a:r>
          </a:p>
          <a:p>
            <a:r>
              <a:rPr lang="en-US" smtClean="0"/>
              <a:t>The </a:t>
            </a:r>
            <a:r>
              <a:rPr lang="en-US" smtClean="0"/>
              <a:t>resulting plot provides a concise representation of the boundary, that is RT-invariant, but </a:t>
            </a:r>
            <a:r>
              <a:rPr lang="en-US" b="1" smtClean="0"/>
              <a:t>not scaling-invariant.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Signatures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Examples</a:t>
            </a:r>
            <a:r>
              <a:rPr lang="en-US" smtClean="0"/>
              <a:t>: </a:t>
            </a:r>
          </a:p>
          <a:p>
            <a:endParaRPr lang="en-US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60305" y="2747135"/>
            <a:ext cx="5943600" cy="345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Signatures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Effects </a:t>
            </a:r>
            <a:r>
              <a:rPr lang="en-US" smtClean="0"/>
              <a:t>of noise: </a:t>
            </a:r>
          </a:p>
          <a:p>
            <a:endParaRPr lang="en-US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50922" y="3133051"/>
            <a:ext cx="6714713" cy="2981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Fourier </a:t>
            </a:r>
            <a:r>
              <a:rPr lang="en-US" smtClean="0"/>
              <a:t>descriptors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Basic </a:t>
            </a:r>
            <a:r>
              <a:rPr lang="en-US" smtClean="0"/>
              <a:t>idea: to traverse the pixels belonging to a boundary, starting from an arbitrary point, and record their coordinates. </a:t>
            </a:r>
          </a:p>
          <a:p>
            <a:r>
              <a:rPr lang="en-US" smtClean="0"/>
              <a:t>Each </a:t>
            </a:r>
            <a:r>
              <a:rPr lang="en-US" smtClean="0"/>
              <a:t>value in the resulting list of coordinate pairs </a:t>
            </a:r>
            <a:r>
              <a:rPr lang="en-US" smtClean="0"/>
              <a:t>(</a:t>
            </a:r>
            <a:r>
              <a:rPr lang="en-US" smtClean="0"/>
              <a:t>x</a:t>
            </a:r>
            <a:r>
              <a:rPr lang="en-US" baseline="-25000" smtClean="0"/>
              <a:t>0</a:t>
            </a:r>
            <a:r>
              <a:rPr lang="en-US" smtClean="0"/>
              <a:t> ,y</a:t>
            </a:r>
            <a:r>
              <a:rPr lang="en-US" baseline="-25000" smtClean="0"/>
              <a:t>0</a:t>
            </a:r>
            <a:r>
              <a:rPr lang="en-US" smtClean="0"/>
              <a:t>), </a:t>
            </a:r>
            <a:r>
              <a:rPr lang="en-US" smtClean="0"/>
              <a:t>(</a:t>
            </a:r>
            <a:r>
              <a:rPr lang="en-US" smtClean="0"/>
              <a:t>x</a:t>
            </a:r>
            <a:r>
              <a:rPr lang="en-US" baseline="-25000" smtClean="0"/>
              <a:t>1</a:t>
            </a:r>
            <a:r>
              <a:rPr lang="en-US" smtClean="0"/>
              <a:t> </a:t>
            </a:r>
            <a:r>
              <a:rPr lang="en-US" smtClean="0"/>
              <a:t>,</a:t>
            </a:r>
            <a:r>
              <a:rPr lang="en-US" smtClean="0"/>
              <a:t>y</a:t>
            </a:r>
            <a:r>
              <a:rPr lang="en-US" baseline="-25000" smtClean="0"/>
              <a:t>1</a:t>
            </a:r>
            <a:r>
              <a:rPr lang="en-US" smtClean="0"/>
              <a:t>), </a:t>
            </a:r>
            <a:r>
              <a:rPr lang="en-US" smtClean="0"/>
              <a:t>…, </a:t>
            </a:r>
            <a:endParaRPr lang="en-US" smtClean="0"/>
          </a:p>
          <a:p>
            <a:pPr>
              <a:buNone/>
            </a:pPr>
            <a:r>
              <a:rPr lang="en-US" smtClean="0"/>
              <a:t>	</a:t>
            </a:r>
            <a:r>
              <a:rPr lang="en-US" smtClean="0"/>
              <a:t>(x</a:t>
            </a:r>
            <a:r>
              <a:rPr lang="en-US" baseline="-25000" smtClean="0"/>
              <a:t>k-1</a:t>
            </a:r>
            <a:r>
              <a:rPr lang="en-US" smtClean="0"/>
              <a:t> </a:t>
            </a:r>
            <a:r>
              <a:rPr lang="en-US" smtClean="0"/>
              <a:t>,</a:t>
            </a:r>
            <a:r>
              <a:rPr lang="en-US" smtClean="0"/>
              <a:t>y</a:t>
            </a:r>
            <a:r>
              <a:rPr lang="en-US" baseline="-25000" smtClean="0"/>
              <a:t>k-1</a:t>
            </a:r>
            <a:r>
              <a:rPr lang="en-US" smtClean="0"/>
              <a:t>) </a:t>
            </a:r>
            <a:r>
              <a:rPr lang="en-US" smtClean="0"/>
              <a:t>is then interpreted as a complex </a:t>
            </a:r>
            <a:r>
              <a:rPr lang="en-US" smtClean="0"/>
              <a:t>number </a:t>
            </a:r>
            <a:r>
              <a:rPr lang="en-US" smtClean="0"/>
              <a:t>x</a:t>
            </a:r>
            <a:r>
              <a:rPr lang="en-US" baseline="-25000" smtClean="0"/>
              <a:t>k</a:t>
            </a:r>
            <a:r>
              <a:rPr lang="en-US" smtClean="0"/>
              <a:t> </a:t>
            </a:r>
            <a:r>
              <a:rPr lang="en-US" smtClean="0"/>
              <a:t>+ </a:t>
            </a:r>
            <a:r>
              <a:rPr lang="en-US" smtClean="0"/>
              <a:t>j </a:t>
            </a:r>
            <a:r>
              <a:rPr lang="en-US" smtClean="0"/>
              <a:t>y</a:t>
            </a:r>
            <a:r>
              <a:rPr lang="en-US" baseline="-25000" smtClean="0"/>
              <a:t>k</a:t>
            </a:r>
            <a:r>
              <a:rPr lang="en-US" i="1" smtClean="0"/>
              <a:t>, </a:t>
            </a:r>
            <a:r>
              <a:rPr lang="en-US" i="1" smtClean="0"/>
              <a:t>for k = 0, 1, …, K-1. </a:t>
            </a:r>
          </a:p>
          <a:p>
            <a:r>
              <a:rPr lang="en-US" smtClean="0"/>
              <a:t>The </a:t>
            </a:r>
            <a:r>
              <a:rPr lang="en-US" smtClean="0"/>
              <a:t>Discrete Fourier Transform (DFT) of this list of complex numbers is the </a:t>
            </a:r>
            <a:r>
              <a:rPr lang="en-US" i="1" smtClean="0"/>
              <a:t>Fourier descriptor of the boundary. </a:t>
            </a:r>
          </a:p>
          <a:p>
            <a:r>
              <a:rPr lang="en-US" smtClean="0"/>
              <a:t>The </a:t>
            </a:r>
            <a:r>
              <a:rPr lang="en-US" smtClean="0"/>
              <a:t>inverse DFT restores the original boundary.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Fourier descriptors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Basic </a:t>
            </a:r>
            <a:r>
              <a:rPr lang="en-US" smtClean="0"/>
              <a:t>idea </a:t>
            </a:r>
          </a:p>
          <a:p>
            <a:endParaRPr lang="en-US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99490" y="2873031"/>
            <a:ext cx="3819525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Fourier descriptors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Interesting </a:t>
            </a:r>
            <a:r>
              <a:rPr lang="en-US" smtClean="0"/>
              <a:t>property: contour can be encoded using very few values (coefficients). </a:t>
            </a:r>
          </a:p>
          <a:p>
            <a:r>
              <a:rPr lang="en-US" smtClean="0"/>
              <a:t>Example </a:t>
            </a:r>
            <a:r>
              <a:rPr lang="en-US" smtClean="0"/>
              <a:t>18.4: </a:t>
            </a:r>
          </a:p>
          <a:p>
            <a:endParaRPr lang="en-US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748953" y="2560638"/>
            <a:ext cx="3583593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Histogram-based </a:t>
            </a:r>
            <a:r>
              <a:rPr lang="en-US" smtClean="0"/>
              <a:t>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Average </a:t>
            </a:r>
            <a:r>
              <a:rPr lang="en-US" smtClean="0"/>
              <a:t>gray value: </a:t>
            </a:r>
          </a:p>
          <a:p>
            <a:endParaRPr lang="en-US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72074" y="2995613"/>
            <a:ext cx="2143125" cy="1005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28760" y="4520027"/>
            <a:ext cx="3273135" cy="90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Histogram-based 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Standard </a:t>
            </a:r>
            <a:r>
              <a:rPr lang="en-US" smtClean="0"/>
              <a:t>deviation: 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Skew</a:t>
            </a:r>
            <a:r>
              <a:rPr lang="en-US" smtClean="0"/>
              <a:t>: </a:t>
            </a:r>
          </a:p>
          <a:p>
            <a:endParaRPr lang="en-US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6833" y="3233738"/>
            <a:ext cx="3233324" cy="1208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70670" y="4600195"/>
            <a:ext cx="4372182" cy="131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Histogram-based 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Energy</a:t>
            </a:r>
            <a:r>
              <a:rPr lang="en-US" smtClean="0"/>
              <a:t>: </a:t>
            </a:r>
          </a:p>
          <a:p>
            <a:endParaRPr lang="en-US" smtClean="0"/>
          </a:p>
          <a:p>
            <a:r>
              <a:rPr lang="en-US" smtClean="0"/>
              <a:t>Entropy</a:t>
            </a:r>
            <a:r>
              <a:rPr lang="en-US" smtClean="0"/>
              <a:t>: </a:t>
            </a:r>
          </a:p>
          <a:p>
            <a:endParaRPr lang="en-US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98367" y="2507973"/>
            <a:ext cx="3008450" cy="125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10996" y="4010233"/>
            <a:ext cx="4485083" cy="122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Texture </a:t>
            </a:r>
            <a:r>
              <a:rPr lang="en-US" smtClean="0"/>
              <a:t>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Texture </a:t>
            </a:r>
            <a:r>
              <a:rPr lang="en-US" smtClean="0"/>
              <a:t>can be a powerful descriptor of an image (or one of its regions). </a:t>
            </a:r>
          </a:p>
          <a:p>
            <a:r>
              <a:rPr lang="en-US" smtClean="0"/>
              <a:t>Although </a:t>
            </a:r>
            <a:r>
              <a:rPr lang="en-US" smtClean="0"/>
              <a:t>there is not a universally agreed upon definition of texture, image processing techniques usually associate the notion of texture with image (or region) properties such as </a:t>
            </a:r>
            <a:r>
              <a:rPr lang="en-US" i="1" smtClean="0"/>
              <a:t>smoothness </a:t>
            </a:r>
            <a:r>
              <a:rPr lang="en-US" smtClean="0"/>
              <a:t>(or its opposite, roughness), coarseness, and regularity.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Texture 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Texture </a:t>
            </a:r>
            <a:r>
              <a:rPr lang="en-US" smtClean="0"/>
              <a:t>– examples: </a:t>
            </a:r>
          </a:p>
          <a:p>
            <a:endParaRPr lang="en-US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28143" y="2570922"/>
            <a:ext cx="6281980" cy="2000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49092" y="4608857"/>
            <a:ext cx="7486650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Texture 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Texture </a:t>
            </a:r>
            <a:r>
              <a:rPr lang="en-US" smtClean="0"/>
              <a:t>– Example 18.5: </a:t>
            </a:r>
          </a:p>
          <a:p>
            <a:endParaRPr lang="en-US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18371" y="2676939"/>
            <a:ext cx="5200204" cy="1656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72736" y="3251960"/>
            <a:ext cx="2359507" cy="84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39166" y="4394752"/>
            <a:ext cx="743902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Texture 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Gray-level </a:t>
            </a:r>
            <a:r>
              <a:rPr lang="en-US" smtClean="0"/>
              <a:t>co-occurrence matrix (GLCM) </a:t>
            </a:r>
          </a:p>
          <a:p>
            <a:r>
              <a:rPr lang="en-US" smtClean="0"/>
              <a:t>Displacement </a:t>
            </a:r>
            <a:r>
              <a:rPr lang="en-US" smtClean="0"/>
              <a:t>vector: </a:t>
            </a:r>
          </a:p>
          <a:p>
            <a:r>
              <a:rPr lang="en-US" smtClean="0"/>
              <a:t>Example </a:t>
            </a:r>
            <a:r>
              <a:rPr lang="en-US" smtClean="0"/>
              <a:t>[d=(0,1)]: </a:t>
            </a:r>
          </a:p>
          <a:p>
            <a:endParaRPr lang="en-US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38410" y="3378302"/>
            <a:ext cx="1755085" cy="491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3190" y="3929683"/>
            <a:ext cx="3616287" cy="2245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Texture 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Gray-level </a:t>
            </a:r>
            <a:r>
              <a:rPr lang="en-US" smtClean="0"/>
              <a:t>co-occurrence matrix (GLCM) </a:t>
            </a:r>
          </a:p>
          <a:p>
            <a:r>
              <a:rPr lang="en-US" smtClean="0"/>
              <a:t>Another </a:t>
            </a:r>
            <a:r>
              <a:rPr lang="en-US" smtClean="0"/>
              <a:t>example [d=(1,0)]: </a:t>
            </a:r>
          </a:p>
          <a:p>
            <a:endParaRPr lang="en-US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18852" y="3492985"/>
            <a:ext cx="4003696" cy="2391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Texture 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Normalized </a:t>
            </a:r>
            <a:r>
              <a:rPr lang="en-US" smtClean="0"/>
              <a:t>GLCM and associated features: </a:t>
            </a:r>
          </a:p>
          <a:p>
            <a:endParaRPr lang="en-US"/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11646" y="2494377"/>
            <a:ext cx="3829850" cy="3781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31191" y="3827807"/>
            <a:ext cx="3048222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Texture 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/>
              <a:t>Texture </a:t>
            </a:r>
            <a:r>
              <a:rPr lang="en-US" sz="2800" smtClean="0"/>
              <a:t>descriptors based on GLCM Example 18.6: </a:t>
            </a:r>
          </a:p>
          <a:p>
            <a:endParaRPr lang="en-US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81740" y="3006031"/>
            <a:ext cx="4518990" cy="1439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41638" y="4508224"/>
            <a:ext cx="8058150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Hands-on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Tutorial </a:t>
            </a:r>
            <a:r>
              <a:rPr lang="en-US" smtClean="0"/>
              <a:t>18.1: Feature extraction and representation (page 470) </a:t>
            </a:r>
          </a:p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PTER 5- Image sensing and acquisition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5- Image sensing and acquisition</Template>
  <TotalTime>583</TotalTime>
  <Words>1333</Words>
  <Application>Microsoft Office PowerPoint</Application>
  <PresentationFormat>Custom</PresentationFormat>
  <Paragraphs>153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CHAPTER 5- Image sensing and acquisition</vt:lpstr>
      <vt:lpstr>CHAPTER 18</vt:lpstr>
      <vt:lpstr>WHAT WILL WE LEARN?</vt:lpstr>
      <vt:lpstr>Introduction </vt:lpstr>
      <vt:lpstr>Introduction </vt:lpstr>
      <vt:lpstr>Feature vectors and vector spaces </vt:lpstr>
      <vt:lpstr>Feature vectors and vector spaces </vt:lpstr>
      <vt:lpstr>Invariance and robustness </vt:lpstr>
      <vt:lpstr>Binary object features </vt:lpstr>
      <vt:lpstr>Binary object features </vt:lpstr>
      <vt:lpstr>Binary object features </vt:lpstr>
      <vt:lpstr>Binary object features </vt:lpstr>
      <vt:lpstr>Binary object features </vt:lpstr>
      <vt:lpstr>Binary object features </vt:lpstr>
      <vt:lpstr>Binary object features </vt:lpstr>
      <vt:lpstr>Binary object features </vt:lpstr>
      <vt:lpstr>Binary object features </vt:lpstr>
      <vt:lpstr>Binary object features </vt:lpstr>
      <vt:lpstr>Binary object features </vt:lpstr>
      <vt:lpstr>Binary object features </vt:lpstr>
      <vt:lpstr>Binary object features </vt:lpstr>
      <vt:lpstr>Binary object features </vt:lpstr>
      <vt:lpstr>Boundary descriptors </vt:lpstr>
      <vt:lpstr>Boundary descriptors </vt:lpstr>
      <vt:lpstr>Boundary descriptors </vt:lpstr>
      <vt:lpstr>Boundary descriptors </vt:lpstr>
      <vt:lpstr>Chain code, Freeman code, and shape number </vt:lpstr>
      <vt:lpstr>Chain code, Freeman code, and shape number</vt:lpstr>
      <vt:lpstr>Chain code, Freeman code, and shape number</vt:lpstr>
      <vt:lpstr>Signatures</vt:lpstr>
      <vt:lpstr>Signatures</vt:lpstr>
      <vt:lpstr>Signatures</vt:lpstr>
      <vt:lpstr>Fourier descriptors</vt:lpstr>
      <vt:lpstr>Fourier descriptors</vt:lpstr>
      <vt:lpstr>Fourier descriptors</vt:lpstr>
      <vt:lpstr>Histogram-based features </vt:lpstr>
      <vt:lpstr>Histogram-based features </vt:lpstr>
      <vt:lpstr>Histogram-based features </vt:lpstr>
      <vt:lpstr>Texture features </vt:lpstr>
      <vt:lpstr>Texture features </vt:lpstr>
      <vt:lpstr>Texture features </vt:lpstr>
      <vt:lpstr>Texture features </vt:lpstr>
      <vt:lpstr>Texture features </vt:lpstr>
      <vt:lpstr>Texture features </vt:lpstr>
      <vt:lpstr>Texture features </vt:lpstr>
      <vt:lpstr>Hands-on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</dc:title>
  <dc:creator>Thuy Nguyen</dc:creator>
  <cp:lastModifiedBy>Thuy Nguyen</cp:lastModifiedBy>
  <cp:revision>18</cp:revision>
  <dcterms:created xsi:type="dcterms:W3CDTF">2017-06-16T14:25:16Z</dcterms:created>
  <dcterms:modified xsi:type="dcterms:W3CDTF">2017-06-17T00:09:06Z</dcterms:modified>
</cp:coreProperties>
</file>
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9144000"/>
  <p:embeddedFontLst>
    <p:embeddedFont>
      <p:font typeface="Garamon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http://customooxmlschemas.google.com/">
      <go:slidesCustomData xmlns:go="http://customooxmlschemas.google.com/" r:id="rId42" roundtripDataSignature="AMtx7mjlT0xWhQkCngW7bCulOFOeo9p9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Garamond-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Garamon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Garamond-bold.fntdata"/><Relationship Id="rId16" Type="http://schemas.openxmlformats.org/officeDocument/2006/relationships/slide" Target="slides/slide11.xml"/><Relationship Id="rId38" Type="http://schemas.openxmlformats.org/officeDocument/2006/relationships/font" Target="fonts/Garamon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34"/>
          <p:cNvGrpSpPr/>
          <p:nvPr/>
        </p:nvGrpSpPr>
        <p:grpSpPr>
          <a:xfrm>
            <a:off x="-16934" y="0"/>
            <a:ext cx="12231160" cy="6856214"/>
            <a:chOff x="-16934" y="0"/>
            <a:chExt cx="12231160" cy="6856214"/>
          </a:xfrm>
        </p:grpSpPr>
        <p:pic>
          <p:nvPicPr>
            <p:cNvPr descr="HD-PanelTitleR1.png" id="18" name="Google Shape;18;p3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9" name="Google Shape;19;p34"/>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Title-UniformTrim.png" id="20" name="Google Shape;20;p34"/>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21" name="Google Shape;21;p34"/>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sp>
        <p:nvSpPr>
          <p:cNvPr id="22" name="Google Shape;22;p34"/>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4"/>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4" name="Google Shape;24;p34"/>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34"/>
          <p:cNvCxnSpPr/>
          <p:nvPr/>
        </p:nvCxnSpPr>
        <p:spPr>
          <a:xfrm>
            <a:off x="2692399" y="3522131"/>
            <a:ext cx="681566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cxnSp>
        <p:nvCxnSpPr>
          <p:cNvPr id="29" name="Google Shape;29;p35"/>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0" name="Google Shape;30;p3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800"/>
              <a:buFont typeface="Arial"/>
              <a:buNone/>
              <a:defRPr sz="48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91490" lvl="0" marL="457200" algn="l">
              <a:spcBef>
                <a:spcPts val="720"/>
              </a:spcBef>
              <a:spcAft>
                <a:spcPts val="0"/>
              </a:spcAft>
              <a:buSzPts val="4140"/>
              <a:buChar char="•"/>
              <a:defRPr sz="3600"/>
            </a:lvl1pPr>
            <a:lvl2pPr indent="-462280" lvl="1" marL="914400" algn="l">
              <a:spcBef>
                <a:spcPts val="640"/>
              </a:spcBef>
              <a:spcAft>
                <a:spcPts val="0"/>
              </a:spcAft>
              <a:buSzPts val="3680"/>
              <a:buChar char="•"/>
              <a:defRPr sz="3200"/>
            </a:lvl2pPr>
            <a:lvl3pPr indent="-433069" lvl="2" marL="1371600" algn="l">
              <a:spcBef>
                <a:spcPts val="600"/>
              </a:spcBef>
              <a:spcAft>
                <a:spcPts val="0"/>
              </a:spcAft>
              <a:buSzPts val="3220"/>
              <a:buChar char="•"/>
              <a:defRPr sz="2800"/>
            </a:lvl3pPr>
            <a:lvl4pPr indent="-403860" lvl="3" marL="1828800" algn="l">
              <a:spcBef>
                <a:spcPts val="600"/>
              </a:spcBef>
              <a:spcAft>
                <a:spcPts val="0"/>
              </a:spcAft>
              <a:buSzPts val="2760"/>
              <a:buChar char="•"/>
              <a:defRPr sz="2400"/>
            </a:lvl4pPr>
            <a:lvl5pPr indent="-374650" lvl="4" marL="2286000" algn="l">
              <a:spcBef>
                <a:spcPts val="600"/>
              </a:spcBef>
              <a:spcAft>
                <a:spcPts val="0"/>
              </a:spcAft>
              <a:buSzPts val="2300"/>
              <a:buChar char="•"/>
              <a:defRPr sz="2000"/>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2" name="Google Shape;32;p3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cxnSp>
        <p:nvCxnSpPr>
          <p:cNvPr id="36" name="Google Shape;36;p36"/>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7" name="Google Shape;37;p3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Arial"/>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462280" lvl="0" marL="457200" algn="l">
              <a:spcBef>
                <a:spcPts val="640"/>
              </a:spcBef>
              <a:spcAft>
                <a:spcPts val="0"/>
              </a:spcAft>
              <a:buSzPts val="3680"/>
              <a:buChar char="•"/>
              <a:defRPr sz="3200"/>
            </a:lvl1pPr>
            <a:lvl2pPr indent="-433069" lvl="1" marL="914400" algn="l">
              <a:spcBef>
                <a:spcPts val="600"/>
              </a:spcBef>
              <a:spcAft>
                <a:spcPts val="0"/>
              </a:spcAft>
              <a:buSzPts val="3220"/>
              <a:buChar char="•"/>
              <a:defRPr sz="2800"/>
            </a:lvl2pPr>
            <a:lvl3pPr indent="-403860" lvl="2" marL="1371600" algn="l">
              <a:spcBef>
                <a:spcPts val="600"/>
              </a:spcBef>
              <a:spcAft>
                <a:spcPts val="0"/>
              </a:spcAft>
              <a:buSzPts val="2760"/>
              <a:buChar char="•"/>
              <a:defRPr sz="2400"/>
            </a:lvl3pPr>
            <a:lvl4pPr indent="-374650" lvl="3" marL="1828800" algn="l">
              <a:spcBef>
                <a:spcPts val="600"/>
              </a:spcBef>
              <a:spcAft>
                <a:spcPts val="0"/>
              </a:spcAft>
              <a:buSzPts val="2300"/>
              <a:buChar char="•"/>
              <a:defRPr sz="2000"/>
            </a:lvl4pPr>
            <a:lvl5pPr indent="-360045" lvl="4" marL="2286000" algn="l">
              <a:spcBef>
                <a:spcPts val="600"/>
              </a:spcBef>
              <a:spcAft>
                <a:spcPts val="0"/>
              </a:spcAft>
              <a:buSzPts val="2070"/>
              <a:buChar char="•"/>
              <a:defRPr sz="1800"/>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9" name="Google Shape;39;p36"/>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462280" lvl="0" marL="457200" algn="l">
              <a:spcBef>
                <a:spcPts val="640"/>
              </a:spcBef>
              <a:spcAft>
                <a:spcPts val="0"/>
              </a:spcAft>
              <a:buSzPts val="3680"/>
              <a:buChar char="•"/>
              <a:defRPr sz="3200"/>
            </a:lvl1pPr>
            <a:lvl2pPr indent="-433069" lvl="1" marL="914400" algn="l">
              <a:spcBef>
                <a:spcPts val="600"/>
              </a:spcBef>
              <a:spcAft>
                <a:spcPts val="0"/>
              </a:spcAft>
              <a:buSzPts val="3220"/>
              <a:buChar char="•"/>
              <a:defRPr sz="2800"/>
            </a:lvl2pPr>
            <a:lvl3pPr indent="-403860" lvl="2" marL="1371600" algn="l">
              <a:spcBef>
                <a:spcPts val="600"/>
              </a:spcBef>
              <a:spcAft>
                <a:spcPts val="0"/>
              </a:spcAft>
              <a:buSzPts val="2760"/>
              <a:buChar char="•"/>
              <a:defRPr sz="2400"/>
            </a:lvl3pPr>
            <a:lvl4pPr indent="-374650" lvl="3" marL="1828800" algn="l">
              <a:spcBef>
                <a:spcPts val="600"/>
              </a:spcBef>
              <a:spcAft>
                <a:spcPts val="0"/>
              </a:spcAft>
              <a:buSzPts val="2300"/>
              <a:buChar char="•"/>
              <a:defRPr sz="2000"/>
            </a:lvl4pPr>
            <a:lvl5pPr indent="-360045" lvl="4" marL="2286000" algn="l">
              <a:spcBef>
                <a:spcPts val="600"/>
              </a:spcBef>
              <a:spcAft>
                <a:spcPts val="0"/>
              </a:spcAft>
              <a:buSzPts val="2070"/>
              <a:buChar char="•"/>
              <a:defRPr sz="1800"/>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40" name="Google Shape;40;p3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3" name="Shape 43"/>
        <p:cNvGrpSpPr/>
        <p:nvPr/>
      </p:nvGrpSpPr>
      <p:grpSpPr>
        <a:xfrm>
          <a:off x="0" y="0"/>
          <a:ext cx="0" cy="0"/>
          <a:chOff x="0" y="0"/>
          <a:chExt cx="0" cy="0"/>
        </a:xfrm>
      </p:grpSpPr>
      <p:sp>
        <p:nvSpPr>
          <p:cNvPr id="44" name="Google Shape;44;p3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38"/>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Garamond"/>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8"/>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51" name="Google Shape;51;p3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4" name="Google Shape;54;p38"/>
          <p:cNvCxnSpPr/>
          <p:nvPr/>
        </p:nvCxnSpPr>
        <p:spPr>
          <a:xfrm>
            <a:off x="2012723" y="3710585"/>
            <a:ext cx="816338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3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8" name="Google Shape;58;p39"/>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9" name="Google Shape;59;p39"/>
          <p:cNvSpPr txBox="1"/>
          <p:nvPr>
            <p:ph idx="3" type="body"/>
          </p:nvPr>
        </p:nvSpPr>
        <p:spPr>
          <a:xfrm>
            <a:off x="618067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60" name="Google Shape;60;p39"/>
          <p:cNvSpPr txBox="1"/>
          <p:nvPr>
            <p:ph idx="4" type="body"/>
          </p:nvPr>
        </p:nvSpPr>
        <p:spPr>
          <a:xfrm>
            <a:off x="618067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1" name="Google Shape;61;p3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4" name="Google Shape;64;p39"/>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4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0" name="Google Shape;70;p4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4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42"/>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78" name="Google Shape;78;p42"/>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9" name="Google Shape;79;p4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2" name="Google Shape;82;p42"/>
          <p:cNvCxnSpPr/>
          <p:nvPr/>
        </p:nvCxnSpPr>
        <p:spPr>
          <a:xfrm>
            <a:off x="1396169" y="2912533"/>
            <a:ext cx="35144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43"/>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Garamond"/>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3"/>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86" name="Google Shape;86;p43"/>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7" name="Google Shape;87;p4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44"/>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4"/>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93" name="Google Shape;93;p44"/>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94" name="Google Shape;94;p4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4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45"/>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5"/>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0" name="Google Shape;100;p4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03" name="Google Shape;103;p45"/>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4" name="Shape 104"/>
        <p:cNvGrpSpPr/>
        <p:nvPr/>
      </p:nvGrpSpPr>
      <p:grpSpPr>
        <a:xfrm>
          <a:off x="0" y="0"/>
          <a:ext cx="0" cy="0"/>
          <a:chOff x="0" y="0"/>
          <a:chExt cx="0" cy="0"/>
        </a:xfrm>
      </p:grpSpPr>
      <p:sp>
        <p:nvSpPr>
          <p:cNvPr id="105" name="Google Shape;105;p46"/>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6"/>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Garamond"/>
              <a:buNone/>
              <a:defRPr sz="2000"/>
            </a:lvl1pPr>
            <a:lvl2pPr indent="-228600" lvl="1" marL="914400" algn="l">
              <a:spcBef>
                <a:spcPts val="600"/>
              </a:spcBef>
              <a:spcAft>
                <a:spcPts val="0"/>
              </a:spcAft>
              <a:buSzPts val="2300"/>
              <a:buFont typeface="Garamond"/>
              <a:buNone/>
              <a:defRPr/>
            </a:lvl2pPr>
            <a:lvl3pPr indent="-228600" lvl="2" marL="1371600" algn="l">
              <a:spcBef>
                <a:spcPts val="600"/>
              </a:spcBef>
              <a:spcAft>
                <a:spcPts val="0"/>
              </a:spcAft>
              <a:buSzPts val="2070"/>
              <a:buFont typeface="Garamond"/>
              <a:buNone/>
              <a:defRPr/>
            </a:lvl3pPr>
            <a:lvl4pPr indent="-228600" lvl="3" marL="1828800" algn="l">
              <a:spcBef>
                <a:spcPts val="600"/>
              </a:spcBef>
              <a:spcAft>
                <a:spcPts val="0"/>
              </a:spcAft>
              <a:buSzPts val="1840"/>
              <a:buFont typeface="Garamond"/>
              <a:buNone/>
              <a:defRPr/>
            </a:lvl4pPr>
            <a:lvl5pPr indent="-228600" lvl="4" marL="2286000" algn="l">
              <a:spcBef>
                <a:spcPts val="600"/>
              </a:spcBef>
              <a:spcAft>
                <a:spcPts val="0"/>
              </a:spcAft>
              <a:buSzPts val="1610"/>
              <a:buFont typeface="Garamond"/>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7" name="Google Shape;107;p46"/>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8" name="Google Shape;108;p4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4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4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sp>
        <p:nvSpPr>
          <p:cNvPr id="112" name="Google Shape;112;p46"/>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cxnSp>
        <p:nvCxnSpPr>
          <p:cNvPr id="113" name="Google Shape;113;p46"/>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4" name="Shape 114"/>
        <p:cNvGrpSpPr/>
        <p:nvPr/>
      </p:nvGrpSpPr>
      <p:grpSpPr>
        <a:xfrm>
          <a:off x="0" y="0"/>
          <a:ext cx="0" cy="0"/>
          <a:chOff x="0" y="0"/>
          <a:chExt cx="0" cy="0"/>
        </a:xfrm>
      </p:grpSpPr>
      <p:sp>
        <p:nvSpPr>
          <p:cNvPr id="115" name="Google Shape;115;p47"/>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47"/>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7" name="Google Shape;117;p4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4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0" name="Shape 120"/>
        <p:cNvGrpSpPr/>
        <p:nvPr/>
      </p:nvGrpSpPr>
      <p:grpSpPr>
        <a:xfrm>
          <a:off x="0" y="0"/>
          <a:ext cx="0" cy="0"/>
          <a:chOff x="0" y="0"/>
          <a:chExt cx="0" cy="0"/>
        </a:xfrm>
      </p:grpSpPr>
      <p:sp>
        <p:nvSpPr>
          <p:cNvPr id="121" name="Google Shape;121;p48"/>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8"/>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3" name="Google Shape;123;p48"/>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4" name="Google Shape;124;p4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48"/>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sp>
        <p:nvSpPr>
          <p:cNvPr id="128" name="Google Shape;128;p48"/>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cxnSp>
        <p:nvCxnSpPr>
          <p:cNvPr id="129" name="Google Shape;129;p48"/>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0" name="Shape 130"/>
        <p:cNvGrpSpPr/>
        <p:nvPr/>
      </p:nvGrpSpPr>
      <p:grpSpPr>
        <a:xfrm>
          <a:off x="0" y="0"/>
          <a:ext cx="0" cy="0"/>
          <a:chOff x="0" y="0"/>
          <a:chExt cx="0" cy="0"/>
        </a:xfrm>
      </p:grpSpPr>
      <p:sp>
        <p:nvSpPr>
          <p:cNvPr id="131" name="Google Shape;131;p49"/>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49"/>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33" name="Google Shape;133;p49"/>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34" name="Google Shape;134;p4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4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7" name="Google Shape;137;p49"/>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8" name="Shape 138"/>
        <p:cNvGrpSpPr/>
        <p:nvPr/>
      </p:nvGrpSpPr>
      <p:grpSpPr>
        <a:xfrm>
          <a:off x="0" y="0"/>
          <a:ext cx="0" cy="0"/>
          <a:chOff x="0" y="0"/>
          <a:chExt cx="0" cy="0"/>
        </a:xfrm>
      </p:grpSpPr>
      <p:sp>
        <p:nvSpPr>
          <p:cNvPr id="139" name="Google Shape;139;p5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50"/>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1" name="Google Shape;141;p5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5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5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4" name="Google Shape;144;p5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5" name="Shape 145"/>
        <p:cNvGrpSpPr/>
        <p:nvPr/>
      </p:nvGrpSpPr>
      <p:grpSpPr>
        <a:xfrm>
          <a:off x="0" y="0"/>
          <a:ext cx="0" cy="0"/>
          <a:chOff x="0" y="0"/>
          <a:chExt cx="0" cy="0"/>
        </a:xfrm>
      </p:grpSpPr>
      <p:sp>
        <p:nvSpPr>
          <p:cNvPr id="146" name="Google Shape;146;p51"/>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51"/>
          <p:cNvSpPr txBox="1"/>
          <p:nvPr>
            <p:ph idx="1" type="body"/>
          </p:nvPr>
        </p:nvSpPr>
        <p:spPr>
          <a:xfrm rot="5400000">
            <a:off x="2565043" y="-287513"/>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8" name="Google Shape;148;p5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5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5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51" name="Google Shape;151;p51"/>
          <p:cNvCxnSpPr/>
          <p:nvPr/>
        </p:nvCxnSpPr>
        <p:spPr>
          <a:xfrm>
            <a:off x="8863890" y="990600"/>
            <a:ext cx="0" cy="48768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11" Type="http://schemas.openxmlformats.org/officeDocument/2006/relationships/slideLayout" Target="../slideLayouts/slideLayout8.xml"/><Relationship Id="rId22" Type="http://schemas.openxmlformats.org/officeDocument/2006/relationships/theme" Target="../theme/theme2.xml"/><Relationship Id="rId10" Type="http://schemas.openxmlformats.org/officeDocument/2006/relationships/slideLayout" Target="../slideLayouts/slideLayout7.xml"/><Relationship Id="rId21" Type="http://schemas.openxmlformats.org/officeDocument/2006/relationships/slideLayout" Target="../slideLayouts/slideLayout18.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4.jp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slideLayout" Target="../slideLayouts/slideLayout16.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33"/>
          <p:cNvGrpSpPr/>
          <p:nvPr/>
        </p:nvGrpSpPr>
        <p:grpSpPr>
          <a:xfrm>
            <a:off x="-15736" y="0"/>
            <a:ext cx="12229962" cy="6856214"/>
            <a:chOff x="-15736" y="0"/>
            <a:chExt cx="12229962" cy="6856214"/>
          </a:xfrm>
        </p:grpSpPr>
        <p:pic>
          <p:nvPicPr>
            <p:cNvPr descr="HD-PanelContent.png" id="7" name="Google Shape;7;p3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 name="Google Shape;8;p33"/>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Content-UniformTrim.png" id="9" name="Google Shape;9;p33"/>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10" name="Google Shape;10;p33"/>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sp>
        <p:nvSpPr>
          <p:cNvPr id="11" name="Google Shape;11;p3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Garamond"/>
              <a:buNone/>
              <a:defRPr b="0" i="0" sz="44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3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Garamond"/>
                <a:ea typeface="Garamond"/>
                <a:cs typeface="Garamond"/>
                <a:sym typeface="Garamond"/>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Garamond"/>
                <a:ea typeface="Garamond"/>
                <a:cs typeface="Garamond"/>
                <a:sym typeface="Garamond"/>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Garamond"/>
                <a:ea typeface="Garamond"/>
                <a:cs typeface="Garamond"/>
                <a:sym typeface="Garamond"/>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9pPr>
          </a:lstStyle>
          <a:p/>
        </p:txBody>
      </p:sp>
      <p:sp>
        <p:nvSpPr>
          <p:cNvPr id="13" name="Google Shape;13;p3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3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3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Garamond"/>
                <a:ea typeface="Garamond"/>
                <a:cs typeface="Garamond"/>
                <a:sym typeface="Garamond"/>
              </a:defRPr>
            </a:lvl1pPr>
            <a:lvl2pPr indent="0" lvl="1" marL="0" marR="0" rtl="0" algn="r">
              <a:spcBef>
                <a:spcPts val="0"/>
              </a:spcBef>
              <a:buNone/>
              <a:defRPr b="0" i="0" sz="1000" u="none" cap="none" strike="noStrike">
                <a:solidFill>
                  <a:schemeClr val="dk1"/>
                </a:solidFill>
                <a:latin typeface="Garamond"/>
                <a:ea typeface="Garamond"/>
                <a:cs typeface="Garamond"/>
                <a:sym typeface="Garamond"/>
              </a:defRPr>
            </a:lvl2pPr>
            <a:lvl3pPr indent="0" lvl="2" marL="0" marR="0" rtl="0" algn="r">
              <a:spcBef>
                <a:spcPts val="0"/>
              </a:spcBef>
              <a:buNone/>
              <a:defRPr b="0" i="0" sz="1000" u="none" cap="none" strike="noStrike">
                <a:solidFill>
                  <a:schemeClr val="dk1"/>
                </a:solidFill>
                <a:latin typeface="Garamond"/>
                <a:ea typeface="Garamond"/>
                <a:cs typeface="Garamond"/>
                <a:sym typeface="Garamond"/>
              </a:defRPr>
            </a:lvl3pPr>
            <a:lvl4pPr indent="0" lvl="3" marL="0" marR="0" rtl="0" algn="r">
              <a:spcBef>
                <a:spcPts val="0"/>
              </a:spcBef>
              <a:buNone/>
              <a:defRPr b="0" i="0" sz="1000" u="none" cap="none" strike="noStrike">
                <a:solidFill>
                  <a:schemeClr val="dk1"/>
                </a:solidFill>
                <a:latin typeface="Garamond"/>
                <a:ea typeface="Garamond"/>
                <a:cs typeface="Garamond"/>
                <a:sym typeface="Garamond"/>
              </a:defRPr>
            </a:lvl4pPr>
            <a:lvl5pPr indent="0" lvl="4" marL="0" marR="0" rtl="0" algn="r">
              <a:spcBef>
                <a:spcPts val="0"/>
              </a:spcBef>
              <a:buNone/>
              <a:defRPr b="0" i="0" sz="1000" u="none" cap="none" strike="noStrike">
                <a:solidFill>
                  <a:schemeClr val="dk1"/>
                </a:solidFill>
                <a:latin typeface="Garamond"/>
                <a:ea typeface="Garamond"/>
                <a:cs typeface="Garamond"/>
                <a:sym typeface="Garamond"/>
              </a:defRPr>
            </a:lvl5pPr>
            <a:lvl6pPr indent="0" lvl="5" marL="0" marR="0" rtl="0" algn="r">
              <a:spcBef>
                <a:spcPts val="0"/>
              </a:spcBef>
              <a:buNone/>
              <a:defRPr b="0" i="0" sz="1000" u="none" cap="none" strike="noStrike">
                <a:solidFill>
                  <a:schemeClr val="dk1"/>
                </a:solidFill>
                <a:latin typeface="Garamond"/>
                <a:ea typeface="Garamond"/>
                <a:cs typeface="Garamond"/>
                <a:sym typeface="Garamond"/>
              </a:defRPr>
            </a:lvl6pPr>
            <a:lvl7pPr indent="0" lvl="6" marL="0" marR="0" rtl="0" algn="r">
              <a:spcBef>
                <a:spcPts val="0"/>
              </a:spcBef>
              <a:buNone/>
              <a:defRPr b="0" i="0" sz="1000" u="none" cap="none" strike="noStrike">
                <a:solidFill>
                  <a:schemeClr val="dk1"/>
                </a:solidFill>
                <a:latin typeface="Garamond"/>
                <a:ea typeface="Garamond"/>
                <a:cs typeface="Garamond"/>
                <a:sym typeface="Garamond"/>
              </a:defRPr>
            </a:lvl7pPr>
            <a:lvl8pPr indent="0" lvl="7" marL="0" marR="0" rtl="0" algn="r">
              <a:spcBef>
                <a:spcPts val="0"/>
              </a:spcBef>
              <a:buNone/>
              <a:defRPr b="0" i="0" sz="1000" u="none" cap="none" strike="noStrike">
                <a:solidFill>
                  <a:schemeClr val="dk1"/>
                </a:solidFill>
                <a:latin typeface="Garamond"/>
                <a:ea typeface="Garamond"/>
                <a:cs typeface="Garamond"/>
                <a:sym typeface="Garamond"/>
              </a:defRPr>
            </a:lvl8pPr>
            <a:lvl9pPr indent="0" lvl="8" marL="0" marR="0" rtl="0" algn="r">
              <a:spcBef>
                <a:spcPts val="0"/>
              </a:spcBef>
              <a:buNone/>
              <a:defRPr b="0" i="0" sz="10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b="1" lang="en-US" sz="4400"/>
              <a:t>CHAPTER 15</a:t>
            </a:r>
            <a:endParaRPr sz="4400"/>
          </a:p>
        </p:txBody>
      </p:sp>
      <p:sp>
        <p:nvSpPr>
          <p:cNvPr id="157" name="Google Shape;157;p1"/>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680"/>
              <a:buNone/>
            </a:pPr>
            <a:r>
              <a:rPr lang="en-US" sz="3200">
                <a:latin typeface="Arial"/>
                <a:ea typeface="Arial"/>
                <a:cs typeface="Arial"/>
                <a:sym typeface="Arial"/>
              </a:rPr>
              <a:t>IMAGE SEGMENTATION</a:t>
            </a:r>
            <a:endParaRPr sz="3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b="1" lang="en-US"/>
              <a:t>WHAT WILL WE LEARN?</a:t>
            </a:r>
            <a:endParaRPr/>
          </a:p>
        </p:txBody>
      </p:sp>
      <p:sp>
        <p:nvSpPr>
          <p:cNvPr id="163" name="Google Shape;163;p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What is image segmentation and why is it relevant?</a:t>
            </a:r>
            <a:endParaRPr/>
          </a:p>
          <a:p>
            <a:pPr indent="-285750" lvl="0" marL="285750" rtl="0" algn="l">
              <a:spcBef>
                <a:spcPts val="1320"/>
              </a:spcBef>
              <a:spcAft>
                <a:spcPts val="0"/>
              </a:spcAft>
              <a:buSzPts val="4140"/>
              <a:buChar char="•"/>
            </a:pPr>
            <a:r>
              <a:rPr lang="en-US"/>
              <a:t>What is image thresholding and how is it implemented in MATLAB?</a:t>
            </a:r>
            <a:endParaRPr/>
          </a:p>
          <a:p>
            <a:pPr indent="-285750" lvl="0" marL="285750" rtl="0" algn="l">
              <a:spcBef>
                <a:spcPts val="1320"/>
              </a:spcBef>
              <a:spcAft>
                <a:spcPts val="0"/>
              </a:spcAft>
              <a:buSzPts val="4140"/>
              <a:buChar char="•"/>
            </a:pPr>
            <a:r>
              <a:rPr lang="en-US"/>
              <a:t>What are the most commonly used image segmentation techniques and how do they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Introduction</a:t>
            </a:r>
            <a:endParaRPr/>
          </a:p>
        </p:txBody>
      </p:sp>
      <p:sp>
        <p:nvSpPr>
          <p:cNvPr id="169" name="Google Shape;169;p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2760"/>
              <a:buChar char="•"/>
            </a:pPr>
            <a:r>
              <a:rPr b="1" lang="en-US" sz="2400"/>
              <a:t>Segmentation</a:t>
            </a:r>
            <a:r>
              <a:rPr lang="en-US" sz="2400"/>
              <a:t>: </a:t>
            </a:r>
            <a:r>
              <a:rPr b="1" lang="en-US" sz="2400"/>
              <a:t>Partitioning</a:t>
            </a:r>
            <a:r>
              <a:rPr lang="en-US" sz="2400"/>
              <a:t> an image into a set of </a:t>
            </a:r>
            <a:r>
              <a:rPr b="1" lang="en-US" sz="2400"/>
              <a:t>non-overlapping regions</a:t>
            </a:r>
            <a:r>
              <a:rPr lang="en-US" sz="2400"/>
              <a:t> whose union is the entire image. </a:t>
            </a:r>
            <a:endParaRPr/>
          </a:p>
          <a:p>
            <a:pPr indent="-285750" lvl="1" marL="742950" rtl="0" algn="l">
              <a:spcBef>
                <a:spcPts val="1080"/>
              </a:spcBef>
              <a:spcAft>
                <a:spcPts val="0"/>
              </a:spcAft>
              <a:buSzPts val="2760"/>
              <a:buChar char="•"/>
            </a:pPr>
            <a:r>
              <a:rPr lang="en-US" sz="2400"/>
              <a:t>These regions should ideally correspond to objects and their meaningful parts, and background. </a:t>
            </a:r>
            <a:endParaRPr/>
          </a:p>
          <a:p>
            <a:pPr indent="-285750" lvl="0" marL="285750" rtl="0" algn="l">
              <a:spcBef>
                <a:spcPts val="1080"/>
              </a:spcBef>
              <a:spcAft>
                <a:spcPts val="0"/>
              </a:spcAft>
              <a:buSzPts val="2760"/>
              <a:buChar char="•"/>
            </a:pPr>
            <a:r>
              <a:rPr lang="en-US" sz="2400"/>
              <a:t>Based on one of two basic properties that can be extracted from pixel values -- </a:t>
            </a:r>
            <a:r>
              <a:rPr b="1" lang="en-US" sz="2400"/>
              <a:t>discontinuity</a:t>
            </a:r>
            <a:r>
              <a:rPr lang="en-US" sz="2400"/>
              <a:t> and </a:t>
            </a:r>
            <a:r>
              <a:rPr b="1" lang="en-US" sz="2400"/>
              <a:t>similarity</a:t>
            </a:r>
            <a:r>
              <a:rPr lang="en-US" sz="2400"/>
              <a:t> -- or a combination of them. </a:t>
            </a:r>
            <a:endParaRPr/>
          </a:p>
          <a:p>
            <a:pPr indent="-285750" lvl="0" marL="285750" rtl="0" algn="l">
              <a:spcBef>
                <a:spcPts val="1080"/>
              </a:spcBef>
              <a:spcAft>
                <a:spcPts val="0"/>
              </a:spcAft>
              <a:buSzPts val="2760"/>
              <a:buChar char="•"/>
            </a:pPr>
            <a:r>
              <a:rPr lang="en-US" sz="2400"/>
              <a:t>One of the most crucial tasks in image processing and computer vision. </a:t>
            </a:r>
            <a:endParaRPr/>
          </a:p>
          <a:p>
            <a:pPr indent="-285750" lvl="0" marL="285750" rtl="0" algn="l">
              <a:spcBef>
                <a:spcPts val="1080"/>
              </a:spcBef>
              <a:spcAft>
                <a:spcPts val="0"/>
              </a:spcAft>
              <a:buSzPts val="2760"/>
              <a:buChar char="•"/>
            </a:pPr>
            <a:r>
              <a:rPr lang="en-US" sz="2400"/>
              <a:t>S</a:t>
            </a:r>
            <a:r>
              <a:rPr b="1" lang="en-US" sz="2400"/>
              <a:t>till an open research problem</a:t>
            </a:r>
            <a:r>
              <a:rPr lang="en-US" sz="2400"/>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Arial"/>
              <a:buNone/>
            </a:pPr>
            <a:r>
              <a:rPr lang="en-US"/>
              <a:t>Introduction</a:t>
            </a:r>
            <a:endParaRPr/>
          </a:p>
        </p:txBody>
      </p:sp>
      <p:sp>
        <p:nvSpPr>
          <p:cNvPr id="175" name="Google Shape;175;p4"/>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680"/>
              <a:buChar char="•"/>
            </a:pPr>
            <a:r>
              <a:rPr lang="en-US"/>
              <a:t>Segmentation: easy and hard images </a:t>
            </a:r>
            <a:endParaRPr/>
          </a:p>
          <a:p>
            <a:pPr indent="-52070" lvl="0" marL="285750" rtl="0" algn="l">
              <a:spcBef>
                <a:spcPts val="1240"/>
              </a:spcBef>
              <a:spcAft>
                <a:spcPts val="0"/>
              </a:spcAft>
              <a:buSzPts val="3680"/>
              <a:buNone/>
            </a:pPr>
            <a:r>
              <a:t/>
            </a:r>
            <a:endParaRPr/>
          </a:p>
        </p:txBody>
      </p:sp>
      <p:pic>
        <p:nvPicPr>
          <p:cNvPr id="176" name="Google Shape;176;p4"/>
          <p:cNvPicPr preferRelativeResize="0"/>
          <p:nvPr>
            <p:ph idx="2" type="body"/>
          </p:nvPr>
        </p:nvPicPr>
        <p:blipFill rotWithShape="1">
          <a:blip r:embed="rId3">
            <a:alphaModFix/>
          </a:blip>
          <a:srcRect b="0" l="0" r="0" t="0"/>
          <a:stretch/>
        </p:blipFill>
        <p:spPr>
          <a:xfrm>
            <a:off x="6429604" y="2560638"/>
            <a:ext cx="4222291" cy="33099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Introduction</a:t>
            </a:r>
            <a:endParaRPr/>
          </a:p>
        </p:txBody>
      </p:sp>
      <p:sp>
        <p:nvSpPr>
          <p:cNvPr id="182" name="Google Shape;182;p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62500" lnSpcReduction="20000"/>
          </a:bodyPr>
          <a:lstStyle/>
          <a:p>
            <a:pPr indent="-285750" lvl="0" marL="285750" rtl="0" algn="l">
              <a:spcBef>
                <a:spcPts val="0"/>
              </a:spcBef>
              <a:spcAft>
                <a:spcPts val="0"/>
              </a:spcAft>
              <a:buSzPct val="115000"/>
              <a:buChar char="•"/>
            </a:pPr>
            <a:r>
              <a:rPr lang="en-US"/>
              <a:t>There is no underlying theory of image segmentation, only ad hoc methods, whose performance is often evaluated indirectly, based on the performance of the larger system to which they belong. </a:t>
            </a:r>
            <a:endParaRPr/>
          </a:p>
          <a:p>
            <a:pPr indent="-285750" lvl="0" marL="285750" rtl="0" algn="l">
              <a:spcBef>
                <a:spcPts val="1050"/>
              </a:spcBef>
              <a:spcAft>
                <a:spcPts val="0"/>
              </a:spcAft>
              <a:buSzPct val="115000"/>
              <a:buChar char="•"/>
            </a:pPr>
            <a:r>
              <a:rPr lang="en-US"/>
              <a:t>Image segmentation techniques can vary widely according to: </a:t>
            </a:r>
            <a:endParaRPr/>
          </a:p>
          <a:p>
            <a:pPr indent="-285750" lvl="1" marL="742950" rtl="0" algn="l">
              <a:spcBef>
                <a:spcPts val="1000"/>
              </a:spcBef>
              <a:spcAft>
                <a:spcPts val="0"/>
              </a:spcAft>
              <a:buSzPct val="115000"/>
              <a:buChar char="•"/>
            </a:pPr>
            <a:r>
              <a:rPr lang="en-US"/>
              <a:t>type of image (e.g., binary, gray, color) </a:t>
            </a:r>
            <a:endParaRPr/>
          </a:p>
          <a:p>
            <a:pPr indent="-285750" lvl="1" marL="742950" rtl="0" algn="l">
              <a:spcBef>
                <a:spcPts val="1000"/>
              </a:spcBef>
              <a:spcAft>
                <a:spcPts val="0"/>
              </a:spcAft>
              <a:buSzPct val="115000"/>
              <a:buChar char="•"/>
            </a:pPr>
            <a:r>
              <a:rPr lang="en-US"/>
              <a:t>choice of mathematical framework (e.g., morphology, image statistics, graph theory) </a:t>
            </a:r>
            <a:endParaRPr/>
          </a:p>
          <a:p>
            <a:pPr indent="-285750" lvl="1" marL="742950" rtl="0" algn="l">
              <a:spcBef>
                <a:spcPts val="1000"/>
              </a:spcBef>
              <a:spcAft>
                <a:spcPts val="0"/>
              </a:spcAft>
              <a:buSzPct val="115000"/>
              <a:buChar char="•"/>
            </a:pPr>
            <a:r>
              <a:rPr lang="en-US"/>
              <a:t>type of features (e.g., intensity, color, texture, motion) and </a:t>
            </a:r>
            <a:endParaRPr/>
          </a:p>
          <a:p>
            <a:pPr indent="-285750" lvl="1" marL="742950" rtl="0" algn="l">
              <a:spcBef>
                <a:spcPts val="1000"/>
              </a:spcBef>
              <a:spcAft>
                <a:spcPts val="0"/>
              </a:spcAft>
              <a:buSzPct val="115000"/>
              <a:buChar char="•"/>
            </a:pPr>
            <a:r>
              <a:rPr lang="en-US"/>
              <a:t>approach (e.g., top-down, bottom-up, graph-based). </a:t>
            </a:r>
            <a:endParaRPr/>
          </a:p>
          <a:p>
            <a:pPr indent="-121443" lvl="0" marL="285750" rtl="0" algn="l">
              <a:spcBef>
                <a:spcPts val="1050"/>
              </a:spcBef>
              <a:spcAft>
                <a:spcPts val="0"/>
              </a:spcAft>
              <a:buSzPct val="115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Introduction</a:t>
            </a:r>
            <a:endParaRPr/>
          </a:p>
        </p:txBody>
      </p:sp>
      <p:sp>
        <p:nvSpPr>
          <p:cNvPr id="188" name="Google Shape;188;p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55000" lnSpcReduction="20000"/>
          </a:bodyPr>
          <a:lstStyle/>
          <a:p>
            <a:pPr indent="-285750" lvl="0" marL="285750" rtl="0" algn="l">
              <a:spcBef>
                <a:spcPts val="0"/>
              </a:spcBef>
              <a:spcAft>
                <a:spcPts val="0"/>
              </a:spcAft>
              <a:buSzPct val="115000"/>
              <a:buChar char="•"/>
            </a:pPr>
            <a:r>
              <a:rPr lang="en-US"/>
              <a:t>There is no universally accepted taxonomy for classification of image segmentation algorithms, either. </a:t>
            </a:r>
            <a:endParaRPr/>
          </a:p>
          <a:p>
            <a:pPr indent="-285750" lvl="0" marL="285750" rtl="0" algn="l">
              <a:spcBef>
                <a:spcPts val="996"/>
              </a:spcBef>
              <a:spcAft>
                <a:spcPts val="0"/>
              </a:spcAft>
              <a:buSzPct val="115000"/>
              <a:buChar char="•"/>
            </a:pPr>
            <a:r>
              <a:rPr lang="en-US"/>
              <a:t>In the book, we use three categories: </a:t>
            </a:r>
            <a:endParaRPr/>
          </a:p>
          <a:p>
            <a:pPr indent="-285750" lvl="1" marL="742950" rtl="0" algn="l">
              <a:spcBef>
                <a:spcPts val="952"/>
              </a:spcBef>
              <a:spcAft>
                <a:spcPts val="0"/>
              </a:spcAft>
              <a:buSzPct val="115000"/>
              <a:buChar char="•"/>
            </a:pPr>
            <a:r>
              <a:rPr b="1" lang="en-US"/>
              <a:t>Intensity-based</a:t>
            </a:r>
            <a:r>
              <a:rPr lang="en-US"/>
              <a:t> (non-contextual) methods: work based on pixel distributions (i.e., histograms). </a:t>
            </a:r>
            <a:endParaRPr/>
          </a:p>
          <a:p>
            <a:pPr indent="-285750" lvl="0" marL="285750" rtl="0" algn="l">
              <a:spcBef>
                <a:spcPts val="996"/>
              </a:spcBef>
              <a:spcAft>
                <a:spcPts val="0"/>
              </a:spcAft>
              <a:buSzPct val="115000"/>
              <a:buNone/>
            </a:pPr>
            <a:r>
              <a:rPr lang="en-US"/>
              <a:t>		      Example: thresholding. </a:t>
            </a:r>
            <a:endParaRPr/>
          </a:p>
          <a:p>
            <a:pPr indent="-285750" lvl="1" marL="742950" rtl="0" algn="l">
              <a:spcBef>
                <a:spcPts val="952"/>
              </a:spcBef>
              <a:spcAft>
                <a:spcPts val="0"/>
              </a:spcAft>
              <a:buSzPct val="115000"/>
              <a:buChar char="•"/>
            </a:pPr>
            <a:r>
              <a:rPr b="1" lang="en-US"/>
              <a:t>Region-based</a:t>
            </a:r>
            <a:r>
              <a:rPr lang="en-US"/>
              <a:t> (contextual) methods: rely on adjacency and connectivity criteria between a pixel and its neighbors. </a:t>
            </a:r>
            <a:endParaRPr/>
          </a:p>
          <a:p>
            <a:pPr indent="-285750" lvl="0" marL="285750" rtl="0" algn="l">
              <a:spcBef>
                <a:spcPts val="996"/>
              </a:spcBef>
              <a:spcAft>
                <a:spcPts val="0"/>
              </a:spcAft>
              <a:buSzPct val="115000"/>
              <a:buNone/>
            </a:pPr>
            <a:r>
              <a:rPr lang="en-US"/>
              <a:t>		      Examples: region growing and split-and-merge. </a:t>
            </a:r>
            <a:endParaRPr/>
          </a:p>
          <a:p>
            <a:pPr indent="-285750" lvl="1" marL="742950" rtl="0" algn="l">
              <a:spcBef>
                <a:spcPts val="952"/>
              </a:spcBef>
              <a:spcAft>
                <a:spcPts val="0"/>
              </a:spcAft>
              <a:buSzPct val="115000"/>
              <a:buChar char="•"/>
            </a:pPr>
            <a:r>
              <a:rPr b="1" lang="en-US"/>
              <a:t>Other methods</a:t>
            </a:r>
            <a:r>
              <a:rPr lang="en-US"/>
              <a:t>: these include segmentation based on texture, edges, and motion, among others. </a:t>
            </a:r>
            <a:endParaRPr/>
          </a:p>
          <a:p>
            <a:pPr indent="-141160" lvl="0" marL="285750" rtl="0" algn="l">
              <a:spcBef>
                <a:spcPts val="996"/>
              </a:spcBef>
              <a:spcAft>
                <a:spcPts val="0"/>
              </a:spcAft>
              <a:buSzPct val="115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Intensity-based segmentation </a:t>
            </a:r>
            <a:endParaRPr/>
          </a:p>
        </p:txBody>
      </p:sp>
      <p:sp>
        <p:nvSpPr>
          <p:cNvPr id="194" name="Google Shape;194;p7"/>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4140"/>
              <a:buChar char="•"/>
            </a:pPr>
            <a:r>
              <a:rPr lang="en-US"/>
              <a:t>Rely on pixel statistics (histogram properties) to determine which pixels belong to foreground objects and which pixels should be labeled as background. </a:t>
            </a:r>
            <a:endParaRPr/>
          </a:p>
          <a:p>
            <a:pPr indent="-285750" lvl="1" marL="742950" rtl="0" algn="l">
              <a:spcBef>
                <a:spcPts val="1240"/>
              </a:spcBef>
              <a:spcAft>
                <a:spcPts val="0"/>
              </a:spcAft>
              <a:buSzPts val="3680"/>
              <a:buChar char="•"/>
            </a:pPr>
            <a:r>
              <a:rPr lang="en-US"/>
              <a:t>The simplest method within this category is </a:t>
            </a:r>
            <a:r>
              <a:rPr i="1" lang="en-US"/>
              <a:t>image thresholding. </a:t>
            </a:r>
            <a:endParaRPr/>
          </a:p>
          <a:p>
            <a:pPr indent="-22859" lvl="0" marL="285750" rtl="0" algn="l">
              <a:spcBef>
                <a:spcPts val="1320"/>
              </a:spcBef>
              <a:spcAft>
                <a:spcPts val="0"/>
              </a:spcAft>
              <a:buSzPts val="4140"/>
              <a:buNone/>
            </a:pPr>
            <a:r>
              <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Image thresholding </a:t>
            </a:r>
            <a:endParaRPr/>
          </a:p>
        </p:txBody>
      </p:sp>
      <p:sp>
        <p:nvSpPr>
          <p:cNvPr id="200" name="Google Shape;200;p8"/>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b="1" lang="en-US" sz="2800" u="sng"/>
              <a:t>Def.: </a:t>
            </a:r>
            <a:r>
              <a:rPr lang="en-US" sz="2800"/>
              <a:t>The conversion of an image with many gray levels into another image with fewer gray levels, usually only two. </a:t>
            </a:r>
            <a:endParaRPr/>
          </a:p>
          <a:p>
            <a:pPr indent="-285750" lvl="0" marL="285750" rtl="0" algn="l">
              <a:spcBef>
                <a:spcPts val="1160"/>
              </a:spcBef>
              <a:spcAft>
                <a:spcPts val="0"/>
              </a:spcAft>
              <a:buSzPts val="3220"/>
              <a:buChar char="•"/>
            </a:pPr>
            <a:r>
              <a:rPr lang="en-US" sz="2800"/>
              <a:t>This conversion is usually performed by </a:t>
            </a:r>
            <a:r>
              <a:rPr b="1" lang="en-US" sz="2800"/>
              <a:t>comparing</a:t>
            </a:r>
            <a:r>
              <a:rPr lang="en-US" sz="2800"/>
              <a:t> each pixel intensity against a </a:t>
            </a:r>
            <a:r>
              <a:rPr b="1" lang="en-US" sz="2800"/>
              <a:t>reference value </a:t>
            </a:r>
            <a:r>
              <a:rPr lang="en-US" sz="2800"/>
              <a:t>(threshold) and </a:t>
            </a:r>
            <a:r>
              <a:rPr b="1" lang="en-US" sz="2800"/>
              <a:t>replacing the pixel with a value that means ‘white’ or ‘black’ </a:t>
            </a:r>
            <a:r>
              <a:rPr lang="en-US" sz="2800"/>
              <a:t>depending on the outcome of the comparison. </a:t>
            </a:r>
            <a:endParaRPr/>
          </a:p>
          <a:p>
            <a:pPr indent="-22859" lvl="0" marL="285750" rtl="0" algn="l">
              <a:spcBef>
                <a:spcPts val="1320"/>
              </a:spcBef>
              <a:spcAft>
                <a:spcPts val="0"/>
              </a:spcAft>
              <a:buSzPts val="4140"/>
              <a:buNone/>
            </a:pPr>
            <a:r>
              <a:t/>
            </a:r>
            <a:endParaRPr/>
          </a:p>
        </p:txBody>
      </p:sp>
      <p:pic>
        <p:nvPicPr>
          <p:cNvPr id="201" name="Google Shape;201;p8"/>
          <p:cNvPicPr preferRelativeResize="0"/>
          <p:nvPr/>
        </p:nvPicPr>
        <p:blipFill rotWithShape="1">
          <a:blip r:embed="rId3">
            <a:alphaModFix/>
          </a:blip>
          <a:srcRect b="0" l="0" r="0" t="0"/>
          <a:stretch/>
        </p:blipFill>
        <p:spPr>
          <a:xfrm>
            <a:off x="6470996" y="5091942"/>
            <a:ext cx="4107730" cy="10305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Image thresholding </a:t>
            </a:r>
            <a:endParaRPr/>
          </a:p>
        </p:txBody>
      </p:sp>
      <p:sp>
        <p:nvSpPr>
          <p:cNvPr id="207" name="Google Shape;207;p9"/>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77500" lnSpcReduction="20000"/>
          </a:bodyPr>
          <a:lstStyle/>
          <a:p>
            <a:pPr indent="-285750" lvl="0" marL="285750" rtl="0" algn="l">
              <a:spcBef>
                <a:spcPts val="0"/>
              </a:spcBef>
              <a:spcAft>
                <a:spcPts val="0"/>
              </a:spcAft>
              <a:buSzPct val="115000"/>
              <a:buChar char="•"/>
            </a:pPr>
            <a:r>
              <a:rPr lang="en-US"/>
              <a:t>Global thresholding: single value of </a:t>
            </a:r>
            <a:r>
              <a:rPr i="1" lang="en-US"/>
              <a:t>T for the whole image</a:t>
            </a:r>
            <a:endParaRPr/>
          </a:p>
          <a:p>
            <a:pPr indent="-285750" lvl="0" marL="285750" rtl="0" algn="l">
              <a:spcBef>
                <a:spcPts val="1158"/>
              </a:spcBef>
              <a:spcAft>
                <a:spcPts val="0"/>
              </a:spcAft>
              <a:buSzPct val="115000"/>
              <a:buChar char="•"/>
            </a:pPr>
            <a:r>
              <a:rPr lang="en-US"/>
              <a:t>Steps: </a:t>
            </a:r>
            <a:endParaRPr/>
          </a:p>
          <a:p>
            <a:pPr indent="-285750" lvl="1" marL="742950" rtl="0" algn="l">
              <a:spcBef>
                <a:spcPts val="1096"/>
              </a:spcBef>
              <a:spcAft>
                <a:spcPts val="0"/>
              </a:spcAft>
              <a:buSzPct val="115000"/>
              <a:buNone/>
            </a:pPr>
            <a:r>
              <a:rPr lang="en-US"/>
              <a:t>1. Inspect the image's histogram (using </a:t>
            </a:r>
            <a:r>
              <a:rPr b="1" lang="en-US"/>
              <a:t>imhist</a:t>
            </a:r>
            <a:r>
              <a:rPr lang="en-US"/>
              <a:t>)</a:t>
            </a:r>
            <a:endParaRPr b="1"/>
          </a:p>
          <a:p>
            <a:pPr indent="-285750" lvl="1" marL="742950" rtl="0" algn="l">
              <a:spcBef>
                <a:spcPts val="1096"/>
              </a:spcBef>
              <a:spcAft>
                <a:spcPts val="0"/>
              </a:spcAft>
              <a:buSzPct val="115000"/>
              <a:buNone/>
            </a:pPr>
            <a:r>
              <a:rPr lang="en-US"/>
              <a:t>2. Select an appropriate value for </a:t>
            </a:r>
            <a:r>
              <a:rPr i="1" lang="en-US"/>
              <a:t>T</a:t>
            </a:r>
            <a:endParaRPr/>
          </a:p>
          <a:p>
            <a:pPr indent="-285750" lvl="1" marL="742950" rtl="0" algn="l">
              <a:spcBef>
                <a:spcPts val="1096"/>
              </a:spcBef>
              <a:spcAft>
                <a:spcPts val="0"/>
              </a:spcAft>
              <a:buSzPct val="115000"/>
              <a:buNone/>
            </a:pPr>
            <a:r>
              <a:rPr lang="en-US"/>
              <a:t>3. Apply the selected value (using </a:t>
            </a:r>
            <a:r>
              <a:rPr b="1" lang="en-US"/>
              <a:t>im2bw</a:t>
            </a:r>
            <a:r>
              <a:rPr lang="en-US"/>
              <a:t>) to the image</a:t>
            </a:r>
            <a:r>
              <a:rPr b="1" lang="en-US"/>
              <a:t> </a:t>
            </a:r>
            <a:endParaRPr/>
          </a:p>
          <a:p>
            <a:pPr indent="-285750" lvl="1" marL="742950" rtl="0" algn="l">
              <a:spcBef>
                <a:spcPts val="1096"/>
              </a:spcBef>
              <a:spcAft>
                <a:spcPts val="0"/>
              </a:spcAft>
              <a:buSzPct val="115000"/>
              <a:buNone/>
            </a:pPr>
            <a:r>
              <a:rPr lang="en-US"/>
              <a:t>4. Inspect the results: if they are acceptable, save resulting image; otherwise, make adjustments and repeat steps 2-4 </a:t>
            </a:r>
            <a:endParaRPr/>
          </a:p>
          <a:p>
            <a:pPr indent="-285750" lvl="0" marL="285750" rtl="0" algn="l">
              <a:spcBef>
                <a:spcPts val="1158"/>
              </a:spcBef>
              <a:spcAft>
                <a:spcPts val="0"/>
              </a:spcAft>
              <a:buSzPct val="115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Image thresholding </a:t>
            </a:r>
            <a:endParaRPr/>
          </a:p>
        </p:txBody>
      </p:sp>
      <p:sp>
        <p:nvSpPr>
          <p:cNvPr id="213" name="Google Shape;213;p10"/>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lang="en-US" sz="2800"/>
              <a:t>Global thresholding: a procedure for selecting the best value of </a:t>
            </a:r>
            <a:r>
              <a:rPr i="1" lang="en-US" sz="2800"/>
              <a:t>T </a:t>
            </a:r>
            <a:r>
              <a:rPr lang="en-US" sz="2800"/>
              <a:t>automatically (Gonzalez &amp; Woods, 2008)</a:t>
            </a:r>
            <a:endParaRPr/>
          </a:p>
          <a:p>
            <a:pPr indent="-22859" lvl="0" marL="285750" rtl="0" algn="l">
              <a:spcBef>
                <a:spcPts val="1320"/>
              </a:spcBef>
              <a:spcAft>
                <a:spcPts val="0"/>
              </a:spcAft>
              <a:buSzPts val="4140"/>
              <a:buNone/>
            </a:pPr>
            <a:r>
              <a:t/>
            </a:r>
            <a:endParaRPr/>
          </a:p>
        </p:txBody>
      </p:sp>
      <p:pic>
        <p:nvPicPr>
          <p:cNvPr id="214" name="Google Shape;214;p10"/>
          <p:cNvPicPr preferRelativeResize="0"/>
          <p:nvPr/>
        </p:nvPicPr>
        <p:blipFill rotWithShape="1">
          <a:blip r:embed="rId3">
            <a:alphaModFix/>
          </a:blip>
          <a:srcRect b="0" l="0" r="0" t="0"/>
          <a:stretch/>
        </p:blipFill>
        <p:spPr>
          <a:xfrm>
            <a:off x="2701166" y="3457369"/>
            <a:ext cx="6524625" cy="2752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Arial"/>
              <a:buNone/>
            </a:pPr>
            <a:r>
              <a:rPr lang="en-US"/>
              <a:t>Image thresholding </a:t>
            </a:r>
            <a:endParaRPr/>
          </a:p>
        </p:txBody>
      </p:sp>
      <p:sp>
        <p:nvSpPr>
          <p:cNvPr id="220" name="Google Shape;220;p11"/>
          <p:cNvSpPr txBox="1"/>
          <p:nvPr>
            <p:ph idx="1" type="body"/>
          </p:nvPr>
        </p:nvSpPr>
        <p:spPr>
          <a:xfrm>
            <a:off x="1271943" y="2560320"/>
            <a:ext cx="4134943" cy="331012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lang="en-US" sz="2800"/>
              <a:t>Global thresholding example </a:t>
            </a:r>
            <a:endParaRPr/>
          </a:p>
          <a:p>
            <a:pPr indent="-285750" lvl="0" marL="285750" rtl="0" algn="l">
              <a:spcBef>
                <a:spcPts val="1160"/>
              </a:spcBef>
              <a:spcAft>
                <a:spcPts val="0"/>
              </a:spcAft>
              <a:buSzPts val="3220"/>
              <a:buNone/>
            </a:pPr>
            <a:r>
              <a:rPr b="1" lang="en-US" sz="2800"/>
              <a:t> </a:t>
            </a:r>
            <a:endParaRPr sz="2800"/>
          </a:p>
        </p:txBody>
      </p:sp>
      <p:pic>
        <p:nvPicPr>
          <p:cNvPr id="221" name="Google Shape;221;p11"/>
          <p:cNvPicPr preferRelativeResize="0"/>
          <p:nvPr>
            <p:ph idx="2" type="body"/>
          </p:nvPr>
        </p:nvPicPr>
        <p:blipFill rotWithShape="1">
          <a:blip r:embed="rId3">
            <a:alphaModFix/>
          </a:blip>
          <a:srcRect b="0" l="0" r="0" t="0"/>
          <a:stretch/>
        </p:blipFill>
        <p:spPr>
          <a:xfrm>
            <a:off x="6109251" y="2560638"/>
            <a:ext cx="4586191" cy="35225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Image thresholding </a:t>
            </a:r>
            <a:endParaRPr/>
          </a:p>
        </p:txBody>
      </p:sp>
      <p:sp>
        <p:nvSpPr>
          <p:cNvPr id="227" name="Google Shape;227;p1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Optimal thresholding </a:t>
            </a:r>
            <a:endParaRPr/>
          </a:p>
          <a:p>
            <a:pPr indent="-285750" lvl="1" marL="742950" rtl="0" algn="l">
              <a:spcBef>
                <a:spcPts val="1240"/>
              </a:spcBef>
              <a:spcAft>
                <a:spcPts val="0"/>
              </a:spcAft>
              <a:buSzPts val="3680"/>
              <a:buChar char="•"/>
            </a:pPr>
            <a:r>
              <a:rPr lang="en-US"/>
              <a:t>(Otsu, 1979), implemented in the IPT as: </a:t>
            </a:r>
            <a:r>
              <a:rPr b="1" lang="en-US"/>
              <a:t>graythresh. </a:t>
            </a:r>
            <a:endParaRPr/>
          </a:p>
          <a:p>
            <a:pPr indent="-285750" lvl="1" marL="742950" rtl="0" algn="l">
              <a:spcBef>
                <a:spcPts val="1240"/>
              </a:spcBef>
              <a:spcAft>
                <a:spcPts val="0"/>
              </a:spcAft>
              <a:buSzPts val="3680"/>
              <a:buChar char="•"/>
            </a:pPr>
            <a:r>
              <a:rPr lang="en-US"/>
              <a:t>For the previous example, provides the optimal value </a:t>
            </a:r>
            <a:r>
              <a:rPr i="1" lang="en-US"/>
              <a:t>T = 0.4941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Image thresholding </a:t>
            </a:r>
            <a:endParaRPr/>
          </a:p>
        </p:txBody>
      </p:sp>
      <p:sp>
        <p:nvSpPr>
          <p:cNvPr id="233" name="Google Shape;233;p1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lang="en-US" sz="2800"/>
              <a:t>The role of illumination and noise </a:t>
            </a:r>
            <a:endParaRPr/>
          </a:p>
          <a:p>
            <a:pPr indent="-285750" lvl="1" marL="742950" rtl="0" algn="l">
              <a:spcBef>
                <a:spcPts val="1160"/>
              </a:spcBef>
              <a:spcAft>
                <a:spcPts val="0"/>
              </a:spcAft>
              <a:buSzPts val="3220"/>
              <a:buChar char="•"/>
            </a:pPr>
            <a:r>
              <a:rPr lang="en-US" sz="2800"/>
              <a:t>Even easy images may become hard to segment… </a:t>
            </a:r>
            <a:endParaRPr/>
          </a:p>
          <a:p>
            <a:pPr indent="-22859" lvl="0" marL="285750" rtl="0" algn="l">
              <a:spcBef>
                <a:spcPts val="1320"/>
              </a:spcBef>
              <a:spcAft>
                <a:spcPts val="0"/>
              </a:spcAft>
              <a:buSzPts val="4140"/>
              <a:buNone/>
            </a:pPr>
            <a:r>
              <a:t/>
            </a:r>
            <a:endParaRPr/>
          </a:p>
        </p:txBody>
      </p:sp>
      <p:pic>
        <p:nvPicPr>
          <p:cNvPr id="234" name="Google Shape;234;p13"/>
          <p:cNvPicPr preferRelativeResize="0"/>
          <p:nvPr/>
        </p:nvPicPr>
        <p:blipFill rotWithShape="1">
          <a:blip r:embed="rId3">
            <a:alphaModFix/>
          </a:blip>
          <a:srcRect b="0" l="0" r="0" t="0"/>
          <a:stretch/>
        </p:blipFill>
        <p:spPr>
          <a:xfrm>
            <a:off x="1179445" y="3650846"/>
            <a:ext cx="4907062" cy="2206615"/>
          </a:xfrm>
          <a:prstGeom prst="rect">
            <a:avLst/>
          </a:prstGeom>
          <a:noFill/>
          <a:ln>
            <a:noFill/>
          </a:ln>
        </p:spPr>
      </p:pic>
      <p:pic>
        <p:nvPicPr>
          <p:cNvPr id="235" name="Google Shape;235;p13"/>
          <p:cNvPicPr preferRelativeResize="0"/>
          <p:nvPr/>
        </p:nvPicPr>
        <p:blipFill rotWithShape="1">
          <a:blip r:embed="rId4">
            <a:alphaModFix/>
          </a:blip>
          <a:srcRect b="0" l="0" r="0" t="0"/>
          <a:stretch/>
        </p:blipFill>
        <p:spPr>
          <a:xfrm>
            <a:off x="6546575" y="3748674"/>
            <a:ext cx="4793526" cy="20822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Image thresholding </a:t>
            </a:r>
            <a:endParaRPr/>
          </a:p>
        </p:txBody>
      </p:sp>
      <p:pic>
        <p:nvPicPr>
          <p:cNvPr id="241" name="Google Shape;241;p14"/>
          <p:cNvPicPr preferRelativeResize="0"/>
          <p:nvPr>
            <p:ph idx="1" type="body"/>
          </p:nvPr>
        </p:nvPicPr>
        <p:blipFill rotWithShape="1">
          <a:blip r:embed="rId3">
            <a:alphaModFix/>
          </a:blip>
          <a:srcRect b="0" l="0" r="0" t="0"/>
          <a:stretch/>
        </p:blipFill>
        <p:spPr>
          <a:xfrm>
            <a:off x="2357437" y="2592388"/>
            <a:ext cx="7477125" cy="3248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Local thresholding </a:t>
            </a:r>
            <a:endParaRPr/>
          </a:p>
        </p:txBody>
      </p:sp>
      <p:sp>
        <p:nvSpPr>
          <p:cNvPr id="247" name="Google Shape;247;p1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85000" lnSpcReduction="20000"/>
          </a:bodyPr>
          <a:lstStyle/>
          <a:p>
            <a:pPr indent="-285750" lvl="0" marL="285750" rtl="0" algn="l">
              <a:spcBef>
                <a:spcPts val="0"/>
              </a:spcBef>
              <a:spcAft>
                <a:spcPts val="0"/>
              </a:spcAft>
              <a:buSzPct val="115000"/>
              <a:buChar char="•"/>
            </a:pPr>
            <a:r>
              <a:rPr lang="en-US"/>
              <a:t>Local (adaptive) thresholding uses block processing to threshold blocks of pixels, one block at a time. </a:t>
            </a:r>
            <a:endParaRPr/>
          </a:p>
          <a:p>
            <a:pPr indent="-285750" lvl="1" marL="742950" rtl="0" algn="l">
              <a:spcBef>
                <a:spcPts val="1144"/>
              </a:spcBef>
              <a:spcAft>
                <a:spcPts val="0"/>
              </a:spcAft>
              <a:buSzPct val="115000"/>
              <a:buChar char="•"/>
            </a:pPr>
            <a:r>
              <a:rPr lang="en-US"/>
              <a:t>The size of the block is usually specified by the user. </a:t>
            </a:r>
            <a:endParaRPr/>
          </a:p>
          <a:p>
            <a:pPr indent="-285750" lvl="1" marL="742950" rtl="0" algn="l">
              <a:spcBef>
                <a:spcPts val="1144"/>
              </a:spcBef>
              <a:spcAft>
                <a:spcPts val="0"/>
              </a:spcAft>
              <a:buSzPct val="115000"/>
              <a:buChar char="•"/>
            </a:pPr>
            <a:r>
              <a:rPr lang="en-US"/>
              <a:t>Trade-off: </a:t>
            </a:r>
            <a:endParaRPr/>
          </a:p>
          <a:p>
            <a:pPr indent="-285750" lvl="2" marL="1200150" rtl="0" algn="l">
              <a:spcBef>
                <a:spcPts val="1076"/>
              </a:spcBef>
              <a:spcAft>
                <a:spcPts val="0"/>
              </a:spcAft>
              <a:buSzPct val="115000"/>
              <a:buChar char="•"/>
            </a:pPr>
            <a:r>
              <a:rPr lang="en-US"/>
              <a:t>If the blocks that are too small: large computational cost. </a:t>
            </a:r>
            <a:endParaRPr/>
          </a:p>
          <a:p>
            <a:pPr indent="-285750" lvl="2" marL="1200150" rtl="0" algn="l">
              <a:spcBef>
                <a:spcPts val="1076"/>
              </a:spcBef>
              <a:spcAft>
                <a:spcPts val="0"/>
              </a:spcAft>
              <a:buSzPct val="115000"/>
              <a:buChar char="•"/>
            </a:pPr>
            <a:r>
              <a:rPr lang="en-US"/>
              <a:t>If the blocks that are too large: results may not be substantially better than the ones obtained with global thresholding. </a:t>
            </a:r>
            <a:endParaRPr/>
          </a:p>
          <a:p>
            <a:pPr indent="-62293" lvl="0" marL="285750" rtl="0" algn="l">
              <a:spcBef>
                <a:spcPts val="1212"/>
              </a:spcBef>
              <a:spcAft>
                <a:spcPts val="0"/>
              </a:spcAft>
              <a:buSzPct val="115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Local thresholding </a:t>
            </a:r>
            <a:endParaRPr/>
          </a:p>
        </p:txBody>
      </p:sp>
      <p:sp>
        <p:nvSpPr>
          <p:cNvPr id="253" name="Google Shape;253;p1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Example </a:t>
            </a:r>
            <a:endParaRPr/>
          </a:p>
          <a:p>
            <a:pPr indent="-22859" lvl="0" marL="285750" rtl="0" algn="l">
              <a:spcBef>
                <a:spcPts val="1320"/>
              </a:spcBef>
              <a:spcAft>
                <a:spcPts val="0"/>
              </a:spcAft>
              <a:buSzPts val="4140"/>
              <a:buNone/>
            </a:pPr>
            <a:r>
              <a:t/>
            </a:r>
            <a:endParaRPr/>
          </a:p>
        </p:txBody>
      </p:sp>
      <p:pic>
        <p:nvPicPr>
          <p:cNvPr id="254" name="Google Shape;254;p16"/>
          <p:cNvPicPr preferRelativeResize="0"/>
          <p:nvPr/>
        </p:nvPicPr>
        <p:blipFill rotWithShape="1">
          <a:blip r:embed="rId3">
            <a:alphaModFix/>
          </a:blip>
          <a:srcRect b="0" l="0" r="0" t="0"/>
          <a:stretch/>
        </p:blipFill>
        <p:spPr>
          <a:xfrm>
            <a:off x="3157330" y="3318841"/>
            <a:ext cx="6248400" cy="2552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 </a:t>
            </a:r>
            <a:endParaRPr/>
          </a:p>
        </p:txBody>
      </p:sp>
      <p:sp>
        <p:nvSpPr>
          <p:cNvPr id="260" name="Google Shape;260;p17"/>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4140"/>
              <a:buChar char="•"/>
            </a:pPr>
            <a:r>
              <a:rPr lang="en-US"/>
              <a:t>Based on the fact that a pixel cannot be considered a part of an object or not based solely on its gray value. </a:t>
            </a:r>
            <a:endParaRPr/>
          </a:p>
          <a:p>
            <a:pPr indent="-285750" lvl="0" marL="285750" rtl="0" algn="l">
              <a:spcBef>
                <a:spcPts val="1320"/>
              </a:spcBef>
              <a:spcAft>
                <a:spcPts val="0"/>
              </a:spcAft>
              <a:buSzPts val="4140"/>
              <a:buChar char="•"/>
            </a:pPr>
            <a:r>
              <a:rPr lang="en-US"/>
              <a:t>Incorporate measures of connectivity among pixels in order to decide whether those pixels belong to the same region (or object) or not.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266" name="Google Shape;266;p18"/>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lang="en-US" sz="2800"/>
              <a:t>Divide an image </a:t>
            </a:r>
            <a:r>
              <a:rPr i="1" lang="en-US" sz="2800"/>
              <a:t>I </a:t>
            </a:r>
            <a:r>
              <a:rPr lang="en-US" sz="2800"/>
              <a:t>into n regions</a:t>
            </a:r>
            <a:r>
              <a:rPr i="1" lang="en-US" sz="2800"/>
              <a:t> R1, R2, …, Rn : </a:t>
            </a:r>
            <a:endParaRPr/>
          </a:p>
          <a:p>
            <a:pPr indent="-285750" lvl="0" marL="285750" rtl="0" algn="l">
              <a:spcBef>
                <a:spcPts val="1160"/>
              </a:spcBef>
              <a:spcAft>
                <a:spcPts val="0"/>
              </a:spcAft>
              <a:buSzPts val="3220"/>
              <a:buNone/>
            </a:pPr>
            <a:r>
              <a:t/>
            </a:r>
            <a:endParaRPr i="1" sz="2800"/>
          </a:p>
          <a:p>
            <a:pPr indent="-22859" lvl="0" marL="285750" rtl="0" algn="l">
              <a:spcBef>
                <a:spcPts val="1320"/>
              </a:spcBef>
              <a:spcAft>
                <a:spcPts val="0"/>
              </a:spcAft>
              <a:buSzPts val="4140"/>
              <a:buNone/>
            </a:pPr>
            <a:r>
              <a:t/>
            </a:r>
            <a:endParaRPr/>
          </a:p>
        </p:txBody>
      </p:sp>
      <p:pic>
        <p:nvPicPr>
          <p:cNvPr id="267" name="Google Shape;267;p18"/>
          <p:cNvPicPr preferRelativeResize="0"/>
          <p:nvPr/>
        </p:nvPicPr>
        <p:blipFill rotWithShape="1">
          <a:blip r:embed="rId3">
            <a:alphaModFix/>
          </a:blip>
          <a:srcRect b="0" l="0" r="0" t="0"/>
          <a:stretch/>
        </p:blipFill>
        <p:spPr>
          <a:xfrm>
            <a:off x="1952625" y="3079681"/>
            <a:ext cx="4362138" cy="1571832"/>
          </a:xfrm>
          <a:prstGeom prst="rect">
            <a:avLst/>
          </a:prstGeom>
          <a:noFill/>
          <a:ln>
            <a:noFill/>
          </a:ln>
        </p:spPr>
      </p:pic>
      <p:pic>
        <p:nvPicPr>
          <p:cNvPr id="268" name="Google Shape;268;p18"/>
          <p:cNvPicPr preferRelativeResize="0"/>
          <p:nvPr/>
        </p:nvPicPr>
        <p:blipFill rotWithShape="1">
          <a:blip r:embed="rId4">
            <a:alphaModFix/>
          </a:blip>
          <a:srcRect b="0" l="0" r="0" t="0"/>
          <a:stretch/>
        </p:blipFill>
        <p:spPr>
          <a:xfrm>
            <a:off x="1663345" y="4638260"/>
            <a:ext cx="8036392" cy="144448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274" name="Google Shape;274;p19"/>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spcBef>
                <a:spcPts val="0"/>
              </a:spcBef>
              <a:spcAft>
                <a:spcPts val="0"/>
              </a:spcAft>
              <a:buSzPct val="115000"/>
              <a:buChar char="•"/>
            </a:pPr>
            <a:r>
              <a:rPr lang="en-US"/>
              <a:t>Logical predicates (also called </a:t>
            </a:r>
            <a:r>
              <a:rPr i="1" lang="en-US"/>
              <a:t>homogeneity criteria</a:t>
            </a:r>
            <a:r>
              <a:rPr lang="en-US"/>
              <a:t>) include</a:t>
            </a:r>
            <a:r>
              <a:rPr i="1" lang="en-US"/>
              <a:t>: </a:t>
            </a:r>
            <a:endParaRPr/>
          </a:p>
          <a:p>
            <a:pPr indent="-285750" lvl="1" marL="742950" rtl="0" algn="l">
              <a:spcBef>
                <a:spcPts val="1192"/>
              </a:spcBef>
              <a:spcAft>
                <a:spcPts val="0"/>
              </a:spcAft>
              <a:buSzPct val="115000"/>
              <a:buChar char="•"/>
            </a:pPr>
            <a:r>
              <a:rPr lang="en-US"/>
              <a:t>Pure uniformity </a:t>
            </a:r>
            <a:endParaRPr/>
          </a:p>
          <a:p>
            <a:pPr indent="-285750" lvl="1" marL="742950" rtl="0" algn="l">
              <a:spcBef>
                <a:spcPts val="1192"/>
              </a:spcBef>
              <a:spcAft>
                <a:spcPts val="0"/>
              </a:spcAft>
              <a:buSzPct val="115000"/>
              <a:buChar char="•"/>
            </a:pPr>
            <a:r>
              <a:rPr lang="en-US"/>
              <a:t>Local mean relative to global mean </a:t>
            </a:r>
            <a:endParaRPr/>
          </a:p>
          <a:p>
            <a:pPr indent="-285750" lvl="1" marL="742950" rtl="0" algn="l">
              <a:spcBef>
                <a:spcPts val="1192"/>
              </a:spcBef>
              <a:spcAft>
                <a:spcPts val="0"/>
              </a:spcAft>
              <a:buSzPct val="115000"/>
              <a:buChar char="•"/>
            </a:pPr>
            <a:r>
              <a:rPr lang="en-US"/>
              <a:t>Local standard deviation relative to global mean </a:t>
            </a:r>
            <a:endParaRPr/>
          </a:p>
          <a:p>
            <a:pPr indent="-285750" lvl="1" marL="742950" rtl="0" algn="l">
              <a:spcBef>
                <a:spcPts val="1192"/>
              </a:spcBef>
              <a:spcAft>
                <a:spcPts val="0"/>
              </a:spcAft>
              <a:buSzPct val="115000"/>
              <a:buChar char="•"/>
            </a:pPr>
            <a:r>
              <a:rPr lang="en-US"/>
              <a:t>Variance </a:t>
            </a:r>
            <a:endParaRPr/>
          </a:p>
          <a:p>
            <a:pPr indent="-285750" lvl="1" marL="742950" rtl="0" algn="l">
              <a:spcBef>
                <a:spcPts val="1192"/>
              </a:spcBef>
              <a:spcAft>
                <a:spcPts val="0"/>
              </a:spcAft>
              <a:buSzPct val="115000"/>
              <a:buChar char="•"/>
            </a:pPr>
            <a:r>
              <a:rPr lang="en-US"/>
              <a:t>Texture </a:t>
            </a:r>
            <a:endParaRPr/>
          </a:p>
          <a:p>
            <a:pPr indent="-42576" lvl="0" marL="285750" rtl="0" algn="l">
              <a:spcBef>
                <a:spcPts val="1266"/>
              </a:spcBef>
              <a:spcAft>
                <a:spcPts val="0"/>
              </a:spcAft>
              <a:buSzPct val="115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280" name="Google Shape;280;p20"/>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70000" lnSpcReduction="20000"/>
          </a:bodyPr>
          <a:lstStyle/>
          <a:p>
            <a:pPr indent="-285750" lvl="0" marL="285750" rtl="0" algn="l">
              <a:spcBef>
                <a:spcPts val="0"/>
              </a:spcBef>
              <a:spcAft>
                <a:spcPts val="0"/>
              </a:spcAft>
              <a:buSzPct val="115000"/>
              <a:buChar char="•"/>
            </a:pPr>
            <a:r>
              <a:rPr lang="en-US"/>
              <a:t>Region growing – key factors: </a:t>
            </a:r>
            <a:endParaRPr/>
          </a:p>
          <a:p>
            <a:pPr indent="-285750" lvl="1" marL="742950" rtl="0" algn="l">
              <a:spcBef>
                <a:spcPts val="1048"/>
              </a:spcBef>
              <a:spcAft>
                <a:spcPts val="0"/>
              </a:spcAft>
              <a:buSzPct val="115000"/>
              <a:buChar char="•"/>
            </a:pPr>
            <a:r>
              <a:rPr lang="en-US"/>
              <a:t>Choice of similarity criteria: for monochrome images, regions are analyzed based on intensity levels and connectivity properties. </a:t>
            </a:r>
            <a:endParaRPr/>
          </a:p>
          <a:p>
            <a:pPr indent="-285750" lvl="1" marL="742950" rtl="0" algn="l">
              <a:spcBef>
                <a:spcPts val="1048"/>
              </a:spcBef>
              <a:spcAft>
                <a:spcPts val="0"/>
              </a:spcAft>
              <a:buSzPct val="115000"/>
              <a:buChar char="•"/>
            </a:pPr>
            <a:r>
              <a:rPr lang="en-US"/>
              <a:t>Selection of seed points: these can be determined interactively (if the application allows) or based on a preliminary cluster analysis of the image, used to determine groups of pixels that share similar properties, from which a seed can be chosen. </a:t>
            </a:r>
            <a:endParaRPr/>
          </a:p>
          <a:p>
            <a:pPr indent="-285750" lvl="1" marL="742950" rtl="0" algn="l">
              <a:spcBef>
                <a:spcPts val="1048"/>
              </a:spcBef>
              <a:spcAft>
                <a:spcPts val="0"/>
              </a:spcAft>
              <a:buSzPct val="115000"/>
              <a:buChar char="•"/>
            </a:pPr>
            <a:r>
              <a:rPr lang="en-US"/>
              <a:t>Stopping rule: a region should stop growing when there are no further pixels that satisfy the homogeneity and connectivity criteria to be included in that region. </a:t>
            </a:r>
            <a:endParaRPr/>
          </a:p>
          <a:p>
            <a:pPr indent="-101727" lvl="0" marL="285750" rtl="0" algn="l">
              <a:spcBef>
                <a:spcPts val="1104"/>
              </a:spcBef>
              <a:spcAft>
                <a:spcPts val="0"/>
              </a:spcAft>
              <a:buSzPct val="115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pic>
        <p:nvPicPr>
          <p:cNvPr id="286" name="Google Shape;286;p21"/>
          <p:cNvPicPr preferRelativeResize="0"/>
          <p:nvPr>
            <p:ph idx="1" type="body"/>
          </p:nvPr>
        </p:nvPicPr>
        <p:blipFill rotWithShape="1">
          <a:blip r:embed="rId3">
            <a:alphaModFix/>
          </a:blip>
          <a:srcRect b="0" l="0" r="0" t="0"/>
          <a:stretch/>
        </p:blipFill>
        <p:spPr>
          <a:xfrm>
            <a:off x="2769703" y="2299082"/>
            <a:ext cx="6056243" cy="40123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292" name="Google Shape;292;p2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lang="en-US" sz="2800"/>
              <a:t>Region growing - example </a:t>
            </a:r>
            <a:endParaRPr/>
          </a:p>
        </p:txBody>
      </p:sp>
      <p:pic>
        <p:nvPicPr>
          <p:cNvPr id="293" name="Google Shape;293;p22"/>
          <p:cNvPicPr preferRelativeResize="0"/>
          <p:nvPr/>
        </p:nvPicPr>
        <p:blipFill rotWithShape="1">
          <a:blip r:embed="rId3">
            <a:alphaModFix/>
          </a:blip>
          <a:srcRect b="0" l="0" r="0" t="0"/>
          <a:stretch/>
        </p:blipFill>
        <p:spPr>
          <a:xfrm>
            <a:off x="3294821" y="3134761"/>
            <a:ext cx="4403117" cy="721622"/>
          </a:xfrm>
          <a:prstGeom prst="rect">
            <a:avLst/>
          </a:prstGeom>
          <a:noFill/>
          <a:ln>
            <a:noFill/>
          </a:ln>
        </p:spPr>
      </p:pic>
      <p:pic>
        <p:nvPicPr>
          <p:cNvPr id="294" name="Google Shape;294;p22"/>
          <p:cNvPicPr preferRelativeResize="0"/>
          <p:nvPr/>
        </p:nvPicPr>
        <p:blipFill rotWithShape="1">
          <a:blip r:embed="rId4">
            <a:alphaModFix/>
          </a:blip>
          <a:srcRect b="0" l="0" r="0" t="0"/>
          <a:stretch/>
        </p:blipFill>
        <p:spPr>
          <a:xfrm>
            <a:off x="2542140" y="4193100"/>
            <a:ext cx="6085025" cy="19809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3"/>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300" name="Google Shape;300;p23"/>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Region growing: </a:t>
            </a:r>
            <a:endParaRPr/>
          </a:p>
          <a:p>
            <a:pPr indent="-285750" lvl="0" marL="285750" rtl="0" algn="l">
              <a:spcBef>
                <a:spcPts val="1320"/>
              </a:spcBef>
              <a:spcAft>
                <a:spcPts val="0"/>
              </a:spcAft>
              <a:buSzPts val="4140"/>
              <a:buNone/>
            </a:pPr>
            <a:r>
              <a:rPr lang="en-US"/>
              <a:t>	additional examples </a:t>
            </a:r>
            <a:endParaRPr/>
          </a:p>
          <a:p>
            <a:pPr indent="-22859" lvl="0" marL="285750" rtl="0" algn="l">
              <a:spcBef>
                <a:spcPts val="1320"/>
              </a:spcBef>
              <a:spcAft>
                <a:spcPts val="0"/>
              </a:spcAft>
              <a:buSzPts val="4140"/>
              <a:buNone/>
            </a:pPr>
            <a:r>
              <a:t/>
            </a:r>
            <a:endParaRPr/>
          </a:p>
        </p:txBody>
      </p:sp>
      <p:pic>
        <p:nvPicPr>
          <p:cNvPr id="301" name="Google Shape;301;p23"/>
          <p:cNvPicPr preferRelativeResize="0"/>
          <p:nvPr/>
        </p:nvPicPr>
        <p:blipFill rotWithShape="1">
          <a:blip r:embed="rId3">
            <a:alphaModFix/>
          </a:blip>
          <a:srcRect b="0" l="0" r="0" t="0"/>
          <a:stretch/>
        </p:blipFill>
        <p:spPr>
          <a:xfrm>
            <a:off x="6268279" y="2470607"/>
            <a:ext cx="4427677" cy="361896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307" name="Google Shape;307;p2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70000" lnSpcReduction="20000"/>
          </a:bodyPr>
          <a:lstStyle/>
          <a:p>
            <a:pPr indent="-285750" lvl="0" marL="285750" rtl="0" algn="l">
              <a:spcBef>
                <a:spcPts val="0"/>
              </a:spcBef>
              <a:spcAft>
                <a:spcPts val="0"/>
              </a:spcAft>
              <a:buSzPct val="115000"/>
              <a:buChar char="•"/>
            </a:pPr>
            <a:r>
              <a:rPr lang="en-US"/>
              <a:t>Region growing – limitations: </a:t>
            </a:r>
            <a:endParaRPr/>
          </a:p>
          <a:p>
            <a:pPr indent="-285750" lvl="1" marL="742950" rtl="0" algn="l">
              <a:spcBef>
                <a:spcPts val="1048"/>
              </a:spcBef>
              <a:spcAft>
                <a:spcPts val="0"/>
              </a:spcAft>
              <a:buSzPct val="115000"/>
              <a:buChar char="•"/>
            </a:pPr>
            <a:r>
              <a:rPr lang="en-US"/>
              <a:t>Not very stable: significantly different results are obtained when switching between 4-connectivity and 8-connectivity criteria. </a:t>
            </a:r>
            <a:endParaRPr/>
          </a:p>
          <a:p>
            <a:pPr indent="-285750" lvl="1" marL="742950" rtl="0" algn="l">
              <a:spcBef>
                <a:spcPts val="1048"/>
              </a:spcBef>
              <a:spcAft>
                <a:spcPts val="0"/>
              </a:spcAft>
              <a:buSzPct val="115000"/>
              <a:buChar char="•"/>
            </a:pPr>
            <a:r>
              <a:rPr lang="en-US"/>
              <a:t>Segmentation results are very sensitive to choice of logical uniformity predicate. </a:t>
            </a:r>
            <a:endParaRPr/>
          </a:p>
          <a:p>
            <a:pPr indent="-285750" lvl="1" marL="742950" rtl="0" algn="l">
              <a:spcBef>
                <a:spcPts val="1048"/>
              </a:spcBef>
              <a:spcAft>
                <a:spcPts val="0"/>
              </a:spcAft>
              <a:buSzPct val="115000"/>
              <a:buChar char="•"/>
            </a:pPr>
            <a:r>
              <a:rPr lang="en-US"/>
              <a:t>The number of seeds provided by the user may not be sufficient to assign every pixel to a region. </a:t>
            </a:r>
            <a:endParaRPr/>
          </a:p>
          <a:p>
            <a:pPr indent="-285750" lvl="1" marL="742950" rtl="0" algn="l">
              <a:spcBef>
                <a:spcPts val="1048"/>
              </a:spcBef>
              <a:spcAft>
                <a:spcPts val="0"/>
              </a:spcAft>
              <a:buSzPct val="115000"/>
              <a:buChar char="•"/>
            </a:pPr>
            <a:r>
              <a:rPr lang="en-US"/>
              <a:t>If two or more seeds that should belong to the same region are incorrectly provided to the algorithm, it will be forced to create distinct regions around them whereas only one region should exist. </a:t>
            </a:r>
            <a:endParaRPr/>
          </a:p>
          <a:p>
            <a:pPr indent="-101727" lvl="0" marL="285750" rtl="0" algn="l">
              <a:spcBef>
                <a:spcPts val="1104"/>
              </a:spcBef>
              <a:spcAft>
                <a:spcPts val="0"/>
              </a:spcAft>
              <a:buSzPct val="115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5"/>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313" name="Google Shape;313;p25"/>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4140"/>
              <a:buChar char="•"/>
            </a:pPr>
            <a:r>
              <a:rPr lang="en-US"/>
              <a:t>Region splitting and merging </a:t>
            </a:r>
            <a:endParaRPr/>
          </a:p>
          <a:p>
            <a:pPr indent="-285750" lvl="1" marL="742950" rtl="0" algn="l">
              <a:spcBef>
                <a:spcPts val="1240"/>
              </a:spcBef>
              <a:spcAft>
                <a:spcPts val="0"/>
              </a:spcAft>
              <a:buSzPts val="3680"/>
              <a:buChar char="•"/>
            </a:pPr>
            <a:r>
              <a:rPr lang="en-US"/>
              <a:t>Start from the entire image and partition (split) it into smaller subimages until each resulting region is considered homogeneous by some criterion. </a:t>
            </a:r>
            <a:endParaRPr/>
          </a:p>
          <a:p>
            <a:pPr indent="-285750" lvl="1" marL="742950" rtl="0" algn="l">
              <a:spcBef>
                <a:spcPts val="1240"/>
              </a:spcBef>
              <a:spcAft>
                <a:spcPts val="0"/>
              </a:spcAft>
              <a:buSzPts val="3680"/>
              <a:buChar char="•"/>
            </a:pPr>
            <a:r>
              <a:rPr lang="en-US"/>
              <a:t>Merge two or more adjacent regions into one if they satisfy a homogeneity criterion. </a:t>
            </a:r>
            <a:endParaRPr/>
          </a:p>
          <a:p>
            <a:pPr indent="-22859" lvl="0" marL="285750" rtl="0" algn="l">
              <a:spcBef>
                <a:spcPts val="1320"/>
              </a:spcBef>
              <a:spcAft>
                <a:spcPts val="0"/>
              </a:spcAft>
              <a:buSzPts val="414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Arial"/>
              <a:buNone/>
            </a:pPr>
            <a:r>
              <a:rPr lang="en-US"/>
              <a:t>Region-based segmentation</a:t>
            </a:r>
            <a:endParaRPr/>
          </a:p>
        </p:txBody>
      </p:sp>
      <p:sp>
        <p:nvSpPr>
          <p:cNvPr id="319" name="Google Shape;319;p26"/>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fontScale="85000" lnSpcReduction="10000"/>
          </a:bodyPr>
          <a:lstStyle/>
          <a:p>
            <a:pPr indent="-285750" lvl="0" marL="285750" rtl="0" algn="l">
              <a:spcBef>
                <a:spcPts val="0"/>
              </a:spcBef>
              <a:spcAft>
                <a:spcPts val="0"/>
              </a:spcAft>
              <a:buSzPct val="115000"/>
              <a:buChar char="•"/>
            </a:pPr>
            <a:r>
              <a:rPr lang="en-US" sz="2800"/>
              <a:t>Region splitting and merging </a:t>
            </a:r>
            <a:endParaRPr/>
          </a:p>
          <a:p>
            <a:pPr indent="-285750" lvl="1" marL="742950" rtl="0" algn="l">
              <a:spcBef>
                <a:spcPts val="1076"/>
              </a:spcBef>
              <a:spcAft>
                <a:spcPts val="0"/>
              </a:spcAft>
              <a:buSzPct val="115000"/>
              <a:buChar char="•"/>
            </a:pPr>
            <a:r>
              <a:rPr lang="en-US" sz="2800"/>
              <a:t>Data structure: quadtree, a special type of tree in which each node (except for the leaves) has four children</a:t>
            </a:r>
            <a:endParaRPr/>
          </a:p>
          <a:p>
            <a:pPr indent="-285750" lvl="1" marL="742950" rtl="0" algn="l">
              <a:spcBef>
                <a:spcPts val="1076"/>
              </a:spcBef>
              <a:spcAft>
                <a:spcPts val="0"/>
              </a:spcAft>
              <a:buSzPct val="115000"/>
              <a:buChar char="•"/>
            </a:pPr>
            <a:r>
              <a:rPr lang="en-US" sz="2800"/>
              <a:t>Each leaf node in the quadtree corresponds to a region in the segmented image </a:t>
            </a:r>
            <a:endParaRPr/>
          </a:p>
          <a:p>
            <a:pPr indent="-87121" lvl="0" marL="285750" rtl="0" algn="l">
              <a:spcBef>
                <a:spcPts val="1144"/>
              </a:spcBef>
              <a:spcAft>
                <a:spcPts val="0"/>
              </a:spcAft>
              <a:buSzPct val="115000"/>
              <a:buNone/>
            </a:pPr>
            <a:r>
              <a:t/>
            </a:r>
            <a:endParaRPr/>
          </a:p>
        </p:txBody>
      </p:sp>
      <p:pic>
        <p:nvPicPr>
          <p:cNvPr id="320" name="Google Shape;320;p26"/>
          <p:cNvPicPr preferRelativeResize="0"/>
          <p:nvPr>
            <p:ph idx="2" type="body"/>
          </p:nvPr>
        </p:nvPicPr>
        <p:blipFill rotWithShape="1">
          <a:blip r:embed="rId3">
            <a:alphaModFix/>
          </a:blip>
          <a:srcRect b="0" l="0" r="0" t="0"/>
          <a:stretch/>
        </p:blipFill>
        <p:spPr>
          <a:xfrm>
            <a:off x="6216650" y="3263106"/>
            <a:ext cx="4648200" cy="1905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326" name="Google Shape;326;p27"/>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220"/>
              <a:buChar char="•"/>
            </a:pPr>
            <a:r>
              <a:rPr lang="en-US" sz="2800"/>
              <a:t>Region splitting and merging  algoritms:</a:t>
            </a:r>
            <a:endParaRPr/>
          </a:p>
          <a:p>
            <a:pPr indent="-22859" lvl="0" marL="285750" rtl="0" algn="l">
              <a:spcBef>
                <a:spcPts val="1320"/>
              </a:spcBef>
              <a:spcAft>
                <a:spcPts val="0"/>
              </a:spcAft>
              <a:buSzPts val="4140"/>
              <a:buNone/>
            </a:pPr>
            <a:r>
              <a:t/>
            </a:r>
            <a:endParaRPr/>
          </a:p>
        </p:txBody>
      </p:sp>
      <p:pic>
        <p:nvPicPr>
          <p:cNvPr id="327" name="Google Shape;327;p27"/>
          <p:cNvPicPr preferRelativeResize="0"/>
          <p:nvPr/>
        </p:nvPicPr>
        <p:blipFill rotWithShape="1">
          <a:blip r:embed="rId3">
            <a:alphaModFix/>
          </a:blip>
          <a:srcRect b="0" l="0" r="0" t="0"/>
          <a:stretch/>
        </p:blipFill>
        <p:spPr>
          <a:xfrm>
            <a:off x="1944136" y="3167684"/>
            <a:ext cx="8034751" cy="306198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Region-based segmentation</a:t>
            </a:r>
            <a:endParaRPr/>
          </a:p>
        </p:txBody>
      </p:sp>
      <p:sp>
        <p:nvSpPr>
          <p:cNvPr id="333" name="Google Shape;333;p28"/>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92500" lnSpcReduction="10000"/>
          </a:bodyPr>
          <a:lstStyle/>
          <a:p>
            <a:pPr indent="-285750" lvl="0" marL="285750" rtl="0" algn="l">
              <a:spcBef>
                <a:spcPts val="0"/>
              </a:spcBef>
              <a:spcAft>
                <a:spcPts val="0"/>
              </a:spcAft>
              <a:buSzPct val="115000"/>
              <a:buChar char="•"/>
            </a:pPr>
            <a:r>
              <a:rPr lang="en-US"/>
              <a:t>Morphological image segmentation algorithm (</a:t>
            </a:r>
            <a:r>
              <a:rPr b="1" lang="en-US"/>
              <a:t>watershed</a:t>
            </a:r>
            <a:r>
              <a:rPr lang="en-US"/>
              <a:t>) </a:t>
            </a:r>
            <a:endParaRPr/>
          </a:p>
          <a:p>
            <a:pPr indent="-285750" lvl="0" marL="285750" rtl="0" algn="l">
              <a:spcBef>
                <a:spcPts val="1266"/>
              </a:spcBef>
              <a:spcAft>
                <a:spcPts val="0"/>
              </a:spcAft>
              <a:buSzPct val="115000"/>
              <a:buChar char="•"/>
            </a:pPr>
            <a:r>
              <a:rPr lang="en-US"/>
              <a:t>Used to represent regions in a segmented image (equivalent to catchment basins) and the boundaries among them (analogous to the ridge lines). </a:t>
            </a:r>
            <a:endParaRPr/>
          </a:p>
          <a:p>
            <a:pPr indent="-285750" lvl="0" marL="285750" rtl="0" algn="l">
              <a:spcBef>
                <a:spcPts val="1266"/>
              </a:spcBef>
              <a:spcAft>
                <a:spcPts val="0"/>
              </a:spcAft>
              <a:buSzPct val="115000"/>
              <a:buChar char="•"/>
            </a:pPr>
            <a:r>
              <a:rPr lang="en-US"/>
              <a:t>In MATLAB: </a:t>
            </a:r>
            <a:r>
              <a:rPr b="1" lang="en-US"/>
              <a:t>watershed </a:t>
            </a:r>
            <a:endParaRPr/>
          </a:p>
          <a:p>
            <a:pPr indent="-42576" lvl="0" marL="285750" rtl="0" algn="l">
              <a:spcBef>
                <a:spcPts val="1266"/>
              </a:spcBef>
              <a:spcAft>
                <a:spcPts val="0"/>
              </a:spcAft>
              <a:buSzPct val="115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Arial"/>
              <a:buNone/>
            </a:pPr>
            <a:r>
              <a:rPr lang="en-US"/>
              <a:t>Region-based segmentation</a:t>
            </a:r>
            <a:endParaRPr/>
          </a:p>
        </p:txBody>
      </p:sp>
      <p:sp>
        <p:nvSpPr>
          <p:cNvPr id="339" name="Google Shape;339;p29"/>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3680"/>
              <a:buChar char="•"/>
            </a:pPr>
            <a:r>
              <a:rPr lang="en-US"/>
              <a:t>The distance transform </a:t>
            </a:r>
            <a:endParaRPr/>
          </a:p>
          <a:p>
            <a:pPr indent="-285750" lvl="0" marL="285750" rtl="0" algn="l">
              <a:spcBef>
                <a:spcPts val="1240"/>
              </a:spcBef>
              <a:spcAft>
                <a:spcPts val="0"/>
              </a:spcAft>
              <a:buSzPts val="3680"/>
              <a:buChar char="•"/>
            </a:pPr>
            <a:r>
              <a:rPr lang="en-US"/>
              <a:t>Computes the distance from every pixel to the nearest nonzero-valued pixel. </a:t>
            </a:r>
            <a:endParaRPr/>
          </a:p>
          <a:p>
            <a:pPr indent="-285750" lvl="0" marL="285750" rtl="0" algn="l">
              <a:spcBef>
                <a:spcPts val="1240"/>
              </a:spcBef>
              <a:spcAft>
                <a:spcPts val="0"/>
              </a:spcAft>
              <a:buSzPts val="3680"/>
              <a:buChar char="•"/>
            </a:pPr>
            <a:r>
              <a:rPr lang="en-US"/>
              <a:t>In MATLAB: </a:t>
            </a:r>
            <a:r>
              <a:rPr b="1" lang="en-US"/>
              <a:t>bwdist </a:t>
            </a:r>
            <a:endParaRPr/>
          </a:p>
          <a:p>
            <a:pPr indent="-52070" lvl="0" marL="285750" rtl="0" algn="l">
              <a:spcBef>
                <a:spcPts val="1240"/>
              </a:spcBef>
              <a:spcAft>
                <a:spcPts val="0"/>
              </a:spcAft>
              <a:buSzPts val="3680"/>
              <a:buNone/>
            </a:pPr>
            <a:r>
              <a:t/>
            </a:r>
            <a:endParaRPr/>
          </a:p>
        </p:txBody>
      </p:sp>
      <p:sp>
        <p:nvSpPr>
          <p:cNvPr id="340" name="Google Shape;340;p29"/>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lnSpcReduction="10000"/>
          </a:bodyPr>
          <a:lstStyle/>
          <a:p>
            <a:pPr indent="-52070" lvl="0" marL="285750" rtl="0" algn="l">
              <a:spcBef>
                <a:spcPts val="0"/>
              </a:spcBef>
              <a:spcAft>
                <a:spcPts val="0"/>
              </a:spcAft>
              <a:buSzPts val="3680"/>
              <a:buNone/>
            </a:pPr>
            <a:r>
              <a:t/>
            </a:r>
            <a:endParaRPr/>
          </a:p>
        </p:txBody>
      </p:sp>
      <p:pic>
        <p:nvPicPr>
          <p:cNvPr id="341" name="Google Shape;341;p29"/>
          <p:cNvPicPr preferRelativeResize="0"/>
          <p:nvPr/>
        </p:nvPicPr>
        <p:blipFill rotWithShape="1">
          <a:blip r:embed="rId3">
            <a:alphaModFix/>
          </a:blip>
          <a:srcRect b="0" l="0" r="0" t="0"/>
          <a:stretch/>
        </p:blipFill>
        <p:spPr>
          <a:xfrm>
            <a:off x="6752811" y="2468217"/>
            <a:ext cx="3086100" cy="1524000"/>
          </a:xfrm>
          <a:prstGeom prst="rect">
            <a:avLst/>
          </a:prstGeom>
          <a:noFill/>
          <a:ln>
            <a:noFill/>
          </a:ln>
        </p:spPr>
      </p:pic>
      <p:pic>
        <p:nvPicPr>
          <p:cNvPr id="342" name="Google Shape;342;p29"/>
          <p:cNvPicPr preferRelativeResize="0"/>
          <p:nvPr/>
        </p:nvPicPr>
        <p:blipFill rotWithShape="1">
          <a:blip r:embed="rId4">
            <a:alphaModFix/>
          </a:blip>
          <a:srcRect b="0" l="0" r="0" t="0"/>
          <a:stretch/>
        </p:blipFill>
        <p:spPr>
          <a:xfrm>
            <a:off x="6732312" y="3963023"/>
            <a:ext cx="3286125" cy="2085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Arial"/>
              <a:buNone/>
            </a:pPr>
            <a:r>
              <a:rPr lang="en-US"/>
              <a:t>Region-based segmentation</a:t>
            </a:r>
            <a:endParaRPr/>
          </a:p>
        </p:txBody>
      </p:sp>
      <p:sp>
        <p:nvSpPr>
          <p:cNvPr id="348" name="Google Shape;348;p30"/>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680"/>
              <a:buChar char="•"/>
            </a:pPr>
            <a:r>
              <a:rPr lang="en-US"/>
              <a:t>Morphological image segmentation algorithm (watershed) – Example 15.5 </a:t>
            </a:r>
            <a:endParaRPr/>
          </a:p>
          <a:p>
            <a:pPr indent="-52070" lvl="0" marL="285750" rtl="0" algn="l">
              <a:spcBef>
                <a:spcPts val="1240"/>
              </a:spcBef>
              <a:spcAft>
                <a:spcPts val="0"/>
              </a:spcAft>
              <a:buSzPts val="3680"/>
              <a:buNone/>
            </a:pPr>
            <a:r>
              <a:t/>
            </a:r>
            <a:endParaRPr/>
          </a:p>
        </p:txBody>
      </p:sp>
      <p:sp>
        <p:nvSpPr>
          <p:cNvPr id="349" name="Google Shape;349;p30"/>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p>
            <a:pPr indent="-52070" lvl="0" marL="285750" rtl="0" algn="l">
              <a:spcBef>
                <a:spcPts val="0"/>
              </a:spcBef>
              <a:spcAft>
                <a:spcPts val="0"/>
              </a:spcAft>
              <a:buSzPts val="3680"/>
              <a:buNone/>
            </a:pPr>
            <a:r>
              <a:t/>
            </a:r>
            <a:endParaRPr/>
          </a:p>
        </p:txBody>
      </p:sp>
      <p:pic>
        <p:nvPicPr>
          <p:cNvPr id="350" name="Google Shape;350;p30"/>
          <p:cNvPicPr preferRelativeResize="0"/>
          <p:nvPr/>
        </p:nvPicPr>
        <p:blipFill rotWithShape="1">
          <a:blip r:embed="rId3">
            <a:alphaModFix/>
          </a:blip>
          <a:srcRect b="0" l="0" r="0" t="0"/>
          <a:stretch/>
        </p:blipFill>
        <p:spPr>
          <a:xfrm>
            <a:off x="5774635" y="2610677"/>
            <a:ext cx="5535511" cy="348532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Arial"/>
              <a:buNone/>
            </a:pPr>
            <a:r>
              <a:rPr lang="en-US"/>
              <a:t>Region-based segmentation</a:t>
            </a:r>
            <a:endParaRPr/>
          </a:p>
        </p:txBody>
      </p:sp>
      <p:sp>
        <p:nvSpPr>
          <p:cNvPr id="356" name="Google Shape;356;p31"/>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680"/>
              <a:buChar char="•"/>
            </a:pPr>
            <a:r>
              <a:rPr lang="en-US"/>
              <a:t>Morphological image segmentation algorithm (watershed) – Example 15.5 </a:t>
            </a:r>
            <a:endParaRPr/>
          </a:p>
          <a:p>
            <a:pPr indent="-52070" lvl="0" marL="285750" rtl="0" algn="l">
              <a:spcBef>
                <a:spcPts val="1240"/>
              </a:spcBef>
              <a:spcAft>
                <a:spcPts val="0"/>
              </a:spcAft>
              <a:buSzPts val="3680"/>
              <a:buNone/>
            </a:pPr>
            <a:r>
              <a:t/>
            </a:r>
            <a:endParaRPr/>
          </a:p>
        </p:txBody>
      </p:sp>
      <p:pic>
        <p:nvPicPr>
          <p:cNvPr id="357" name="Google Shape;357;p31"/>
          <p:cNvPicPr preferRelativeResize="0"/>
          <p:nvPr>
            <p:ph idx="2" type="body"/>
          </p:nvPr>
        </p:nvPicPr>
        <p:blipFill rotWithShape="1">
          <a:blip r:embed="rId3">
            <a:alphaModFix/>
          </a:blip>
          <a:srcRect b="0" l="0" r="0" t="0"/>
          <a:stretch/>
        </p:blipFill>
        <p:spPr>
          <a:xfrm>
            <a:off x="6305033" y="2441194"/>
            <a:ext cx="4349715" cy="378732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800"/>
              <a:buFont typeface="Arial"/>
              <a:buNone/>
            </a:pPr>
            <a:r>
              <a:rPr lang="en-US"/>
              <a:t>Hands-on</a:t>
            </a:r>
            <a:endParaRPr/>
          </a:p>
        </p:txBody>
      </p:sp>
      <p:sp>
        <p:nvSpPr>
          <p:cNvPr id="363" name="Google Shape;363;p3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4140"/>
              <a:buChar char="•"/>
            </a:pPr>
            <a:r>
              <a:rPr lang="en-US"/>
              <a:t>Tutorial 15.1: Image thresholding (page 379) </a:t>
            </a:r>
            <a:endParaRPr/>
          </a:p>
          <a:p>
            <a:pPr indent="-22859" lvl="0" marL="285750" rtl="0" algn="l">
              <a:spcBef>
                <a:spcPts val="1320"/>
              </a:spcBef>
              <a:spcAft>
                <a:spcPts val="0"/>
              </a:spcAft>
              <a:buSzPts val="41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PTER 5- Image sensing and acquisition">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2017-06-16T06:26:23Z</dcterms:created>
  <dc:creator>Thuy Nguyen</dc:creator>
</cp:coreProperties>
</file>
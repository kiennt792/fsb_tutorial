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76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987" autoAdjust="0"/>
    <p:restoredTop sz="94660"/>
  </p:normalViewPr>
  <p:slideViewPr>
    <p:cSldViewPr snapToGrid="0">
      <p:cViewPr varScale="1">
        <p:scale>
          <a:sx n="63" d="100"/>
          <a:sy n="63" d="100"/>
        </p:scale>
        <p:origin x="-108" y="-32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FFEF59C9-AC0B-4896-9217-64A6B5201B25}" type="datetimeFigureOut">
              <a:rPr lang="vi-VN" smtClean="0"/>
              <a:pPr/>
              <a:t>10/04/2018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240996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3600"/>
            </a:lvl1pPr>
            <a:lvl2pPr>
              <a:defRPr sz="3200"/>
            </a:lvl2pPr>
            <a:lvl3pPr>
              <a:defRPr sz="2800"/>
            </a:lvl3pPr>
            <a:lvl4pPr>
              <a:defRPr sz="2400"/>
            </a:lvl4pPr>
            <a:lvl5pPr>
              <a:defRPr sz="20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10/04/2018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xmlns="" val="8975888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10/04/2018</a:t>
            </a:fld>
            <a:endParaRPr lang="vi-V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xmlns="" val="3733210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10/04/2018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25902896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10/04/2018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xmlns="" val="2377413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10/04/2018</a:t>
            </a:fld>
            <a:endParaRPr lang="vi-V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5099711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10/04/2018</a:t>
            </a:fld>
            <a:endParaRPr lang="vi-V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13229589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10/04/2018</a:t>
            </a:fld>
            <a:endParaRPr lang="vi-V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xmlns="" val="36601303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10/04/2018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581914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10/04/2018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xmlns="" val="38177649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10/04/2018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xmlns="" val="26954549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10/04/2018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5593015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10/04/2018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11927075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10/04/2018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xmlns="" val="31756019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10/04/2018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7849253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10/04/2018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25384280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10/04/2018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414213582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10/04/2018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616223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1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1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FEF59C9-AC0B-4896-9217-64A6B5201B25}" type="datetimeFigureOut">
              <a:rPr lang="vi-VN" smtClean="0"/>
              <a:pPr/>
              <a:t>10/04/2018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xmlns="" val="2627066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8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b="1" smtClean="0"/>
              <a:t>CHAPTER 6</a:t>
            </a:r>
            <a:endParaRPr lang="vi-VN" sz="4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000" smtClean="0"/>
              <a:t>Arithmetic and Logic Operations</a:t>
            </a:r>
            <a:endParaRPr lang="vi-VN" sz="4000" dirty="0"/>
          </a:p>
        </p:txBody>
      </p:sp>
    </p:spTree>
    <p:extLst>
      <p:ext uri="{BB962C8B-B14F-4D97-AF65-F5344CB8AC3E}">
        <p14:creationId xmlns:p14="http://schemas.microsoft.com/office/powerpoint/2010/main" xmlns="" val="1220897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b="1" dirty="0"/>
              <a:t>WHAT WILL WE LEARN?</a:t>
            </a:r>
            <a:endParaRPr lang="vi-VN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mtClean="0"/>
              <a:t>Which arithmetic and logic operations can be applied to digital images?</a:t>
            </a:r>
          </a:p>
          <a:p>
            <a:r>
              <a:rPr lang="en-US" smtClean="0"/>
              <a:t>How are they performed in MATLAB?</a:t>
            </a:r>
          </a:p>
          <a:p>
            <a:r>
              <a:rPr lang="en-US" smtClean="0"/>
              <a:t>What are they used for?</a:t>
            </a:r>
          </a:p>
        </p:txBody>
      </p:sp>
    </p:spTree>
    <p:extLst>
      <p:ext uri="{BB962C8B-B14F-4D97-AF65-F5344CB8AC3E}">
        <p14:creationId xmlns:p14="http://schemas.microsoft.com/office/powerpoint/2010/main" xmlns="" val="3546310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Arithmetic and logic operations 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mtClean="0"/>
              <a:t>Combine two images, pixel-by-pixel, using an arithmetic or logical operator, resulting in a third image, Z: </a:t>
            </a:r>
          </a:p>
          <a:p>
            <a:pPr>
              <a:buNone/>
            </a:pPr>
            <a:r>
              <a:rPr lang="en-US" i="1" smtClean="0"/>
              <a:t>	X opn Y = Z </a:t>
            </a:r>
            <a:endParaRPr lang="en-US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6181725" y="2765707"/>
            <a:ext cx="4718050" cy="28997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Addition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mtClean="0"/>
              <a:t>Used to blend the pixel contents from two images or to add a constant value to an image's pixel values. </a:t>
            </a:r>
          </a:p>
          <a:p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smtClean="0"/>
              <a:t>Example 1 (blending two images): Z = X+Y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166884" y="3997842"/>
            <a:ext cx="5109778" cy="1812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Addition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mtClean="0"/>
              <a:t>Example 3 (additive noise): </a:t>
            </a:r>
          </a:p>
          <a:p>
            <a:pPr>
              <a:buNone/>
            </a:pPr>
            <a:r>
              <a:rPr lang="en-US" smtClean="0"/>
              <a:t>			Z = X + N</a:t>
            </a:r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6181725" y="3397856"/>
            <a:ext cx="4718050" cy="16355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Addition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mtClean="0"/>
              <a:t>Example 2 (additive image offset): </a:t>
            </a:r>
          </a:p>
          <a:p>
            <a:pPr>
              <a:buNone/>
            </a:pPr>
            <a:r>
              <a:rPr lang="en-US" smtClean="0"/>
              <a:t>			Z = X + 75</a:t>
            </a:r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6181725" y="3053698"/>
            <a:ext cx="4718050" cy="23238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Addition in MATLAB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b="1" smtClean="0"/>
              <a:t>imadd function (see Tutorial 6.1) </a:t>
            </a:r>
          </a:p>
          <a:p>
            <a:r>
              <a:rPr lang="en-US" b="1" smtClean="0"/>
              <a:t>Handling overflow: </a:t>
            </a:r>
          </a:p>
          <a:p>
            <a:pPr lvl="1">
              <a:buFont typeface="Wingdings" pitchFamily="2" charset="2"/>
              <a:buChar char="§"/>
            </a:pPr>
            <a:r>
              <a:rPr lang="en-US" b="1" smtClean="0"/>
              <a:t>Truncation </a:t>
            </a:r>
          </a:p>
          <a:p>
            <a:pPr lvl="1">
              <a:buFont typeface="Wingdings" pitchFamily="2" charset="2"/>
              <a:buChar char="§"/>
            </a:pPr>
            <a:r>
              <a:rPr lang="en-US" b="1" smtClean="0"/>
              <a:t>Normalization </a:t>
            </a:r>
          </a:p>
          <a:p>
            <a:endParaRPr lang="en-US" b="1" smtClean="0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6315740" y="4125067"/>
            <a:ext cx="4488730" cy="1637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Addition in MATLAB 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sz="4500" smtClean="0"/>
              <a:t>Handling overflow (Example 6.1): </a:t>
            </a:r>
          </a:p>
          <a:p>
            <a:pPr lvl="1">
              <a:buNone/>
            </a:pPr>
            <a:r>
              <a:rPr lang="nl-NL" b="1" smtClean="0">
                <a:latin typeface="Courier New" pitchFamily="49" charset="0"/>
                <a:cs typeface="Courier New" pitchFamily="49" charset="0"/>
              </a:rPr>
              <a:t>X = uint8([200 100 100; 0 10 50; 50 250 120]) </a:t>
            </a:r>
          </a:p>
          <a:p>
            <a:pPr lvl="1">
              <a:buNone/>
            </a:pPr>
            <a:r>
              <a:rPr lang="es-ES" b="1" smtClean="0">
                <a:latin typeface="Courier New" pitchFamily="49" charset="0"/>
                <a:cs typeface="Courier New" pitchFamily="49" charset="0"/>
              </a:rPr>
              <a:t>Y = uint8([100 220 230; 45 95 120; 205 100 0]) </a:t>
            </a:r>
          </a:p>
          <a:p>
            <a:pPr lvl="1">
              <a:buNone/>
            </a:pPr>
            <a:r>
              <a:rPr lang="en-US" b="1" smtClean="0">
                <a:latin typeface="Courier New" pitchFamily="49" charset="0"/>
                <a:cs typeface="Courier New" pitchFamily="49" charset="0"/>
              </a:rPr>
              <a:t>W = uint16(X) + uint16(Y) </a:t>
            </a:r>
          </a:p>
          <a:p>
            <a:pPr lvl="1">
              <a:buNone/>
            </a:pPr>
            <a:r>
              <a:rPr lang="en-US" b="1" smtClean="0">
                <a:latin typeface="Courier New" pitchFamily="49" charset="0"/>
                <a:cs typeface="Courier New" pitchFamily="49" charset="0"/>
              </a:rPr>
              <a:t>fmax = max(W(:)) </a:t>
            </a:r>
          </a:p>
          <a:p>
            <a:pPr lvl="1">
              <a:buNone/>
            </a:pPr>
            <a:r>
              <a:rPr lang="en-US" b="1" smtClean="0">
                <a:latin typeface="Courier New" pitchFamily="49" charset="0"/>
                <a:cs typeface="Courier New" pitchFamily="49" charset="0"/>
              </a:rPr>
              <a:t>fmin = min(W(:)) </a:t>
            </a:r>
          </a:p>
          <a:p>
            <a:pPr lvl="1">
              <a:buNone/>
            </a:pPr>
            <a:r>
              <a:rPr lang="fr-FR" b="1" smtClean="0">
                <a:latin typeface="Courier New" pitchFamily="49" charset="0"/>
                <a:cs typeface="Courier New" pitchFamily="49" charset="0"/>
              </a:rPr>
              <a:t>Za = uint8(255.0*double((W-fmin))/double((fmax-fmin))) </a:t>
            </a:r>
          </a:p>
          <a:p>
            <a:pPr lvl="1">
              <a:buNone/>
            </a:pPr>
            <a:r>
              <a:rPr lang="en-US" b="1" smtClean="0">
                <a:latin typeface="Courier New" pitchFamily="49" charset="0"/>
                <a:cs typeface="Courier New" pitchFamily="49" charset="0"/>
              </a:rPr>
              <a:t>Zb = imadd(X,Y) </a:t>
            </a:r>
            <a:endParaRPr lang="en-US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3961" y="914400"/>
            <a:ext cx="9601196" cy="4748108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 err="1" smtClean="0"/>
              <a:t>im</a:t>
            </a:r>
            <a:r>
              <a:rPr lang="en-US" b="1" dirty="0" smtClean="0"/>
              <a:t> = </a:t>
            </a:r>
            <a:r>
              <a:rPr lang="en-US" b="1" dirty="0" err="1" smtClean="0"/>
              <a:t>imread</a:t>
            </a:r>
            <a:r>
              <a:rPr lang="en-US" b="1" dirty="0" smtClean="0"/>
              <a:t>('pout.tif');</a:t>
            </a:r>
          </a:p>
          <a:p>
            <a:r>
              <a:rPr lang="en-US" b="1" dirty="0" err="1" smtClean="0"/>
              <a:t>imshow</a:t>
            </a:r>
            <a:r>
              <a:rPr lang="en-US" b="1" dirty="0" smtClean="0"/>
              <a:t>(</a:t>
            </a:r>
            <a:r>
              <a:rPr lang="en-US" b="1" dirty="0" err="1" smtClean="0"/>
              <a:t>im</a:t>
            </a:r>
            <a:r>
              <a:rPr lang="en-US" b="1" dirty="0" smtClean="0"/>
              <a:t>)</a:t>
            </a:r>
          </a:p>
          <a:p>
            <a:r>
              <a:rPr lang="en-US" b="1" dirty="0" err="1" smtClean="0"/>
              <a:t>im</a:t>
            </a:r>
            <a:r>
              <a:rPr lang="en-US" b="1" dirty="0" smtClean="0"/>
              <a:t> = double(</a:t>
            </a:r>
            <a:r>
              <a:rPr lang="en-US" b="1" dirty="0" err="1" smtClean="0"/>
              <a:t>im</a:t>
            </a:r>
            <a:r>
              <a:rPr lang="en-US" b="1" dirty="0" smtClean="0"/>
              <a:t>);</a:t>
            </a:r>
          </a:p>
          <a:p>
            <a:r>
              <a:rPr lang="en-US" b="1" dirty="0" err="1" smtClean="0"/>
              <a:t>im</a:t>
            </a:r>
            <a:r>
              <a:rPr lang="en-US" b="1" dirty="0" smtClean="0"/>
              <a:t> = </a:t>
            </a:r>
            <a:r>
              <a:rPr lang="en-US" b="1" dirty="0" err="1" smtClean="0"/>
              <a:t>im</a:t>
            </a:r>
            <a:r>
              <a:rPr lang="en-US" b="1" dirty="0" smtClean="0"/>
              <a:t>/max(</a:t>
            </a:r>
            <a:r>
              <a:rPr lang="en-US" b="1" dirty="0" err="1" smtClean="0"/>
              <a:t>im</a:t>
            </a:r>
            <a:r>
              <a:rPr lang="en-US" b="1" dirty="0" smtClean="0"/>
              <a:t>(:))*255</a:t>
            </a:r>
            <a:r>
              <a:rPr lang="en-US" b="1" dirty="0" smtClean="0"/>
              <a:t>;</a:t>
            </a:r>
            <a:endParaRPr lang="en-US" b="1" dirty="0" smtClean="0"/>
          </a:p>
          <a:p>
            <a:r>
              <a:rPr lang="en-US" b="1" dirty="0" smtClean="0"/>
              <a:t>sigma=10</a:t>
            </a:r>
            <a:r>
              <a:rPr lang="en-US" b="1" dirty="0" smtClean="0"/>
              <a:t>;</a:t>
            </a:r>
          </a:p>
          <a:p>
            <a:r>
              <a:rPr lang="en-US" b="1" dirty="0" smtClean="0"/>
              <a:t>n = </a:t>
            </a:r>
            <a:r>
              <a:rPr lang="en-US" b="1" dirty="0" err="1" smtClean="0"/>
              <a:t>randn</a:t>
            </a:r>
            <a:r>
              <a:rPr lang="en-US" b="1" dirty="0" smtClean="0"/>
              <a:t>(size(</a:t>
            </a:r>
            <a:r>
              <a:rPr lang="en-US" b="1" dirty="0" err="1" smtClean="0"/>
              <a:t>im</a:t>
            </a:r>
            <a:r>
              <a:rPr lang="en-US" b="1" dirty="0" smtClean="0"/>
              <a:t>)) * sigma;</a:t>
            </a:r>
          </a:p>
          <a:p>
            <a:r>
              <a:rPr lang="en-US" b="1" dirty="0" err="1" smtClean="0"/>
              <a:t>imnoise</a:t>
            </a:r>
            <a:r>
              <a:rPr lang="en-US" b="1" dirty="0" smtClean="0"/>
              <a:t> = </a:t>
            </a:r>
            <a:r>
              <a:rPr lang="en-US" b="1" dirty="0" err="1" smtClean="0"/>
              <a:t>im</a:t>
            </a:r>
            <a:r>
              <a:rPr lang="en-US" b="1" dirty="0" smtClean="0"/>
              <a:t> + n</a:t>
            </a:r>
            <a:r>
              <a:rPr lang="en-US" b="1" dirty="0" smtClean="0"/>
              <a:t>;</a:t>
            </a:r>
            <a:endParaRPr lang="en-US" b="1" dirty="0" smtClean="0"/>
          </a:p>
          <a:p>
            <a:r>
              <a:rPr lang="en-US" b="1" dirty="0" smtClean="0"/>
              <a:t>figure; </a:t>
            </a:r>
            <a:r>
              <a:rPr lang="en-US" b="1" dirty="0" err="1" smtClean="0"/>
              <a:t>imshow</a:t>
            </a:r>
            <a:r>
              <a:rPr lang="en-US" b="1" dirty="0" smtClean="0"/>
              <a:t>(</a:t>
            </a:r>
            <a:r>
              <a:rPr lang="en-US" b="1" dirty="0" err="1" smtClean="0"/>
              <a:t>imnoise</a:t>
            </a:r>
            <a:r>
              <a:rPr lang="en-US" b="1" dirty="0" smtClean="0"/>
              <a:t>/255</a:t>
            </a:r>
            <a:r>
              <a:rPr lang="en-US" b="1" dirty="0" smtClean="0"/>
              <a:t>)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Subtraction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mtClean="0"/>
              <a:t>Used to used to detect differences between two images, decrease its overall brightness, or obtain its negative. </a:t>
            </a:r>
          </a:p>
          <a:p>
            <a:r>
              <a:rPr lang="en-US" smtClean="0"/>
              <a:t>Example 1 (subtractive image offset): Z=X-75</a:t>
            </a:r>
          </a:p>
          <a:p>
            <a:pPr>
              <a:buNone/>
            </a:pPr>
            <a:endParaRPr lang="en-US"/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6181725" y="3064346"/>
            <a:ext cx="4718050" cy="23025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Subtraction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mtClean="0"/>
              <a:t>Example 2 : negative of an image </a:t>
            </a:r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6181725" y="3053370"/>
            <a:ext cx="4718050" cy="232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Subtraction in MATLAB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smtClean="0"/>
              <a:t>Three functions: </a:t>
            </a:r>
          </a:p>
          <a:p>
            <a:pPr lvl="1">
              <a:buFont typeface="Wingdings" pitchFamily="2" charset="2"/>
              <a:buChar char="§"/>
            </a:pPr>
            <a:r>
              <a:rPr lang="en-US" b="1" smtClean="0"/>
              <a:t>imsubtract </a:t>
            </a:r>
          </a:p>
          <a:p>
            <a:pPr lvl="1">
              <a:buFont typeface="Wingdings" pitchFamily="2" charset="2"/>
              <a:buChar char="§"/>
            </a:pPr>
            <a:r>
              <a:rPr lang="en-US" b="1" smtClean="0"/>
              <a:t>imabsdiff </a:t>
            </a:r>
          </a:p>
          <a:p>
            <a:pPr lvl="1">
              <a:buFont typeface="Wingdings" pitchFamily="2" charset="2"/>
              <a:buChar char="§"/>
            </a:pPr>
            <a:r>
              <a:rPr lang="en-US" b="1" smtClean="0"/>
              <a:t>imcomplement </a:t>
            </a:r>
          </a:p>
          <a:p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54435" y="2560320"/>
            <a:ext cx="6943668" cy="3310128"/>
          </a:xfrm>
        </p:spPr>
        <p:txBody>
          <a:bodyPr>
            <a:normAutofit fontScale="85000" lnSpcReduction="10000"/>
          </a:bodyPr>
          <a:lstStyle/>
          <a:p>
            <a:r>
              <a:rPr lang="en-US" smtClean="0"/>
              <a:t>Example 6.2: </a:t>
            </a:r>
          </a:p>
          <a:p>
            <a:pPr>
              <a:buNone/>
            </a:pPr>
            <a:r>
              <a:rPr lang="en-US" b="1" smtClean="0"/>
              <a:t>	X = uint8([200 100 100; 0 10 50; 50 250 120]) </a:t>
            </a:r>
          </a:p>
          <a:p>
            <a:pPr>
              <a:buNone/>
            </a:pPr>
            <a:r>
              <a:rPr lang="en-US" b="1" smtClean="0"/>
              <a:t>	Y = uint8([100 220 230; 45 95 120; 205 100 0]) </a:t>
            </a:r>
          </a:p>
          <a:p>
            <a:pPr>
              <a:buNone/>
            </a:pPr>
            <a:r>
              <a:rPr lang="en-US" b="1" smtClean="0"/>
              <a:t>	Za = imsubtract(X,Y) </a:t>
            </a:r>
          </a:p>
          <a:p>
            <a:pPr>
              <a:buNone/>
            </a:pPr>
            <a:r>
              <a:rPr lang="en-US" b="1" smtClean="0"/>
              <a:t>	Zb = imsubtract(Y,X) </a:t>
            </a:r>
          </a:p>
          <a:p>
            <a:pPr>
              <a:buNone/>
            </a:pPr>
            <a:r>
              <a:rPr lang="en-US" b="1" smtClean="0"/>
              <a:t>	Zc = imabsdiff(Y,X) </a:t>
            </a:r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Multiplication and division in MATLAB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mtClean="0"/>
              <a:t>Functions: </a:t>
            </a:r>
          </a:p>
          <a:p>
            <a:pPr lvl="1">
              <a:buFont typeface="Wingdings" pitchFamily="2" charset="2"/>
              <a:buChar char="§"/>
            </a:pPr>
            <a:r>
              <a:rPr lang="en-US" b="1" smtClean="0"/>
              <a:t>immultiply </a:t>
            </a:r>
          </a:p>
          <a:p>
            <a:pPr lvl="1">
              <a:buFont typeface="Wingdings" pitchFamily="2" charset="2"/>
              <a:buChar char="§"/>
            </a:pPr>
            <a:r>
              <a:rPr lang="en-US" b="1" smtClean="0"/>
              <a:t>imdivide </a:t>
            </a:r>
          </a:p>
          <a:p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451214" cy="1182340"/>
          </a:xfrm>
        </p:spPr>
        <p:txBody>
          <a:bodyPr/>
          <a:lstStyle/>
          <a:p>
            <a:r>
              <a:rPr lang="en-US" smtClean="0"/>
              <a:t>Example (Fig. 6.6): </a:t>
            </a:r>
          </a:p>
          <a:p>
            <a:endParaRPr lang="en-US"/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042478" y="3674877"/>
            <a:ext cx="7381875" cy="2400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Logic operations 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mtClean="0"/>
              <a:t>Performed in a bit-wise fashion on the binary contents of each pixel value. </a:t>
            </a:r>
          </a:p>
          <a:p>
            <a:pPr lvl="1">
              <a:buFont typeface="Wingdings" pitchFamily="2" charset="2"/>
              <a:buChar char="§"/>
            </a:pPr>
            <a:r>
              <a:rPr lang="en-US" smtClean="0"/>
              <a:t>AND, XOR and OR require two or more arguments. </a:t>
            </a:r>
          </a:p>
          <a:p>
            <a:pPr lvl="1">
              <a:buFont typeface="Wingdings" pitchFamily="2" charset="2"/>
              <a:buChar char="§"/>
            </a:pPr>
            <a:r>
              <a:rPr lang="en-US" smtClean="0"/>
              <a:t>NOT operator only requires only one argument. </a:t>
            </a:r>
          </a:p>
          <a:p>
            <a:r>
              <a:rPr lang="en-US" smtClean="0"/>
              <a:t>Book examples use the convention: 1 (true) for white pixels; 0 (false) for black pixels. </a:t>
            </a:r>
          </a:p>
          <a:p>
            <a:pPr>
              <a:buNone/>
            </a:pPr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Logic operations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1" y="2556932"/>
            <a:ext cx="9601196" cy="802956"/>
          </a:xfrm>
        </p:spPr>
        <p:txBody>
          <a:bodyPr/>
          <a:lstStyle/>
          <a:p>
            <a:r>
              <a:rPr lang="en-US" smtClean="0"/>
              <a:t>Examples using binary test images </a:t>
            </a:r>
          </a:p>
          <a:p>
            <a:endParaRPr lang="en-US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05298" y="3232296"/>
            <a:ext cx="7170331" cy="29671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mtClean="0"/>
              <a:t>Logic operations on </a:t>
            </a:r>
            <a:br>
              <a:rPr lang="en-US" smtClean="0"/>
            </a:br>
            <a:r>
              <a:rPr lang="en-US" smtClean="0"/>
              <a:t>monochrome images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1" y="2556932"/>
            <a:ext cx="9601196" cy="909282"/>
          </a:xfrm>
        </p:spPr>
        <p:txBody>
          <a:bodyPr/>
          <a:lstStyle/>
          <a:p>
            <a:r>
              <a:rPr lang="en-US" smtClean="0"/>
              <a:t>Example 1 (AND) 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52642" y="3381154"/>
            <a:ext cx="10026174" cy="2303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mtClean="0"/>
              <a:t>Logic operations on </a:t>
            </a:r>
            <a:br>
              <a:rPr lang="en-US" smtClean="0"/>
            </a:br>
            <a:r>
              <a:rPr lang="en-US" smtClean="0"/>
              <a:t>monochrome images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1" y="2556932"/>
            <a:ext cx="9601196" cy="909282"/>
          </a:xfrm>
        </p:spPr>
        <p:txBody>
          <a:bodyPr/>
          <a:lstStyle/>
          <a:p>
            <a:r>
              <a:rPr lang="en-US" smtClean="0"/>
              <a:t>Example 2 (OR) </a:t>
            </a: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8228" y="3420139"/>
            <a:ext cx="9345778" cy="21087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mtClean="0"/>
              <a:t>Logic operations on </a:t>
            </a:r>
            <a:br>
              <a:rPr lang="en-US" smtClean="0"/>
            </a:br>
            <a:r>
              <a:rPr lang="en-US" smtClean="0"/>
              <a:t>monochrome images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1" y="2556932"/>
            <a:ext cx="9601196" cy="909282"/>
          </a:xfrm>
        </p:spPr>
        <p:txBody>
          <a:bodyPr/>
          <a:lstStyle/>
          <a:p>
            <a:r>
              <a:rPr lang="en-US" smtClean="0"/>
              <a:t>Example 3 (XOR) </a:t>
            </a: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33916" y="3444949"/>
            <a:ext cx="10293373" cy="2327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mtClean="0"/>
              <a:t>Logic operations on </a:t>
            </a:r>
            <a:br>
              <a:rPr lang="en-US" smtClean="0"/>
            </a:br>
            <a:r>
              <a:rPr lang="en-US" smtClean="0"/>
              <a:t>monochrome images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1" y="2556932"/>
            <a:ext cx="9601196" cy="909282"/>
          </a:xfrm>
        </p:spPr>
        <p:txBody>
          <a:bodyPr/>
          <a:lstStyle/>
          <a:p>
            <a:r>
              <a:rPr lang="en-US" smtClean="0"/>
              <a:t>Example 4 (NOT) </a:t>
            </a: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473731" y="3437494"/>
            <a:ext cx="7286957" cy="23912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Logic operations in MATLAB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mtClean="0"/>
              <a:t>Functions (see Tutorial 6.2): </a:t>
            </a:r>
          </a:p>
          <a:p>
            <a:pPr lvl="1">
              <a:buFont typeface="Wingdings" pitchFamily="2" charset="2"/>
              <a:buChar char="§"/>
            </a:pPr>
            <a:r>
              <a:rPr lang="en-US" b="1" smtClean="0"/>
              <a:t>bitand </a:t>
            </a:r>
          </a:p>
          <a:p>
            <a:pPr lvl="1">
              <a:buFont typeface="Wingdings" pitchFamily="2" charset="2"/>
              <a:buChar char="§"/>
            </a:pPr>
            <a:r>
              <a:rPr lang="en-US" b="1" smtClean="0"/>
              <a:t>bitor </a:t>
            </a:r>
          </a:p>
          <a:p>
            <a:pPr lvl="1">
              <a:buFont typeface="Wingdings" pitchFamily="2" charset="2"/>
              <a:buChar char="§"/>
            </a:pPr>
            <a:r>
              <a:rPr lang="en-US" b="1" smtClean="0"/>
              <a:t>bitxor </a:t>
            </a:r>
          </a:p>
          <a:p>
            <a:pPr lvl="1">
              <a:buFont typeface="Wingdings" pitchFamily="2" charset="2"/>
              <a:buChar char="§"/>
            </a:pPr>
            <a:r>
              <a:rPr lang="en-US" b="1" smtClean="0"/>
              <a:t>bitcmp </a:t>
            </a:r>
          </a:p>
          <a:p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Hands-on </a:t>
            </a:r>
            <a:br>
              <a:rPr lang="en-US" smtClean="0"/>
            </a:br>
            <a:r>
              <a:rPr lang="en-US" smtClean="0"/>
              <a:t>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mtClean="0"/>
              <a:t>Tutorial 6.1: Arithmetic operations (page 113) </a:t>
            </a:r>
          </a:p>
          <a:p>
            <a:r>
              <a:rPr lang="en-US" smtClean="0"/>
              <a:t>Tutorial 6.2: Logic operations and region of interest (ROI) processing (page 118) </a:t>
            </a:r>
          </a:p>
          <a:p>
            <a:pPr>
              <a:buNone/>
            </a:pPr>
            <a:endParaRPr lang="en-US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hapter 1 - Introduction and Overview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Chapter 1 - Introduction and Overview</Template>
  <TotalTime>3531</TotalTime>
  <Words>430</Words>
  <Application>Microsoft Office PowerPoint</Application>
  <PresentationFormat>Custom</PresentationFormat>
  <Paragraphs>85</Paragraphs>
  <Slides>21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Chapter 1 - Introduction and Overview</vt:lpstr>
      <vt:lpstr>CHAPTER 6</vt:lpstr>
      <vt:lpstr>WHAT WILL WE LEARN?</vt:lpstr>
      <vt:lpstr>Arithmetic and logic operations </vt:lpstr>
      <vt:lpstr>Addition </vt:lpstr>
      <vt:lpstr>Addition </vt:lpstr>
      <vt:lpstr>Addition </vt:lpstr>
      <vt:lpstr>Addition in MATLAB </vt:lpstr>
      <vt:lpstr>Addition in MATLAB </vt:lpstr>
      <vt:lpstr>Slide 9</vt:lpstr>
      <vt:lpstr>Subtraction </vt:lpstr>
      <vt:lpstr>Subtraction </vt:lpstr>
      <vt:lpstr>Subtraction in MATLAB </vt:lpstr>
      <vt:lpstr>Multiplication and division in MATLAB </vt:lpstr>
      <vt:lpstr>Logic operations </vt:lpstr>
      <vt:lpstr>Logic operations </vt:lpstr>
      <vt:lpstr>Logic operations on  monochrome images </vt:lpstr>
      <vt:lpstr>Logic operations on  monochrome images </vt:lpstr>
      <vt:lpstr>Logic operations on  monochrome images </vt:lpstr>
      <vt:lpstr>Logic operations on  monochrome images </vt:lpstr>
      <vt:lpstr>Logic operations in MATLAB </vt:lpstr>
      <vt:lpstr> Hands-on  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</dc:title>
  <dc:creator>Thuy Nguyen</dc:creator>
  <cp:lastModifiedBy>thuy</cp:lastModifiedBy>
  <cp:revision>51</cp:revision>
  <dcterms:created xsi:type="dcterms:W3CDTF">2017-05-10T23:12:06Z</dcterms:created>
  <dcterms:modified xsi:type="dcterms:W3CDTF">2018-04-10T13:19:14Z</dcterms:modified>
</cp:coreProperties>
</file>
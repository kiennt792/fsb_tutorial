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>
        <p:scale>
          <a:sx n="44" d="100"/>
          <a:sy n="44" d="100"/>
        </p:scale>
        <p:origin x="-1686" y="-7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1797364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62825"/>
            <a:ext cx="9601196" cy="1049862"/>
          </a:xfrm>
        </p:spPr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857829"/>
            <a:ext cx="9601196" cy="4339771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17/05/2017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7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>
                <a:latin typeface="Arial"/>
              </a:rPr>
              <a:t>GEOMETRIC OPERATIONS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xmlns="" val="12208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What do geometric operations do to an image and what are they used for?</a:t>
            </a:r>
          </a:p>
          <a:p>
            <a:r>
              <a:rPr lang="en-US" smtClean="0"/>
              <a:t>What are the techniques used to enlarge/reduce a digital image?</a:t>
            </a:r>
          </a:p>
          <a:p>
            <a:r>
              <a:rPr lang="en-US" smtClean="0"/>
              <a:t>What are the main interpolation methods used in association with geometric operations?</a:t>
            </a:r>
          </a:p>
          <a:p>
            <a:r>
              <a:rPr lang="en-US" smtClean="0"/>
              <a:t>What are affine transformations and how can they be performed using MATLAB?</a:t>
            </a:r>
          </a:p>
          <a:p>
            <a:r>
              <a:rPr lang="en-US" smtClean="0"/>
              <a:t>How can I rotate, flip, crop, or resize images in MATLAB?</a:t>
            </a:r>
          </a:p>
          <a:p>
            <a:r>
              <a:rPr lang="en-US" smtClean="0"/>
              <a:t>What is image registration and where is it used?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631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Examples of geometric operations </a:t>
            </a:r>
            <a:endParaRPr lang="vi-V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36335" y="2582211"/>
            <a:ext cx="4210493" cy="3584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87212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Geometric Operations…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Modify the </a:t>
            </a:r>
            <a:r>
              <a:rPr lang="en-US" i="1" smtClean="0"/>
              <a:t>geometry </a:t>
            </a:r>
            <a:r>
              <a:rPr lang="en-US" smtClean="0"/>
              <a:t>of an image by repositioning pixels in a constrained way.</a:t>
            </a:r>
            <a:r>
              <a:rPr lang="en-US" i="1" smtClean="0"/>
              <a:t> </a:t>
            </a:r>
          </a:p>
          <a:p>
            <a:r>
              <a:rPr lang="en-US" smtClean="0"/>
              <a:t>Modify the spatial relationships between groups of pixels representing features or objects of interest within the image. </a:t>
            </a:r>
          </a:p>
          <a:p>
            <a:r>
              <a:rPr lang="en-US" smtClean="0"/>
              <a:t>Are used for different purposes: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Correction of geometric distortions introduced during the image acquisition process;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Special effects (e.g., twirling, bulging, or squeezing);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As part of </a:t>
            </a:r>
            <a:r>
              <a:rPr lang="en-US" i="1" smtClean="0"/>
              <a:t>image registration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Geometric Operations…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Two basic components: </a:t>
            </a:r>
          </a:p>
          <a:p>
            <a:r>
              <a:rPr lang="en-US" b="1" i="1" smtClean="0"/>
              <a:t>mapping function</a:t>
            </a:r>
            <a:r>
              <a:rPr lang="en-US" smtClean="0"/>
              <a:t>, specified using a set of spatial </a:t>
            </a:r>
            <a:r>
              <a:rPr lang="en-US" b="1" i="1" smtClean="0"/>
              <a:t>transformation equations </a:t>
            </a:r>
            <a:r>
              <a:rPr lang="en-US" smtClean="0"/>
              <a:t>(and a procedure to solve them) </a:t>
            </a:r>
          </a:p>
          <a:p>
            <a:pPr>
              <a:buNone/>
            </a:pPr>
            <a:r>
              <a:rPr lang="en-US" smtClean="0"/>
              <a:t>and </a:t>
            </a:r>
          </a:p>
          <a:p>
            <a:r>
              <a:rPr lang="en-US" b="1" i="1" smtClean="0"/>
              <a:t>interpolation methods, </a:t>
            </a:r>
            <a:r>
              <a:rPr lang="en-US" smtClean="0"/>
              <a:t>used to compute the new value of each pixel in the spatially transformed image. 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Mapping and Affine Transformations </a:t>
            </a:r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636874" y="2536640"/>
            <a:ext cx="6528391" cy="2633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01917" y="5125669"/>
            <a:ext cx="24479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66045" y="5645557"/>
            <a:ext cx="23622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Mapping and Affine Transformations </a:t>
            </a:r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13860" y="2110896"/>
            <a:ext cx="8569842" cy="4088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Mapping and Affine Transformations </a:t>
            </a:r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94885" y="2536198"/>
            <a:ext cx="2977116" cy="1201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48005" y="2483588"/>
            <a:ext cx="44386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6179" y="3752961"/>
            <a:ext cx="104394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Affine transform using MATLAB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b="1" smtClean="0"/>
              <a:t>maketform </a:t>
            </a:r>
            <a:r>
              <a:rPr lang="en-US" sz="8000" smtClean="0"/>
              <a:t>and</a:t>
            </a:r>
            <a:r>
              <a:rPr lang="en-US" sz="8000" b="1" smtClean="0"/>
              <a:t> imtransform </a:t>
            </a:r>
            <a:r>
              <a:rPr lang="en-US" sz="8000" smtClean="0"/>
              <a:t>functions</a:t>
            </a:r>
            <a:r>
              <a:rPr lang="en-US" sz="8000" b="1" smtClean="0"/>
              <a:t> </a:t>
            </a:r>
          </a:p>
          <a:p>
            <a:r>
              <a:rPr lang="en-US" sz="8000" smtClean="0">
                <a:solidFill>
                  <a:srgbClr val="000000"/>
                </a:solidFill>
                <a:latin typeface="Courier New"/>
              </a:rPr>
              <a:t>Example 7.1:</a:t>
            </a:r>
          </a:p>
          <a:p>
            <a:pPr lvl="0">
              <a:lnSpc>
                <a:spcPct val="120000"/>
              </a:lnSpc>
              <a:buClr>
                <a:srgbClr val="83992A"/>
              </a:buClr>
              <a:buNone/>
            </a:pPr>
            <a:r>
              <a:rPr lang="en-US" sz="72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filename = 'any image of your choice' </a:t>
            </a:r>
          </a:p>
          <a:p>
            <a:pPr lvl="0">
              <a:lnSpc>
                <a:spcPct val="120000"/>
              </a:lnSpc>
              <a:buClr>
                <a:srgbClr val="83992A"/>
              </a:buClr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imread(filename); </a:t>
            </a:r>
          </a:p>
          <a:p>
            <a:pPr lvl="0">
              <a:lnSpc>
                <a:spcPct val="120000"/>
              </a:lnSpc>
              <a:buClr>
                <a:srgbClr val="83992A"/>
              </a:buClr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 Rotation </a:t>
            </a:r>
          </a:p>
          <a:p>
            <a:pPr lvl="0">
              <a:lnSpc>
                <a:spcPct val="120000"/>
              </a:lnSpc>
              <a:buClr>
                <a:srgbClr val="83992A"/>
              </a:buClr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 = maketform('affine',[cosd(30)</a:t>
            </a:r>
          </a:p>
          <a:p>
            <a:pPr lvl="0">
              <a:lnSpc>
                <a:spcPct val="120000"/>
              </a:lnSpc>
              <a:buClr>
                <a:srgbClr val="83992A"/>
              </a:buClr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-sind(30) 0; sind(30) cosd(30) 0; 0 0 1]'); </a:t>
            </a:r>
          </a:p>
          <a:p>
            <a:pPr lvl="0">
              <a:lnSpc>
                <a:spcPct val="120000"/>
              </a:lnSpc>
              <a:buClr>
                <a:srgbClr val="83992A"/>
              </a:buClr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Ia = imtransform(I,Ta); </a:t>
            </a:r>
          </a:p>
          <a:p>
            <a:pPr lvl="0">
              <a:lnSpc>
                <a:spcPct val="120000"/>
              </a:lnSpc>
              <a:buClr>
                <a:srgbClr val="83992A"/>
              </a:buClr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%Scaling </a:t>
            </a:r>
          </a:p>
          <a:p>
            <a:pPr lvl="0">
              <a:lnSpc>
                <a:spcPct val="120000"/>
              </a:lnSpc>
              <a:buClr>
                <a:srgbClr val="83992A"/>
              </a:buClr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Tb = maketform('affine',[3.5 0 0; 0 3.5 0;</a:t>
            </a:r>
          </a:p>
          <a:p>
            <a:pPr lvl="0">
              <a:lnSpc>
                <a:spcPct val="120000"/>
              </a:lnSpc>
              <a:buClr>
                <a:srgbClr val="83992A"/>
              </a:buClr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0 0 1]'); </a:t>
            </a:r>
          </a:p>
          <a:p>
            <a:endParaRPr lang="en-US" sz="2000" smtClean="0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6841444" y="2371971"/>
            <a:ext cx="5002212" cy="3521075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Ib = imtransform(I,Tb); </a:t>
            </a:r>
          </a:p>
          <a:p>
            <a:pPr>
              <a:lnSpc>
                <a:spcPct val="120000"/>
              </a:lnSpc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 Translation </a:t>
            </a:r>
          </a:p>
          <a:p>
            <a:pPr>
              <a:lnSpc>
                <a:spcPct val="120000"/>
              </a:lnSpc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xform = [1 0 25; 0 1 15; 0 0 1]'; </a:t>
            </a:r>
          </a:p>
          <a:p>
            <a:pPr>
              <a:lnSpc>
                <a:spcPct val="120000"/>
              </a:lnSpc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Tc = maketform('affine',xform); </a:t>
            </a:r>
          </a:p>
          <a:p>
            <a:pPr>
              <a:lnSpc>
                <a:spcPct val="120000"/>
              </a:lnSpc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Ic = imtransform(I,Tc, 'XData', [1 (size(I,2)+xform(3,1))], 'YData',[1 (size(I,1)+xform(3,2))],'FillValues', 128 );</a:t>
            </a:r>
          </a:p>
          <a:p>
            <a:pPr>
              <a:lnSpc>
                <a:spcPct val="120000"/>
              </a:lnSpc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 Shearing </a:t>
            </a:r>
          </a:p>
          <a:p>
            <a:pPr>
              <a:lnSpc>
                <a:spcPct val="120000"/>
              </a:lnSpc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Td = maketform('affine',[1 3 0; 2 1 0; 0 0 1]'); </a:t>
            </a:r>
          </a:p>
          <a:p>
            <a:pPr>
              <a:lnSpc>
                <a:spcPct val="120000"/>
              </a:lnSpc>
              <a:buNone/>
            </a:pPr>
            <a:r>
              <a:rPr lang="en-US" sz="6400" b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Id = imtransform(I,Td); </a:t>
            </a:r>
            <a:endParaRPr lang="en-US" sz="640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Interpolation methods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Forward mapping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4295" y="2523444"/>
            <a:ext cx="8696325" cy="357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Interpolation methods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Backward mapping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96836" y="2516642"/>
            <a:ext cx="8572500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Interpolation methods 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Zero-order (nearest neighbor) interpolation </a:t>
            </a:r>
          </a:p>
          <a:p>
            <a:pPr lvl="1"/>
            <a:r>
              <a:rPr lang="en-US" smtClean="0"/>
              <a:t>First-order (bilinear) interpolation </a:t>
            </a:r>
          </a:p>
          <a:p>
            <a:pPr lvl="1"/>
            <a:r>
              <a:rPr lang="en-US" smtClean="0"/>
              <a:t>Higher-order interpolations (e.g., bicubic) </a:t>
            </a:r>
          </a:p>
          <a:p>
            <a:pPr>
              <a:buNone/>
            </a:pPr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640287" y="2560638"/>
            <a:ext cx="3480320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Geometric operations using MATLAB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Resizing / zooming: </a:t>
            </a:r>
            <a:r>
              <a:rPr lang="en-US" b="1" smtClean="0"/>
              <a:t>imresize </a:t>
            </a:r>
          </a:p>
          <a:p>
            <a:r>
              <a:rPr lang="en-US" smtClean="0"/>
              <a:t>Translation: </a:t>
            </a:r>
            <a:r>
              <a:rPr lang="en-US" b="1" smtClean="0"/>
              <a:t>maketform and imtransform </a:t>
            </a:r>
          </a:p>
          <a:p>
            <a:r>
              <a:rPr lang="en-US" smtClean="0"/>
              <a:t>Rotation: </a:t>
            </a:r>
            <a:r>
              <a:rPr lang="en-US" b="1" smtClean="0"/>
              <a:t>imrotate </a:t>
            </a:r>
          </a:p>
          <a:p>
            <a:r>
              <a:rPr lang="en-US" smtClean="0"/>
              <a:t>Cropping: </a:t>
            </a:r>
            <a:r>
              <a:rPr lang="en-US" b="1" smtClean="0"/>
              <a:t>imcrop </a:t>
            </a:r>
          </a:p>
          <a:p>
            <a:r>
              <a:rPr lang="en-US" smtClean="0"/>
              <a:t>Flipping: </a:t>
            </a:r>
            <a:r>
              <a:rPr lang="en-US" b="1" smtClean="0"/>
              <a:t>flipud and fliplr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Other geometric operations and applications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Warping: the “transformation of an image by reparameterization of the 2D plane” </a:t>
            </a:r>
          </a:p>
          <a:p>
            <a:r>
              <a:rPr lang="en-US" smtClean="0"/>
              <a:t>Quadratic warp: </a:t>
            </a:r>
          </a:p>
          <a:p>
            <a:endParaRPr lang="en-US" smtClean="0"/>
          </a:p>
          <a:p>
            <a:r>
              <a:rPr lang="en-US" smtClean="0"/>
              <a:t>Usually specified using </a:t>
            </a:r>
            <a:r>
              <a:rPr lang="en-US" i="1" smtClean="0"/>
              <a:t>control points </a:t>
            </a:r>
            <a:r>
              <a:rPr lang="en-US" smtClean="0"/>
              <a:t>in the source image and mapping them to specified locations in the destination image. </a:t>
            </a:r>
          </a:p>
          <a:p>
            <a:r>
              <a:rPr lang="en-US" smtClean="0"/>
              <a:t>Control points are usually associated with key locations and features in the image, such as corners of objects. </a:t>
            </a:r>
          </a:p>
          <a:p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02629" y="2743200"/>
            <a:ext cx="4740867" cy="1045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Nonlinear image transformations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Twirling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Causes an image to be rotated around an anchor point of coordinates (</a:t>
            </a:r>
            <a:r>
              <a:rPr lang="en-US" i="1" smtClean="0"/>
              <a:t>xc, yc) </a:t>
            </a:r>
            <a:r>
              <a:rPr lang="en-US" smtClean="0"/>
              <a:t>with a space-variant rotation angle.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The angle has a value of α at the anchor point and decreases linearly with the radial distance from the center.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The effect is limited to a region within the maximum radius </a:t>
            </a:r>
            <a:r>
              <a:rPr lang="en-US" i="1" smtClean="0"/>
              <a:t>r</a:t>
            </a:r>
            <a:r>
              <a:rPr lang="en-US" i="1" baseline="-25000" smtClean="0"/>
              <a:t>max</a:t>
            </a:r>
            <a:r>
              <a:rPr lang="en-US" i="1" smtClean="0"/>
              <a:t>. </a:t>
            </a:r>
            <a:r>
              <a:rPr lang="en-US" smtClean="0"/>
              <a:t>All pixels outside this region remain unchanged.</a:t>
            </a:r>
            <a:r>
              <a:rPr lang="en-US" i="1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Nonlinear image transformations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Twirling - inverse mapping function: </a:t>
            </a:r>
          </a:p>
          <a:p>
            <a:pPr>
              <a:buNone/>
            </a:pPr>
            <a:r>
              <a:rPr lang="en-US" smtClean="0"/>
              <a:t>	</a:t>
            </a:r>
          </a:p>
          <a:p>
            <a:pPr>
              <a:buNone/>
            </a:pPr>
            <a:r>
              <a:rPr lang="en-US" smtClean="0"/>
              <a:t>	</a:t>
            </a:r>
          </a:p>
          <a:p>
            <a:pPr>
              <a:buNone/>
            </a:pPr>
            <a:r>
              <a:rPr lang="en-US" smtClean="0"/>
              <a:t>and 	</a:t>
            </a:r>
          </a:p>
          <a:p>
            <a:pPr>
              <a:buNone/>
            </a:pPr>
            <a:endParaRPr lang="en-US" smtClean="0"/>
          </a:p>
          <a:p>
            <a:pPr>
              <a:buNone/>
            </a:pPr>
            <a:r>
              <a:rPr lang="en-US" smtClean="0"/>
              <a:t>where: </a:t>
            </a:r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169082" y="2488965"/>
          <a:ext cx="5561262" cy="1148521"/>
        </p:xfrm>
        <a:graphic>
          <a:graphicData uri="http://schemas.openxmlformats.org/presentationml/2006/ole">
            <p:oleObj spid="_x0000_s9218" name="Equation" r:id="rId3" imgW="2336760" imgH="482400" progId="Equation.3">
              <p:embed/>
            </p:oleObj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3279320" y="3795717"/>
          <a:ext cx="5320393" cy="1104781"/>
        </p:xfrm>
        <a:graphic>
          <a:graphicData uri="http://schemas.openxmlformats.org/presentationml/2006/ole">
            <p:oleObj spid="_x0000_s9219" name="Equation" r:id="rId4" imgW="2323800" imgH="482400" progId="Equation.3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283855" y="4850076"/>
          <a:ext cx="5620659" cy="1481811"/>
        </p:xfrm>
        <a:graphic>
          <a:graphicData uri="http://schemas.openxmlformats.org/presentationml/2006/ole">
            <p:oleObj spid="_x0000_s9220" name="Equation" r:id="rId5" imgW="2793960" imgH="7365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Nonlinear image transformations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Rippling</a:t>
            </a:r>
            <a:r>
              <a:rPr lang="en-US" smtClean="0"/>
              <a:t> </a:t>
            </a:r>
          </a:p>
          <a:p>
            <a:pPr lvl="1"/>
            <a:r>
              <a:rPr lang="en-US" smtClean="0"/>
              <a:t>The ripple transformation causes a local wave-like displacement of the image along both directions, x and y. </a:t>
            </a:r>
          </a:p>
          <a:p>
            <a:pPr lvl="1"/>
            <a:r>
              <a:rPr lang="en-US" smtClean="0"/>
              <a:t>The parameters for this mapping function are the (nonzero) period lengths </a:t>
            </a:r>
            <a:r>
              <a:rPr lang="en-US" i="1" smtClean="0"/>
              <a:t>Lx, Ly </a:t>
            </a:r>
            <a:r>
              <a:rPr lang="en-US" smtClean="0"/>
              <a:t>(in pixels) and the associated amplitude values Ax, Ay.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Nonlinear image transformations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857830"/>
            <a:ext cx="9601196" cy="754742"/>
          </a:xfrm>
        </p:spPr>
        <p:txBody>
          <a:bodyPr/>
          <a:lstStyle/>
          <a:p>
            <a:r>
              <a:rPr lang="en-US" smtClean="0"/>
              <a:t>Image deformations using </a:t>
            </a:r>
            <a:r>
              <a:rPr lang="en-US" i="1" smtClean="0"/>
              <a:t>Photo Booth: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18115" y="2452652"/>
            <a:ext cx="4947176" cy="3752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Other geometric operations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Morphing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Geometric transformation technique that </a:t>
            </a:r>
            <a:r>
              <a:rPr lang="en-US" i="1" smtClean="0"/>
              <a:t>gradually </a:t>
            </a:r>
            <a:r>
              <a:rPr lang="en-US" smtClean="0"/>
              <a:t>converts an image into another.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The idea is to produce a visible </a:t>
            </a:r>
            <a:r>
              <a:rPr lang="en-US" i="1" smtClean="0"/>
              <a:t>metamorphosis </a:t>
            </a:r>
            <a:r>
              <a:rPr lang="en-US" smtClean="0"/>
              <a:t>effect as intermediate images are being displayed.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Image morphing was quite popular in TV, movies, and advertisements in the 1980s and 1990s, but has lost impact since then.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Other geometric operations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Morphing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Modified version of piecewise warping, in which the user specifies control points in both the initial and final images. </a:t>
            </a:r>
          </a:p>
          <a:p>
            <a:pPr lvl="2">
              <a:buFont typeface="Wingdings" pitchFamily="2" charset="2"/>
              <a:buChar char="§"/>
            </a:pPr>
            <a:r>
              <a:rPr lang="en-US" smtClean="0"/>
              <a:t>These control points are then used to generate two meshes (one from each image). </a:t>
            </a:r>
          </a:p>
          <a:p>
            <a:pPr lvl="2">
              <a:buFont typeface="Wingdings" pitchFamily="2" charset="2"/>
              <a:buChar char="§"/>
            </a:pPr>
            <a:r>
              <a:rPr lang="en-US" smtClean="0"/>
              <a:t>Affine transformations relate the resulting meshes.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Important aspect of morphing: the warp is computed incrementally, one small step at a time, in combination with a dissolve effect from the initial image to the final one.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Other geometric operations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Seam carving </a:t>
            </a:r>
          </a:p>
          <a:p>
            <a:pPr lvl="1"/>
            <a:r>
              <a:rPr lang="en-US" smtClean="0"/>
              <a:t>Recently proposed (2007) image operator for content-aware image resizing. </a:t>
            </a:r>
          </a:p>
          <a:p>
            <a:pPr lvl="1"/>
            <a:r>
              <a:rPr lang="en-US" smtClean="0"/>
              <a:t>Basic idea: to find </a:t>
            </a:r>
            <a:r>
              <a:rPr lang="en-US" i="1" smtClean="0"/>
              <a:t>seams* </a:t>
            </a:r>
            <a:r>
              <a:rPr lang="en-US" smtClean="0"/>
              <a:t>in the original image and use that information to either: </a:t>
            </a:r>
          </a:p>
          <a:p>
            <a:pPr lvl="2">
              <a:buNone/>
            </a:pPr>
            <a:r>
              <a:rPr lang="en-US" smtClean="0"/>
              <a:t>(i) reduce the image size by removing (“carving out”) the seams that contribute the least to the image's contents; or </a:t>
            </a:r>
          </a:p>
          <a:p>
            <a:pPr lvl="2">
              <a:buNone/>
            </a:pPr>
            <a:r>
              <a:rPr lang="en-US" smtClean="0"/>
              <a:t>(ii) enlarge the image by inserting additional seams. </a:t>
            </a:r>
          </a:p>
          <a:p>
            <a:pPr lvl="1"/>
            <a:r>
              <a:rPr lang="en-US" smtClean="0"/>
              <a:t>*A seam is an “optimal 8-connected path of pixels on a single image from top to bottom, or left to right, where optimality is defined by an image energy function”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Other geometric operations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857830"/>
            <a:ext cx="9601196" cy="3519714"/>
          </a:xfrm>
        </p:spPr>
        <p:txBody>
          <a:bodyPr>
            <a:normAutofit/>
          </a:bodyPr>
          <a:lstStyle/>
          <a:p>
            <a:r>
              <a:rPr lang="en-US" sz="2800" smtClean="0"/>
              <a:t>Seam carving </a:t>
            </a:r>
          </a:p>
          <a:p>
            <a:r>
              <a:rPr lang="en-US" sz="2800" smtClean="0"/>
              <a:t>By applying these operators in both directions the image can be retargeted to a new size with very little loss of meaningful contents. </a:t>
            </a:r>
          </a:p>
          <a:p>
            <a:r>
              <a:rPr lang="en-US" sz="2800" smtClean="0"/>
              <a:t>Example (Fig. 7.7): </a:t>
            </a:r>
          </a:p>
          <a:p>
            <a:endParaRPr lang="en-US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3420393"/>
            <a:ext cx="5759798" cy="2762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Image registration using MATLAB </a:t>
            </a:r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085854" y="1857375"/>
            <a:ext cx="4020292" cy="434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Hands-on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Tutorial 7.1: Image cropping, resizing, flipping, and rotation (page 138) </a:t>
            </a:r>
          </a:p>
          <a:p>
            <a:r>
              <a:rPr lang="en-US" smtClean="0"/>
              <a:t>Tutorial 7.2: Spatial transformations and image registration (page 142) </a:t>
            </a:r>
          </a:p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1 - Introduction and Overview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1 - Introduction and Overview</Template>
  <TotalTime>1379</TotalTime>
  <Words>933</Words>
  <Application>Microsoft Office PowerPoint</Application>
  <PresentationFormat>Custom</PresentationFormat>
  <Paragraphs>109</Paragraphs>
  <Slides>24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Chapter 1 - Introduction and Overview</vt:lpstr>
      <vt:lpstr>Equation</vt:lpstr>
      <vt:lpstr>CHAPTER 7</vt:lpstr>
      <vt:lpstr>WHAT WILL WE LEARN?</vt:lpstr>
      <vt:lpstr>Examples of geometric operations </vt:lpstr>
      <vt:lpstr>Geometric Operations… </vt:lpstr>
      <vt:lpstr>Geometric Operations… </vt:lpstr>
      <vt:lpstr>Mapping and Affine Transformations </vt:lpstr>
      <vt:lpstr>Mapping and Affine Transformations </vt:lpstr>
      <vt:lpstr>Mapping and Affine Transformations </vt:lpstr>
      <vt:lpstr>Affine transform using MATLAB </vt:lpstr>
      <vt:lpstr> Interpolation methods </vt:lpstr>
      <vt:lpstr>Interpolation methods </vt:lpstr>
      <vt:lpstr>Interpolation methods </vt:lpstr>
      <vt:lpstr>Geometric operations using MATLAB </vt:lpstr>
      <vt:lpstr>Other geometric operations and applications </vt:lpstr>
      <vt:lpstr>Nonlinear image transformations </vt:lpstr>
      <vt:lpstr>Nonlinear image transformations </vt:lpstr>
      <vt:lpstr>Nonlinear image transformations </vt:lpstr>
      <vt:lpstr>Nonlinear image transformations </vt:lpstr>
      <vt:lpstr>Other geometric operations </vt:lpstr>
      <vt:lpstr>Other geometric operations </vt:lpstr>
      <vt:lpstr>Other geometric operations </vt:lpstr>
      <vt:lpstr>Other geometric operations </vt:lpstr>
      <vt:lpstr>Image registration using MATLAB </vt:lpstr>
      <vt:lpstr>Hands-on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</dc:title>
  <dc:creator>Thuy Nguyen</dc:creator>
  <cp:lastModifiedBy>Thuy Nguyen</cp:lastModifiedBy>
  <cp:revision>19</cp:revision>
  <dcterms:created xsi:type="dcterms:W3CDTF">2017-05-13T08:59:15Z</dcterms:created>
  <dcterms:modified xsi:type="dcterms:W3CDTF">2017-05-17T06:59:25Z</dcterms:modified>
</cp:coreProperties>
</file>
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80" r:id="rId24"/>
    <p:sldId id="279" r:id="rId25"/>
    <p:sldId id="281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57" d="100"/>
          <a:sy n="57" d="100"/>
        </p:scale>
        <p:origin x="-1182" y="-4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02/02/2021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13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smtClean="0"/>
              <a:t>MORPHOLOGICAL IMAGE</a:t>
            </a:r>
          </a:p>
          <a:p>
            <a:r>
              <a:rPr lang="en-US" sz="3200" smtClean="0"/>
              <a:t>PROCESSING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22089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WHAT WILL WE LEARN?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What is mathematical morphology and how is it used in image processing?</a:t>
            </a:r>
          </a:p>
          <a:p>
            <a:r>
              <a:rPr lang="en-US" smtClean="0"/>
              <a:t>What are the main morphological operations and what is the effect of applying them to binary and grayscale images?</a:t>
            </a:r>
          </a:p>
          <a:p>
            <a:r>
              <a:rPr lang="en-US" smtClean="0"/>
              <a:t>What is a structuring element (SE) and how does it impact the result of a morphological operation?</a:t>
            </a:r>
          </a:p>
          <a:p>
            <a:r>
              <a:rPr lang="en-US" smtClean="0"/>
              <a:t>What are some of the most useful morphological image processing algorithms?</a:t>
            </a:r>
          </a:p>
        </p:txBody>
      </p:sp>
    </p:spTree>
    <p:extLst>
      <p:ext uri="{BB962C8B-B14F-4D97-AF65-F5344CB8AC3E}">
        <p14:creationId xmlns:p14="http://schemas.microsoft.com/office/powerpoint/2010/main" val="354631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What is mathematical morphology?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Provide tools for representing, describing, and analyzing </a:t>
            </a:r>
            <a:r>
              <a:rPr lang="en-US" b="1" smtClean="0"/>
              <a:t>shapes </a:t>
            </a:r>
            <a:r>
              <a:rPr lang="en-US" smtClean="0"/>
              <a:t>in</a:t>
            </a:r>
            <a:r>
              <a:rPr lang="en-US" b="1" smtClean="0"/>
              <a:t> </a:t>
            </a:r>
            <a:r>
              <a:rPr lang="en-US" smtClean="0"/>
              <a:t>images</a:t>
            </a:r>
          </a:p>
          <a:p>
            <a:r>
              <a:rPr lang="en-US" smtClean="0"/>
              <a:t>Extract geometrical and topological information through transformations using </a:t>
            </a:r>
            <a:r>
              <a:rPr lang="en-US" i="1" smtClean="0"/>
              <a:t>structuring element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FUNDAMENTAL CONCEPTS AND OPERATIONS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5468112" cy="3310128"/>
          </a:xfrm>
        </p:spPr>
        <p:txBody>
          <a:bodyPr>
            <a:normAutofit fontScale="55000" lnSpcReduction="20000"/>
          </a:bodyPr>
          <a:lstStyle/>
          <a:p>
            <a:r>
              <a:rPr lang="en-US" smtClean="0"/>
              <a:t>Set theory and set operations:</a:t>
            </a:r>
          </a:p>
          <a:p>
            <a:pPr lvl="1"/>
            <a:r>
              <a:rPr lang="en-US" smtClean="0"/>
              <a:t>Union (∪)</a:t>
            </a:r>
          </a:p>
          <a:p>
            <a:pPr lvl="1"/>
            <a:r>
              <a:rPr lang="en-US" smtClean="0"/>
              <a:t>Intersection (∩)</a:t>
            </a:r>
          </a:p>
          <a:p>
            <a:pPr lvl="1"/>
            <a:r>
              <a:rPr lang="en-US" smtClean="0"/>
              <a:t>Complement</a:t>
            </a:r>
          </a:p>
          <a:p>
            <a:pPr lvl="1"/>
            <a:r>
              <a:rPr lang="en-US" smtClean="0"/>
              <a:t>Difference of two sets A and B</a:t>
            </a:r>
          </a:p>
          <a:p>
            <a:pPr lvl="1"/>
            <a:r>
              <a:rPr lang="en-US" smtClean="0"/>
              <a:t>Translation of set A by point w is denoted by A</a:t>
            </a:r>
            <a:r>
              <a:rPr lang="en-US" sz="400" smtClean="0"/>
              <a:t>w </a:t>
            </a:r>
            <a:r>
              <a:rPr lang="en-US" smtClean="0"/>
              <a:t>and defined as</a:t>
            </a:r>
          </a:p>
          <a:p>
            <a:pPr>
              <a:buNone/>
            </a:pPr>
            <a:r>
              <a:rPr lang="en-US" smtClean="0"/>
              <a:t>				A</a:t>
            </a:r>
            <a:r>
              <a:rPr lang="en-US" sz="800" smtClean="0"/>
              <a:t>w </a:t>
            </a:r>
            <a:r>
              <a:rPr lang="en-US" smtClean="0"/>
              <a:t>= {c|c = a + w, for a ∈ A} </a:t>
            </a:r>
          </a:p>
          <a:p>
            <a:pPr lvl="1"/>
            <a:r>
              <a:rPr lang="en-US" smtClean="0"/>
              <a:t>The reflection of set A relative to the origin of a coordinate system is defined as</a:t>
            </a:r>
          </a:p>
          <a:p>
            <a:pPr>
              <a:buNone/>
            </a:pPr>
            <a:r>
              <a:rPr lang="en-US" smtClean="0"/>
              <a:t>				</a:t>
            </a:r>
          </a:p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84570" y="2560320"/>
            <a:ext cx="3715077" cy="3310128"/>
          </a:xfrm>
        </p:spPr>
        <p:txBody>
          <a:bodyPr/>
          <a:lstStyle/>
          <a:p>
            <a:r>
              <a:rPr lang="en-US" smtClean="0"/>
              <a:t>Matlab expression</a:t>
            </a:r>
          </a:p>
          <a:p>
            <a:pPr lvl="1"/>
            <a:r>
              <a:rPr lang="en-US" smtClean="0"/>
              <a:t>OR (|)</a:t>
            </a:r>
          </a:p>
          <a:p>
            <a:pPr lvl="1"/>
            <a:r>
              <a:rPr lang="en-US" smtClean="0"/>
              <a:t>AND (&amp;)</a:t>
            </a:r>
          </a:p>
          <a:p>
            <a:pPr lvl="1"/>
            <a:r>
              <a:rPr lang="en-US" smtClean="0"/>
              <a:t>NOT (˜)</a:t>
            </a:r>
          </a:p>
          <a:p>
            <a:pPr lvl="1"/>
            <a:r>
              <a:rPr lang="en-US" smtClean="0"/>
              <a:t>(A &amp; ˜B)</a:t>
            </a:r>
          </a:p>
          <a:p>
            <a:pPr lvl="1"/>
            <a:endParaRPr lang="en-US" smtClean="0"/>
          </a:p>
          <a:p>
            <a:pPr lvl="1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1179" y="5440000"/>
            <a:ext cx="31527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Structuring Element (SE)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The structuring element is the basic neighborhood structure associated with morphological image operations</a:t>
            </a:r>
          </a:p>
          <a:p>
            <a:r>
              <a:rPr lang="en-US" smtClean="0"/>
              <a:t>The black dot corresponds to their origin (reference point), the gray squares represent 1 (true), and the white squares represent 0 (false).</a:t>
            </a:r>
            <a:endParaRPr lang="en-US"/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222218" y="3197520"/>
            <a:ext cx="12001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336406" y="3207748"/>
            <a:ext cx="12001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 MATLAB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smtClean="0"/>
              <a:t>strel</a:t>
            </a:r>
            <a:r>
              <a:rPr lang="en-US" smtClean="0"/>
              <a:t>: for creating structuring elements which supports arbitrary shapes, as well as commonly used ones, such as square, diamond, line, and disk.</a:t>
            </a:r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81725" y="2788451"/>
            <a:ext cx="4718050" cy="2854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DILATION AND EROSION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smtClean="0"/>
              <a:t>Dilation is a morphological operation whose effect is to “grow” or “thicken” objects in a binary image</a:t>
            </a:r>
          </a:p>
          <a:p>
            <a:endParaRPr lang="en-US" smtClean="0"/>
          </a:p>
          <a:p>
            <a:r>
              <a:rPr lang="en-US" smtClean="0"/>
              <a:t>In Matlab: </a:t>
            </a:r>
            <a:r>
              <a:rPr lang="en-US" b="1" smtClean="0"/>
              <a:t>imdilate</a:t>
            </a:r>
            <a:endParaRPr lang="en-US" b="1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323158" y="2560638"/>
            <a:ext cx="4435184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9441" y="4408851"/>
            <a:ext cx="284797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DILATION AND EROSION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smtClean="0"/>
              <a:t>Erosion is a morphological operation whose effect is to “shrink” or “thin” objects in a binary image</a:t>
            </a:r>
          </a:p>
          <a:p>
            <a:endParaRPr lang="en-US" smtClean="0"/>
          </a:p>
          <a:p>
            <a:r>
              <a:rPr lang="en-US" smtClean="0"/>
              <a:t>In Matlab: </a:t>
            </a:r>
            <a:r>
              <a:rPr lang="en-US" b="1" smtClean="0"/>
              <a:t>imerode</a:t>
            </a:r>
          </a:p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0975" y="4532677"/>
            <a:ext cx="292417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254994" y="2560638"/>
            <a:ext cx="4571511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COMPOUND OPERATIONS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smtClean="0"/>
              <a:t>Opening: </a:t>
            </a:r>
            <a:r>
              <a:rPr lang="en-US" smtClean="0"/>
              <a:t>A ◦ B, is the erosion of A by B followed by the dilation of the result by B.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Opening is typically used to remove thin protrusions from objects and to open up a gap between objects connected by a thin bridge without shrinking the objects</a:t>
            </a:r>
          </a:p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9099" y="3647939"/>
            <a:ext cx="25812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462141" y="2560638"/>
            <a:ext cx="4157218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COMPOUND OPERATIONS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smtClean="0"/>
              <a:t>Closing: </a:t>
            </a:r>
            <a:r>
              <a:rPr lang="en-US" smtClean="0"/>
              <a:t>is the dilation of A by B followed by the erosion of the result by B</a:t>
            </a:r>
          </a:p>
          <a:p>
            <a:endParaRPr lang="en-US" smtClean="0"/>
          </a:p>
          <a:p>
            <a:r>
              <a:rPr lang="en-US" smtClean="0"/>
              <a:t>Closing is used to fill small holes, fuse narrow breaks, and close thin gaps in the objects within an image</a:t>
            </a:r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5498" y="3639775"/>
            <a:ext cx="2812186" cy="553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683956" y="2560638"/>
            <a:ext cx="3713588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COMPOUND OPERATIONS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smtClean="0"/>
              <a:t>Hit-or-Miss Transform : </a:t>
            </a:r>
            <a:r>
              <a:rPr lang="en-US" smtClean="0"/>
              <a:t>uses two structuring elements (B1 and B2) designed in such a way that the output image will consist of all locations that match the pixels in B1 (a hit) and that have none of the pixels in B2 (a miss)</a:t>
            </a:r>
          </a:p>
          <a:p>
            <a:endParaRPr lang="en-US" smtClean="0"/>
          </a:p>
          <a:p>
            <a:r>
              <a:rPr lang="en-US" smtClean="0"/>
              <a:t>HoM transform can be used to locate squares of a certain size in a binary image</a:t>
            </a:r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16171" y="4241755"/>
            <a:ext cx="324802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86958" y="2560638"/>
            <a:ext cx="3107583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MORPHOLOGICAL FILTERING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mtClean="0"/>
              <a:t>Morphological filters are Boolean filters that apply a many-to-one binary (or Boolean) function h within a window W in the binary input image f (x, y), producing at the output an image g(x, y) given by</a:t>
            </a:r>
          </a:p>
          <a:p>
            <a:pPr lvl="1"/>
            <a:endParaRPr lang="en-US" smtClean="0"/>
          </a:p>
          <a:p>
            <a:pPr lvl="1"/>
            <a:endParaRPr lang="en-US" smtClean="0"/>
          </a:p>
          <a:p>
            <a:pPr lvl="1"/>
            <a:r>
              <a:rPr lang="en-US" smtClean="0"/>
              <a:t>OR: is equivalent to a morphological dilation with a square SE of the same size as </a:t>
            </a:r>
            <a:r>
              <a:rPr lang="en-US" i="1" smtClean="0"/>
              <a:t>W.</a:t>
            </a:r>
          </a:p>
          <a:p>
            <a:pPr lvl="1"/>
            <a:r>
              <a:rPr lang="en-US" smtClean="0"/>
              <a:t>AND: is equivalent to a morphological erosion with a square SE of the same size as </a:t>
            </a:r>
            <a:r>
              <a:rPr lang="en-US" i="1" smtClean="0"/>
              <a:t>W.</a:t>
            </a:r>
          </a:p>
          <a:p>
            <a:pPr lvl="1"/>
            <a:r>
              <a:rPr lang="en-US" smtClean="0"/>
              <a:t>MAJ (Majority): is equivalent to a median filter applicable to binary images.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95862" y="3662362"/>
            <a:ext cx="2925129" cy="530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Boundary Extraction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Dilation, erosion, and set difference operations can be combined to perform boundary extraction of a set A, denoted by BE(A)</a:t>
            </a:r>
          </a:p>
          <a:p>
            <a:pPr lvl="1"/>
            <a:r>
              <a:rPr lang="en-US" smtClean="0"/>
              <a:t>Internal Boundary: Consists of the pixels in A that sit at the edge of A</a:t>
            </a:r>
          </a:p>
          <a:p>
            <a:pPr lvl="1"/>
            <a:endParaRPr lang="en-US" smtClean="0"/>
          </a:p>
          <a:p>
            <a:pPr lvl="1"/>
            <a:r>
              <a:rPr lang="en-US" smtClean="0"/>
              <a:t>External Boundary: Consists of the pixels outside A that sit immediately next to A</a:t>
            </a:r>
          </a:p>
          <a:p>
            <a:pPr lvl="1"/>
            <a:endParaRPr lang="en-US" smtClean="0"/>
          </a:p>
          <a:p>
            <a:pPr lvl="1"/>
            <a:r>
              <a:rPr lang="en-US" smtClean="0"/>
              <a:t>Morphological Gradient: Consists of the combination of internal and external boundaries.</a:t>
            </a:r>
            <a:endParaRPr 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66570" y="3611200"/>
            <a:ext cx="24669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67658" y="4556624"/>
            <a:ext cx="25431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36090" y="5606280"/>
            <a:ext cx="30765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06286" y="909023"/>
            <a:ext cx="3370217" cy="5355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2160" y="2250734"/>
            <a:ext cx="5266944" cy="3386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Region Filling</a:t>
            </a:r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7710689" y="2633790"/>
            <a:ext cx="3086077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389888" y="2633472"/>
            <a:ext cx="5961888" cy="3310128"/>
          </a:xfrm>
        </p:spPr>
        <p:txBody>
          <a:bodyPr>
            <a:normAutofit/>
          </a:bodyPr>
          <a:lstStyle/>
          <a:p>
            <a:r>
              <a:rPr lang="en-US" smtClean="0"/>
              <a:t>fill up the entire region with 1s using </a:t>
            </a:r>
            <a:r>
              <a:rPr lang="en-US" i="1" smtClean="0"/>
              <a:t>p </a:t>
            </a:r>
            <a:r>
              <a:rPr lang="en-US" smtClean="0"/>
              <a:t>as a starting point (i.e., setting it as 1). </a:t>
            </a:r>
          </a:p>
          <a:p>
            <a:r>
              <a:rPr lang="en-US" smtClean="0"/>
              <a:t>Using an iterative procedure:</a:t>
            </a:r>
          </a:p>
          <a:p>
            <a:pPr>
              <a:buNone/>
            </a:pPr>
            <a:r>
              <a:rPr lang="en-US" i="1" smtClean="0"/>
              <a:t>	</a:t>
            </a:r>
            <a:r>
              <a:rPr lang="en-US" sz="2800" smtClean="0"/>
              <a:t>Xk = (Xk−1 ⊕ B) ∩ Ac k = 1, 2, 3, . . 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Extraction and Labeling of Connected Components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In Matlab: </a:t>
            </a:r>
            <a:r>
              <a:rPr lang="en-US" b="1" smtClean="0"/>
              <a:t>bwlabel</a:t>
            </a:r>
          </a:p>
          <a:p>
            <a:r>
              <a:rPr lang="en-US" smtClean="0"/>
              <a:t>See Tutorial 13.2</a:t>
            </a:r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38748" y="2560638"/>
            <a:ext cx="3404003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GRAYSCALE MORPHOLOGY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4500" smtClean="0"/>
              <a:t>Morphological operations can be extended to grayscale images. </a:t>
            </a:r>
          </a:p>
          <a:p>
            <a:r>
              <a:rPr lang="en-US" sz="4500" smtClean="0"/>
              <a:t>The mathematical formulation of grayscale morphology uses an input image </a:t>
            </a:r>
            <a:r>
              <a:rPr lang="en-US" sz="4500" i="1" smtClean="0"/>
              <a:t>f(x,y) </a:t>
            </a:r>
            <a:r>
              <a:rPr lang="en-US" sz="4500" smtClean="0"/>
              <a:t>and a structuring element (SE) b(x,y). </a:t>
            </a:r>
          </a:p>
          <a:p>
            <a:pPr lvl="1"/>
            <a:r>
              <a:rPr lang="en-US" sz="4500" smtClean="0"/>
              <a:t>Structuring elements in grayscale morphology: </a:t>
            </a:r>
            <a:r>
              <a:rPr lang="en-US" sz="4500" i="1" smtClean="0"/>
              <a:t>nonflat </a:t>
            </a:r>
            <a:r>
              <a:rPr lang="en-US" sz="4500" smtClean="0"/>
              <a:t>and </a:t>
            </a:r>
            <a:r>
              <a:rPr lang="en-US" sz="4500" i="1" smtClean="0"/>
              <a:t>flat. </a:t>
            </a:r>
          </a:p>
          <a:p>
            <a:r>
              <a:rPr lang="en-US" sz="4500" smtClean="0"/>
              <a:t>In MATLAB: </a:t>
            </a:r>
            <a:r>
              <a:rPr lang="en-US" sz="4500" b="1" smtClean="0"/>
              <a:t>strel </a:t>
            </a:r>
          </a:p>
          <a:p>
            <a:pPr lvl="1"/>
            <a:r>
              <a:rPr lang="en-US" sz="4500" smtClean="0"/>
              <a:t>Nonflat SEs can be created with the same function used to create flat SEs, but we must also pass a second matrix (containing the height values) as a parameter.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GRAYSCALE MORPHOLOGY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smtClean="0"/>
              <a:t>Dilation:</a:t>
            </a:r>
          </a:p>
          <a:p>
            <a:r>
              <a:rPr lang="en-US" sz="2800" smtClean="0"/>
              <a:t> The dilation of an image </a:t>
            </a:r>
            <a:r>
              <a:rPr lang="en-US" sz="2800" i="1" smtClean="0"/>
              <a:t>f(x,y) </a:t>
            </a:r>
            <a:r>
              <a:rPr lang="en-US" sz="2800" smtClean="0"/>
              <a:t>by a flat SE b(x,y) is defined as:</a:t>
            </a:r>
            <a:r>
              <a:rPr lang="en-US" sz="2800" i="1" smtClean="0"/>
              <a:t> </a:t>
            </a:r>
          </a:p>
          <a:p>
            <a:endParaRPr lang="en-US" sz="2800" smtClean="0"/>
          </a:p>
          <a:p>
            <a:pPr>
              <a:buNone/>
            </a:pPr>
            <a:r>
              <a:rPr lang="en-US" sz="2800" smtClean="0"/>
              <a:t>		where </a:t>
            </a:r>
            <a:r>
              <a:rPr lang="en-US" sz="2800" i="1" smtClean="0"/>
              <a:t>Db </a:t>
            </a:r>
            <a:r>
              <a:rPr lang="en-US" sz="2800" smtClean="0"/>
              <a:t>is called the domain of b.</a:t>
            </a:r>
            <a:r>
              <a:rPr lang="en-US" sz="2800" i="1" smtClean="0"/>
              <a:t> </a:t>
            </a:r>
          </a:p>
          <a:p>
            <a:r>
              <a:rPr lang="es-ES" sz="2800" smtClean="0"/>
              <a:t>For a nonflat SE, bN(x,y):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5060" y="3695570"/>
            <a:ext cx="6402957" cy="7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78145" y="5427756"/>
            <a:ext cx="8281829" cy="790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GRAYSCALE MORPHOLOGY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Erosion </a:t>
            </a:r>
          </a:p>
          <a:p>
            <a:pPr lvl="1"/>
            <a:r>
              <a:rPr lang="en-US" smtClean="0"/>
              <a:t>The erosion of an image f(x,y) by a flat SE b(x,y) is defined as: </a:t>
            </a:r>
          </a:p>
          <a:p>
            <a:pPr lvl="1"/>
            <a:endParaRPr lang="en-US" smtClean="0"/>
          </a:p>
          <a:p>
            <a:pPr lvl="1">
              <a:buNone/>
            </a:pPr>
            <a:r>
              <a:rPr lang="en-US" smtClean="0"/>
              <a:t>	where Db is called the domain of b. </a:t>
            </a:r>
          </a:p>
          <a:p>
            <a:pPr lvl="1"/>
            <a:r>
              <a:rPr lang="es-ES" smtClean="0"/>
              <a:t>For a nonflat SE, bN(x,y): </a:t>
            </a:r>
          </a:p>
          <a:p>
            <a:pPr lvl="1"/>
            <a:endParaRPr lang="es-ES" smtClean="0"/>
          </a:p>
          <a:p>
            <a:pPr lvl="1"/>
            <a:endParaRPr lang="es-ES" smtClean="0"/>
          </a:p>
          <a:p>
            <a:endParaRPr lang="en-US" smtClean="0"/>
          </a:p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9454" y="3890356"/>
            <a:ext cx="6975974" cy="681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04593" y="5482676"/>
            <a:ext cx="7847799" cy="884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GRAYSCALE MORPHOLOGY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Example 13.8 </a:t>
            </a:r>
          </a:p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4150" y="3096232"/>
            <a:ext cx="9697589" cy="2888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GRAYSCALE MORPHOLOGY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760526" cy="3318936"/>
          </a:xfrm>
        </p:spPr>
        <p:txBody>
          <a:bodyPr>
            <a:normAutofit/>
          </a:bodyPr>
          <a:lstStyle/>
          <a:p>
            <a:r>
              <a:rPr lang="en-US" smtClean="0"/>
              <a:t>Opening :</a:t>
            </a:r>
          </a:p>
          <a:p>
            <a:endParaRPr lang="en-US" smtClean="0"/>
          </a:p>
          <a:p>
            <a:r>
              <a:rPr lang="en-US" smtClean="0"/>
              <a:t> Closing </a:t>
            </a:r>
          </a:p>
          <a:p>
            <a:endParaRPr lang="en-US" smtClean="0"/>
          </a:p>
          <a:p>
            <a:endParaRPr lang="en-US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74225" y="3218435"/>
            <a:ext cx="5265465" cy="83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9931" y="4708318"/>
            <a:ext cx="5198311" cy="968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GRAYSCALE MORPHOLOGY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Example 13.9 </a:t>
            </a:r>
          </a:p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4385" y="2426447"/>
            <a:ext cx="4272742" cy="3791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GRAYSCALE MORPHOLOGY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Top-hat transformation </a:t>
            </a:r>
          </a:p>
          <a:p>
            <a:endParaRPr lang="en-US" smtClean="0"/>
          </a:p>
          <a:p>
            <a:r>
              <a:rPr lang="en-US" smtClean="0"/>
              <a:t>Bottom-hat transformation </a:t>
            </a:r>
          </a:p>
          <a:p>
            <a:endParaRPr lang="en-US" smtClean="0"/>
          </a:p>
          <a:p>
            <a:r>
              <a:rPr lang="en-US" smtClean="0"/>
              <a:t>In MATLAB: </a:t>
            </a:r>
            <a:r>
              <a:rPr lang="en-US" b="1" smtClean="0"/>
              <a:t>imtophat and imbothat </a:t>
            </a:r>
          </a:p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15147" y="3027133"/>
            <a:ext cx="4762398" cy="680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98459" y="4328593"/>
            <a:ext cx="5075496" cy="75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Top-hat and bottom-hat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Example 13.10 </a:t>
            </a:r>
          </a:p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0886" y="2490443"/>
            <a:ext cx="5348201" cy="3692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Hands-on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Tutorial 13.1: Binary morphological image processing (page 325) </a:t>
            </a:r>
          </a:p>
          <a:p>
            <a:r>
              <a:rPr lang="en-US" smtClean="0"/>
              <a:t>Tutorial 13.2: Basic morphological algorithms (page 330)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5- Image sensing and acquisition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5- Image sensing and acquisition</Template>
  <TotalTime>3252</TotalTime>
  <Words>836</Words>
  <Application>Microsoft Office PowerPoint</Application>
  <PresentationFormat>Custom</PresentationFormat>
  <Paragraphs>112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CHAPTER 5- Image sensing and acquisition</vt:lpstr>
      <vt:lpstr>CHAPTER 13</vt:lpstr>
      <vt:lpstr>WHAT WILL WE LEARN?</vt:lpstr>
      <vt:lpstr>What is mathematical morphology?</vt:lpstr>
      <vt:lpstr>FUNDAMENTAL CONCEPTS AND OPERATIONS</vt:lpstr>
      <vt:lpstr>The Structuring Element (SE)</vt:lpstr>
      <vt:lpstr>In MATLAB</vt:lpstr>
      <vt:lpstr>DILATION AND EROSION</vt:lpstr>
      <vt:lpstr>DILATION AND EROSION</vt:lpstr>
      <vt:lpstr>COMPOUND OPERATIONS</vt:lpstr>
      <vt:lpstr>COMPOUND OPERATIONS</vt:lpstr>
      <vt:lpstr>COMPOUND OPERATIONS</vt:lpstr>
      <vt:lpstr>MORPHOLOGICAL FILTERING</vt:lpstr>
      <vt:lpstr>Boundary Extraction</vt:lpstr>
      <vt:lpstr>PowerPoint Presentation</vt:lpstr>
      <vt:lpstr>Region Filling</vt:lpstr>
      <vt:lpstr>Extraction and Labeling of Connected Components</vt:lpstr>
      <vt:lpstr>GRAYSCALE MORPHOLOGY</vt:lpstr>
      <vt:lpstr>GRAYSCALE MORPHOLOGY</vt:lpstr>
      <vt:lpstr>GRAYSCALE MORPHOLOGY</vt:lpstr>
      <vt:lpstr>GRAYSCALE MORPHOLOGY</vt:lpstr>
      <vt:lpstr>GRAYSCALE MORPHOLOGY</vt:lpstr>
      <vt:lpstr>GRAYSCALE MORPHOLOGY</vt:lpstr>
      <vt:lpstr>GRAYSCALE MORPHOLOGY</vt:lpstr>
      <vt:lpstr>Top-hat and bottom-hat </vt:lpstr>
      <vt:lpstr>Hands-on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13</dc:title>
  <dc:creator>Thuy Nguyen</dc:creator>
  <cp:lastModifiedBy>Nguyen </cp:lastModifiedBy>
  <cp:revision>131</cp:revision>
  <dcterms:created xsi:type="dcterms:W3CDTF">2017-06-14T07:47:23Z</dcterms:created>
  <dcterms:modified xsi:type="dcterms:W3CDTF">2021-02-02T03:43:42Z</dcterms:modified>
</cp:coreProperties>
</file>
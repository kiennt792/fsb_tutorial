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4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24/02/2021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14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/>
              <a:t>EDGE DETECTION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2208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What is edge detection and why is it so important to computer vision? </a:t>
            </a:r>
          </a:p>
          <a:p>
            <a:r>
              <a:rPr lang="en-US" smtClean="0"/>
              <a:t>What are the main edge detection techniques and how well do they work? </a:t>
            </a:r>
          </a:p>
          <a:p>
            <a:r>
              <a:rPr lang="en-US" smtClean="0"/>
              <a:t>How can edge detection be performed in MATLAB? </a:t>
            </a:r>
          </a:p>
          <a:p>
            <a:r>
              <a:rPr lang="en-US" smtClean="0"/>
              <a:t>What is the Hough Transform and how can it be used to post-process the results of an edge detection algorithm? </a:t>
            </a:r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4631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What is edge detection?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Edge detection is a fundamental image processing operation used in many computer vision solutions. </a:t>
            </a:r>
          </a:p>
          <a:p>
            <a:r>
              <a:rPr lang="en-US" smtClean="0"/>
              <a:t>Goal of edge detection algorithms: to find the most relevant edges in an image or scene. </a:t>
            </a:r>
          </a:p>
          <a:p>
            <a:pPr lvl="1"/>
            <a:r>
              <a:rPr lang="en-US" smtClean="0"/>
              <a:t>These edges should then be connected into meaningful lines and boundaries, resulting in a segmented image containing two or more regions. </a:t>
            </a:r>
          </a:p>
          <a:p>
            <a:pPr lvl="1"/>
            <a:r>
              <a:rPr lang="en-US" smtClean="0"/>
              <a:t>Subsequent stages in a machine vision system will use the segmented results for tasks such as object counting, measuring, feature extraction, and classification.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What is edge detection?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Biological vision: there is compelling evidence that the very early stages of the human visual system (HVS) contain edge-sensitive cells that respond strongly (i.e., exhibit a higher firing rate) when presented with edges of certain intensity and orientation. </a:t>
            </a:r>
          </a:p>
          <a:p>
            <a:pPr lvl="1"/>
            <a:r>
              <a:rPr lang="en-US" smtClean="0"/>
              <a:t>Edge detection algorithms attempt to emulate an ability present in the HVS. </a:t>
            </a:r>
          </a:p>
          <a:p>
            <a:pPr lvl="1"/>
            <a:r>
              <a:rPr lang="en-US" smtClean="0"/>
              <a:t>Such an ability is, according to many vision theorists, essential to all processing steps that take place afterward in the HVS.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edge detection?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mtClean="0"/>
              <a:t>Edge detection is a hard image processing problem. </a:t>
            </a:r>
          </a:p>
          <a:p>
            <a:r>
              <a:rPr lang="en-US" smtClean="0"/>
              <a:t>Most edge detection solutions exhibit limited performance in the presence of images containing real-world scenes. </a:t>
            </a:r>
          </a:p>
          <a:p>
            <a:r>
              <a:rPr lang="en-US" smtClean="0"/>
              <a:t>It is common to precede the edge detection stage with pre-processing operations such as noise reduction and illumination correction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Basic concepts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smtClean="0"/>
              <a:t>Edge: a boundary between two image regions having distinct characteristics according to some feature (e.g., gray level, color, or texture). </a:t>
            </a:r>
          </a:p>
          <a:p>
            <a:r>
              <a:rPr lang="en-US" sz="2800" smtClean="0"/>
              <a:t>In grayscale 2D images: a sharp variation of the intensity function across a portion of the image. </a:t>
            </a:r>
          </a:p>
          <a:p>
            <a:pPr>
              <a:buNone/>
            </a:pPr>
            <a:endParaRPr lang="en-US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2835577"/>
            <a:ext cx="4718050" cy="2760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Basic concepts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Edge detection methods usually rely on calculations of the first or second derivative along the intensity profile. </a:t>
            </a:r>
          </a:p>
          <a:p>
            <a:r>
              <a:rPr lang="en-US" smtClean="0"/>
              <a:t>The magnitude of the first derivative can be used to detect the presence of an edge at a certain point in the image. </a:t>
            </a:r>
          </a:p>
          <a:p>
            <a:r>
              <a:rPr lang="en-US" smtClean="0"/>
              <a:t>The sign of second derivative can be used to determine whether a pixel lies on the dark or bright side of an edge. </a:t>
            </a:r>
          </a:p>
          <a:p>
            <a:r>
              <a:rPr lang="en-US" smtClean="0"/>
              <a:t>Moreover, the zero crossing between its positive and negative peaks can be used to locate the center of thick edges.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Basic concepts 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First and second derivative 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66646" y="2560638"/>
            <a:ext cx="2842328" cy="362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Basic concepts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2359152" cy="3310128"/>
          </a:xfrm>
        </p:spPr>
        <p:txBody>
          <a:bodyPr/>
          <a:lstStyle/>
          <a:p>
            <a:r>
              <a:rPr lang="en-US" smtClean="0"/>
              <a:t>The influence of noise </a:t>
            </a:r>
          </a:p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53948" y="2269094"/>
            <a:ext cx="6546574" cy="391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Basic concepts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The process of edge detection consists of three main steps: </a:t>
            </a:r>
          </a:p>
          <a:p>
            <a:pPr lvl="1"/>
            <a:r>
              <a:rPr lang="en-US" smtClean="0"/>
              <a:t>Noise reduction </a:t>
            </a:r>
          </a:p>
          <a:p>
            <a:pPr lvl="1"/>
            <a:r>
              <a:rPr lang="en-US" smtClean="0"/>
              <a:t>Detection of edge points </a:t>
            </a:r>
          </a:p>
          <a:p>
            <a:pPr lvl="1"/>
            <a:r>
              <a:rPr lang="en-US" smtClean="0"/>
              <a:t>Edge localization </a:t>
            </a:r>
          </a:p>
          <a:p>
            <a:r>
              <a:rPr lang="en-US" smtClean="0"/>
              <a:t>In MATLAB: </a:t>
            </a:r>
            <a:r>
              <a:rPr lang="en-US" b="1" smtClean="0"/>
              <a:t>edge </a:t>
            </a:r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First-order derivative edge detection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Digital approximations of the first-order derivative 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Roberts: </a:t>
            </a:r>
          </a:p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74398" y="3228355"/>
            <a:ext cx="3844329" cy="114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91804" y="4450660"/>
            <a:ext cx="1825900" cy="1733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First-order derivative edge detection 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Prewitt operators: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Sobel operators: </a:t>
            </a:r>
          </a:p>
          <a:p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381" y="3382411"/>
            <a:ext cx="22764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2699" y="3264798"/>
            <a:ext cx="214312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First-order derivative edge detection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3260300" cy="3310128"/>
          </a:xfrm>
        </p:spPr>
        <p:txBody>
          <a:bodyPr/>
          <a:lstStyle/>
          <a:p>
            <a:r>
              <a:rPr lang="en-US" smtClean="0"/>
              <a:t>Prewitt operator</a:t>
            </a:r>
          </a:p>
          <a:p>
            <a:pPr>
              <a:buNone/>
            </a:pPr>
            <a:r>
              <a:rPr lang="en-US" smtClean="0"/>
              <a:t> (Example 14.1) </a:t>
            </a:r>
          </a:p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698435" y="2428118"/>
            <a:ext cx="5050403" cy="3785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48068" y="3865128"/>
            <a:ext cx="2605709" cy="2319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First-order derivative edge detection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Sobel operators: </a:t>
            </a:r>
          </a:p>
          <a:p>
            <a:pPr>
              <a:buNone/>
            </a:pPr>
            <a:r>
              <a:rPr lang="en-US" smtClean="0"/>
              <a:t>	(Example 14.2) </a:t>
            </a:r>
          </a:p>
          <a:p>
            <a:pPr>
              <a:buNone/>
            </a:pPr>
            <a:endParaRPr lang="en-US" smtClean="0"/>
          </a:p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0118" y="2517913"/>
            <a:ext cx="6716995" cy="3327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97494" y="3814823"/>
            <a:ext cx="2902226" cy="2336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First-order derivative edge detection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Kirsch compass masks: </a:t>
            </a:r>
          </a:p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03513" y="3067962"/>
            <a:ext cx="8580645" cy="3210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First-order derivative edge detection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Robinson compass masks: </a:t>
            </a:r>
          </a:p>
          <a:p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84175" y="3332718"/>
            <a:ext cx="7032142" cy="2629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First-order derivative edge detection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Sobel operator </a:t>
            </a:r>
          </a:p>
          <a:p>
            <a:pPr>
              <a:buNone/>
            </a:pPr>
            <a:r>
              <a:rPr lang="en-US" smtClean="0"/>
              <a:t>with threshold (example) </a:t>
            </a:r>
          </a:p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608" y="2324310"/>
            <a:ext cx="5502758" cy="3865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First-order derivative edge detection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Sobel operator with threshold (example) </a:t>
            </a:r>
          </a:p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89898" y="2560638"/>
            <a:ext cx="4101703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Second-order derivative edge detection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Problems with Laplacian: </a:t>
            </a:r>
          </a:p>
          <a:p>
            <a:pPr lvl="1"/>
            <a:r>
              <a:rPr lang="en-US" smtClean="0"/>
              <a:t>It generates “double edges”, i.e., positive and negative values for each edge. </a:t>
            </a:r>
          </a:p>
          <a:p>
            <a:pPr lvl="1"/>
            <a:r>
              <a:rPr lang="en-US" smtClean="0"/>
              <a:t>It is extremely sensitive to noise.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7704" y="2560320"/>
            <a:ext cx="5081944" cy="3310128"/>
          </a:xfrm>
        </p:spPr>
        <p:txBody>
          <a:bodyPr>
            <a:normAutofit lnSpcReduction="10000"/>
          </a:bodyPr>
          <a:lstStyle/>
          <a:p>
            <a:r>
              <a:rPr lang="en-US" smtClean="0"/>
              <a:t>In MATLAB: </a:t>
            </a:r>
          </a:p>
          <a:p>
            <a:pPr lvl="1">
              <a:buNone/>
            </a:pPr>
            <a:r>
              <a:rPr lang="en-US" b="1" smtClean="0"/>
              <a:t>h = fspecial('laplacian',0); </a:t>
            </a:r>
          </a:p>
          <a:p>
            <a:pPr lvl="1">
              <a:buNone/>
            </a:pPr>
            <a:r>
              <a:rPr lang="en-US" b="1" smtClean="0"/>
              <a:t>J = edge(I,'zerocross',t,h);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Second-order derivative edge detection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5196" y="2586825"/>
            <a:ext cx="3750630" cy="3310128"/>
          </a:xfrm>
        </p:spPr>
        <p:txBody>
          <a:bodyPr/>
          <a:lstStyle/>
          <a:p>
            <a:r>
              <a:rPr lang="en-US" smtClean="0"/>
              <a:t>Laplacian and zero-cross </a:t>
            </a:r>
          </a:p>
          <a:p>
            <a:pPr>
              <a:buNone/>
            </a:pPr>
            <a:r>
              <a:rPr lang="en-US" smtClean="0"/>
              <a:t>	(Example 14.3) </a:t>
            </a:r>
          </a:p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32321" y="2584172"/>
            <a:ext cx="5881183" cy="3246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Second-order derivative edge detection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Laplacian and zero-cross (Example 14.3) </a:t>
            </a:r>
          </a:p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679095" y="2440928"/>
            <a:ext cx="3081477" cy="373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Second-order derivative edge detection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7165" y="2520564"/>
            <a:ext cx="6467061" cy="3310128"/>
          </a:xfrm>
        </p:spPr>
        <p:txBody>
          <a:bodyPr>
            <a:noAutofit/>
          </a:bodyPr>
          <a:lstStyle/>
          <a:p>
            <a:r>
              <a:rPr lang="en-US" sz="2400" smtClean="0"/>
              <a:t>Laplacian of Gaussian (LoG): </a:t>
            </a:r>
          </a:p>
          <a:p>
            <a:pPr lvl="1"/>
            <a:r>
              <a:rPr lang="en-US" sz="2400" smtClean="0"/>
              <a:t>Works by smoothing the image with a Gaussian low-pass filter, and then applying a Laplacian edge detector to the result. </a:t>
            </a:r>
          </a:p>
          <a:p>
            <a:pPr lvl="1"/>
            <a:r>
              <a:rPr lang="en-US" sz="2400" smtClean="0"/>
              <a:t>The LoG filter can sometimes be approximated by taking the differences of two Gaussians of different widths, in a method known as </a:t>
            </a:r>
            <a:r>
              <a:rPr lang="en-US" sz="2400" i="1" smtClean="0"/>
              <a:t>Difference of Gaussians (DoG). </a:t>
            </a: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516588" y="2441369"/>
            <a:ext cx="3559072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Second-order derivative edge detection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Laplacian of Gaussian (LoG) (Example 14.4): </a:t>
            </a:r>
          </a:p>
          <a:p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0784" y="3872741"/>
            <a:ext cx="46386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489185" y="2560638"/>
            <a:ext cx="4103129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Canny edge detector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514350" indent="-514350"/>
            <a:r>
              <a:rPr lang="en-US" sz="2000" smtClean="0"/>
              <a:t>The input image is smoothed using a Gaussian lowpass filter (LPF), with a specified value of σ. </a:t>
            </a:r>
          </a:p>
          <a:p>
            <a:pPr marL="514350" indent="-514350"/>
            <a:r>
              <a:rPr lang="en-US" sz="2000" smtClean="0"/>
              <a:t>The local gradient (intensity and direction) is computed for each point in the smoothed image. </a:t>
            </a:r>
          </a:p>
          <a:p>
            <a:pPr marL="514350" indent="-514350"/>
            <a:r>
              <a:rPr lang="en-US" sz="2000" smtClean="0"/>
              <a:t>The edge points at the output of step 2 result in wide ridges. The algorithm thins those ridges, leaving only the pixels at the top of each ridge (</a:t>
            </a:r>
            <a:r>
              <a:rPr lang="en-US" sz="2000" i="1" smtClean="0"/>
              <a:t>non-maximal suppression).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pPr marL="514350" indent="-514350"/>
            <a:r>
              <a:rPr lang="en-US" sz="7400" smtClean="0"/>
              <a:t>The ridge pixels are then thresholded using two thresholds, Tlow and Thigh: ridge pixels with value greater than Thigh are considered strong edge pixels; ridge pixels with values between Tlow and Thigh are said to be weak pixels. This process is known as </a:t>
            </a:r>
            <a:r>
              <a:rPr lang="en-US" sz="7400" i="1" smtClean="0"/>
              <a:t>hysteresis thresholding. </a:t>
            </a:r>
          </a:p>
          <a:p>
            <a:pPr marL="514350" indent="-514350"/>
            <a:r>
              <a:rPr lang="en-US" sz="7400" smtClean="0"/>
              <a:t>The algorithm performs edge linking, aggregating weak pixels that are 8-connected to the strong pixels. </a:t>
            </a:r>
          </a:p>
          <a:p>
            <a:r>
              <a:rPr lang="en-US" sz="9600" smtClean="0"/>
              <a:t>In MATLAB: </a:t>
            </a:r>
          </a:p>
          <a:p>
            <a:pPr>
              <a:buNone/>
            </a:pPr>
            <a:r>
              <a:rPr lang="en-US" sz="9600" b="1" smtClean="0"/>
              <a:t>		J = edge(I, 'canny', T, sigma); </a:t>
            </a:r>
            <a:endParaRPr lang="en-US" sz="9600" smtClean="0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Canny edge detector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Example 14.5:</a:t>
            </a:r>
            <a:endParaRPr lang="en-US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58748" y="2897869"/>
            <a:ext cx="7045874" cy="309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3609" y="3193773"/>
            <a:ext cx="3305453" cy="2656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Hough transform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 mathematical method designed to find lines in images. </a:t>
            </a:r>
          </a:p>
          <a:p>
            <a:pPr lvl="1"/>
            <a:r>
              <a:rPr lang="en-US" smtClean="0"/>
              <a:t>It can be used for linking the results of edge detection, turning potentially sparse, broken, or isolated edges into useful lines that correspond to the actual edges in the image.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Hough transform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mtClean="0"/>
              <a:t>Let (x,y) be the coordinates of a point in a binary image (containing thresholded edge detection results). </a:t>
            </a:r>
          </a:p>
          <a:p>
            <a:r>
              <a:rPr lang="en-US" smtClean="0"/>
              <a:t>The Hough transform stores in an accumulator array all pairs (a,b) that satisfy the equation y = ax+ b. The (a,b) array is called the transform array. </a:t>
            </a:r>
          </a:p>
          <a:p>
            <a:pPr lvl="1"/>
            <a:r>
              <a:rPr lang="en-US" smtClean="0"/>
              <a:t>Example:, the point (x,y) = (1,3) in the input image will result in the equation </a:t>
            </a:r>
          </a:p>
          <a:p>
            <a:pPr lvl="1">
              <a:buNone/>
            </a:pPr>
            <a:r>
              <a:rPr lang="en-US" smtClean="0"/>
              <a:t>	b = -a + 3, which can be plotted as a line that represents all pairs (a,b) that satisfy this equation. </a:t>
            </a:r>
          </a:p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endParaRPr lang="en-US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8206" y="3177003"/>
            <a:ext cx="4715082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Hough transform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mtClean="0"/>
              <a:t>Since each point in the image will map to a line in the transform domain, repeating the process for other points will result in many intersecting lines, one per point. </a:t>
            </a:r>
          </a:p>
          <a:p>
            <a:r>
              <a:rPr lang="en-US" smtClean="0"/>
              <a:t>The meaning of two or more lines intersecting in the transform domain is that the points to which they correspond are aligned in the image. </a:t>
            </a:r>
          </a:p>
          <a:p>
            <a:r>
              <a:rPr lang="en-US" smtClean="0"/>
              <a:t>The points with the greatest number of intersections in the transform domain correspond to the longest lines in the image. </a:t>
            </a:r>
          </a:p>
          <a:p>
            <a:endParaRPr lang="en-US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11912" y="3020219"/>
            <a:ext cx="42576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Hough transform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7" y="2560320"/>
            <a:ext cx="6414318" cy="3310128"/>
          </a:xfrm>
        </p:spPr>
        <p:txBody>
          <a:bodyPr>
            <a:normAutofit fontScale="25000" lnSpcReduction="20000"/>
          </a:bodyPr>
          <a:lstStyle/>
          <a:p>
            <a:r>
              <a:rPr lang="en-US" sz="8000" smtClean="0"/>
              <a:t>Coordinate conversion </a:t>
            </a:r>
          </a:p>
          <a:p>
            <a:pPr lvl="1"/>
            <a:r>
              <a:rPr lang="en-US" sz="7600" smtClean="0"/>
              <a:t>Describing lines using the equation y = ax + b (where a represents the gradient) poses a problem, though, since vertical lines have infinite gradient. </a:t>
            </a:r>
          </a:p>
          <a:p>
            <a:pPr lvl="2"/>
            <a:r>
              <a:rPr lang="en-US" sz="7200" smtClean="0"/>
              <a:t>This limitation can be circumvented by using the normal representation of a line, which consists of two parameters: ρ and θ. </a:t>
            </a:r>
          </a:p>
          <a:p>
            <a:pPr lvl="2"/>
            <a:r>
              <a:rPr lang="en-US" sz="7200" smtClean="0"/>
              <a:t>In this new representation, vertical lines will have θ = 0. </a:t>
            </a:r>
          </a:p>
          <a:p>
            <a:pPr lvl="2"/>
            <a:r>
              <a:rPr lang="en-US" sz="7200" smtClean="0"/>
              <a:t>It is common to allow ρ to have negative values, therefore restricting θ to the range −90◦ &lt; θ ≤ 90◦. </a:t>
            </a:r>
          </a:p>
          <a:p>
            <a:endParaRPr lang="en-US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021" y="3102838"/>
            <a:ext cx="314325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Hough transform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400" smtClean="0"/>
              <a:t>Under the new set of coordinates, the Hough transform can be implemented as follows: </a:t>
            </a:r>
          </a:p>
          <a:p>
            <a:pPr lvl="1">
              <a:buNone/>
            </a:pPr>
            <a:r>
              <a:rPr lang="en-US" sz="4400" smtClean="0"/>
              <a:t>1. Create a 2D array corresponding to a discrete set of values for ρ and θ. Each element in this array is often referred to as an accumulator cell. </a:t>
            </a:r>
          </a:p>
          <a:p>
            <a:pPr lvl="1">
              <a:buNone/>
            </a:pPr>
            <a:r>
              <a:rPr lang="en-US" sz="4400" smtClean="0"/>
              <a:t>2. For each pixel (x,y) in the image and for each chosen value of θ, compute x cos θ + y sin θ and write the result in the corresponding position (ρ, θ) in the accumulator array. </a:t>
            </a:r>
          </a:p>
          <a:p>
            <a:pPr lvl="1">
              <a:buNone/>
            </a:pPr>
            <a:r>
              <a:rPr lang="en-US" sz="4400" smtClean="0"/>
              <a:t>3. The highest values in the (ρ, θ) array will correspond to the most relevant lines in the image.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Hough transform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244" y="2556932"/>
            <a:ext cx="9601196" cy="3318936"/>
          </a:xfrm>
        </p:spPr>
        <p:txBody>
          <a:bodyPr>
            <a:normAutofit fontScale="85000" lnSpcReduction="20000"/>
          </a:bodyPr>
          <a:lstStyle/>
          <a:p>
            <a:r>
              <a:rPr lang="en-US" smtClean="0"/>
              <a:t>In MATLAB: </a:t>
            </a:r>
          </a:p>
          <a:p>
            <a:pPr lvl="1"/>
            <a:r>
              <a:rPr lang="en-US" smtClean="0"/>
              <a:t>The IPT contains a function for Hough transform calculations, hough, which takes a binary image as an input parameter, and returns the corresponding Hough transform matrix and the arrays of ρ and θ values over which the Hough transform was calculated. </a:t>
            </a:r>
          </a:p>
          <a:p>
            <a:pPr lvl="1"/>
            <a:r>
              <a:rPr lang="en-US" smtClean="0"/>
              <a:t>Optionally, the resolution of the discretized 2D array for both ρ and θ can be specified as additional parameters.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Hough transform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Example 14.6</a:t>
            </a:r>
            <a:endParaRPr lang="en-US" sz="280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6301" y="2953371"/>
            <a:ext cx="7667206" cy="3222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Hough transform</a:t>
            </a:r>
            <a:endParaRPr lang="en-US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8325422" y="2613646"/>
            <a:ext cx="2935869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476822" y="2560320"/>
            <a:ext cx="6262447" cy="3310128"/>
          </a:xfrm>
        </p:spPr>
        <p:txBody>
          <a:bodyPr>
            <a:normAutofit fontScale="77500" lnSpcReduction="20000"/>
          </a:bodyPr>
          <a:lstStyle/>
          <a:p>
            <a:r>
              <a:rPr lang="en-US" smtClean="0"/>
              <a:t>In MATLAB: </a:t>
            </a:r>
          </a:p>
          <a:p>
            <a:r>
              <a:rPr lang="en-US" smtClean="0"/>
              <a:t>The IPT also includes two useful companion functions for exploring and plotting the results of Hough Transform calculations: </a:t>
            </a:r>
          </a:p>
          <a:p>
            <a:r>
              <a:rPr lang="en-US" b="1" smtClean="0"/>
              <a:t>houghpeaks: </a:t>
            </a:r>
            <a:r>
              <a:rPr lang="en-US" smtClean="0"/>
              <a:t>identifies the k most salient peaks in the Hough transform results, where k is passed as a parameter. </a:t>
            </a:r>
          </a:p>
          <a:p>
            <a:r>
              <a:rPr lang="en-US" b="1" smtClean="0"/>
              <a:t>houghlines: </a:t>
            </a:r>
            <a:r>
              <a:rPr lang="en-US" smtClean="0"/>
              <a:t>draws the lines associated with the highest peaks on top of the original image.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Hough transform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2928995" cy="3310128"/>
          </a:xfrm>
        </p:spPr>
        <p:txBody>
          <a:bodyPr/>
          <a:lstStyle/>
          <a:p>
            <a:r>
              <a:rPr lang="en-US" smtClean="0"/>
              <a:t>Example 14.7 </a:t>
            </a:r>
          </a:p>
          <a:p>
            <a:endParaRPr lang="en-US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255026" y="2517913"/>
            <a:ext cx="3899383" cy="3684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Hands-on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Tutorial 14.1: Edge detection (page 354)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5- Image sensing and acquisition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5- Image sensing and acquisition</Template>
  <TotalTime>9621</TotalTime>
  <Words>1421</Words>
  <Application>Microsoft Office PowerPoint</Application>
  <PresentationFormat>Custom</PresentationFormat>
  <Paragraphs>127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CHAPTER 5- Image sensing and acquisition</vt:lpstr>
      <vt:lpstr>CHAPTER 14</vt:lpstr>
      <vt:lpstr>WHAT WILL WE LEARN?</vt:lpstr>
      <vt:lpstr>What is edge detection? </vt:lpstr>
      <vt:lpstr>What is edge detection? </vt:lpstr>
      <vt:lpstr>What is edge detection?</vt:lpstr>
      <vt:lpstr>Basic concepts</vt:lpstr>
      <vt:lpstr>Basic concepts </vt:lpstr>
      <vt:lpstr>Basic concepts </vt:lpstr>
      <vt:lpstr>Basic concepts </vt:lpstr>
      <vt:lpstr>Basic concepts </vt:lpstr>
      <vt:lpstr>First-order derivative edge detection </vt:lpstr>
      <vt:lpstr>First-order derivative edge detection </vt:lpstr>
      <vt:lpstr>First-order derivative edge detection </vt:lpstr>
      <vt:lpstr>First-order derivative edge detection </vt:lpstr>
      <vt:lpstr>First-order derivative edge detection </vt:lpstr>
      <vt:lpstr>First-order derivative edge detection </vt:lpstr>
      <vt:lpstr>First-order derivative edge detection </vt:lpstr>
      <vt:lpstr>First-order derivative edge detection </vt:lpstr>
      <vt:lpstr>Second-order derivative edge detection </vt:lpstr>
      <vt:lpstr>Second-order derivative edge detection </vt:lpstr>
      <vt:lpstr>Second-order derivative edge detection </vt:lpstr>
      <vt:lpstr>Second-order derivative edge detection </vt:lpstr>
      <vt:lpstr>Second-order derivative edge detection </vt:lpstr>
      <vt:lpstr>The Canny edge detector </vt:lpstr>
      <vt:lpstr>The Canny edge detector</vt:lpstr>
      <vt:lpstr>The Hough transform</vt:lpstr>
      <vt:lpstr>The Hough transform</vt:lpstr>
      <vt:lpstr>The Hough transform</vt:lpstr>
      <vt:lpstr>The Hough transform</vt:lpstr>
      <vt:lpstr>The Hough transform</vt:lpstr>
      <vt:lpstr>The Hough transform</vt:lpstr>
      <vt:lpstr>The Hough transform</vt:lpstr>
      <vt:lpstr>The Hough transform</vt:lpstr>
      <vt:lpstr>The Hough transform</vt:lpstr>
      <vt:lpstr>Hands-on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</dc:title>
  <dc:creator>Thuy Nguyen</dc:creator>
  <cp:lastModifiedBy>Nguyen </cp:lastModifiedBy>
  <cp:revision>19</cp:revision>
  <dcterms:created xsi:type="dcterms:W3CDTF">2017-06-15T05:42:51Z</dcterms:created>
  <dcterms:modified xsi:type="dcterms:W3CDTF">2021-02-24T02:05:06Z</dcterms:modified>
</cp:coreProperties>
</file>
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7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21/04/2018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8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GRAY-LEVEL TRANSFORMATIONS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What does it mean to “enhance” an image?</a:t>
            </a:r>
          </a:p>
          <a:p>
            <a:r>
              <a:rPr lang="en-US" smtClean="0"/>
              <a:t>How can image enhancement be achieved using gray-level transformations?</a:t>
            </a:r>
          </a:p>
          <a:p>
            <a:r>
              <a:rPr lang="en-US" smtClean="0"/>
              <a:t>What are the most commonly used gray-level transformations and how can they be implemented using MATLAB?</a:t>
            </a:r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smtClean="0">
                <a:latin typeface="Arial Black" pitchFamily="34" charset="0"/>
              </a:rPr>
              <a:t>Image enhancement in the spatial domain</a:t>
            </a:r>
            <a:endParaRPr lang="en-US" sz="4000" b="1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mtClean="0"/>
              <a:t>Image enhancement has 2 goals:</a:t>
            </a:r>
          </a:p>
          <a:p>
            <a:pPr lvl="1"/>
            <a:r>
              <a:rPr lang="en-US" smtClean="0"/>
              <a:t>Improve the subjective quality of an image for human viewing</a:t>
            </a:r>
          </a:p>
          <a:p>
            <a:pPr lvl="1"/>
            <a:r>
              <a:rPr lang="en-US" smtClean="0"/>
              <a:t>Modify the image to make it more suitable for further analysis and automatic extraction of its contents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434002"/>
            <a:ext cx="4718050" cy="156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SPATIAL TRANSFORMATIONS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5974222" cy="331012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i="1" smtClean="0"/>
              <a:t>			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g(x,y)= T[f(x,y)]</a:t>
            </a:r>
          </a:p>
          <a:p>
            <a:pPr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Or 		s = T [r]</a:t>
            </a:r>
          </a:p>
          <a:p>
            <a:r>
              <a:rPr lang="en-US" sz="3800" smtClean="0"/>
              <a:t>Point transformations may be linear (e.g., negative), piecewise linear (e.g., graylevel slicing), or nonlinear (e.g., gamma correction)</a:t>
            </a:r>
          </a:p>
          <a:p>
            <a:r>
              <a:rPr lang="en-US" sz="3800" smtClean="0"/>
              <a:t>Examples of basic linear (identity and negative) and nonlinear (log, inverse log, power, also known as gamma, and n</a:t>
            </a:r>
            <a:r>
              <a:rPr lang="en-US" sz="3800" baseline="30000" smtClean="0"/>
              <a:t>th</a:t>
            </a:r>
            <a:r>
              <a:rPr lang="en-US" sz="3800" smtClean="0"/>
              <a:t> root) transformation functions</a:t>
            </a:r>
            <a:r>
              <a:rPr lang="en-US" sz="3800" i="1" smtClean="0"/>
              <a:t>.</a:t>
            </a:r>
            <a:endParaRPr lang="en-US" sz="3800" b="1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38753" y="2847204"/>
            <a:ext cx="4380615" cy="2736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Linear point transformations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 = c ・ r + b</a:t>
            </a:r>
          </a:p>
          <a:p>
            <a:pPr lvl="1">
              <a:buNone/>
            </a:pPr>
            <a:r>
              <a:rPr lang="en-US" b="1" smtClean="0"/>
              <a:t>c</a:t>
            </a:r>
            <a:r>
              <a:rPr lang="en-US" smtClean="0"/>
              <a:t>: controlling the contrast of the output image</a:t>
            </a:r>
          </a:p>
          <a:p>
            <a:pPr lvl="1">
              <a:buNone/>
            </a:pPr>
            <a:r>
              <a:rPr lang="en-US" b="1" smtClean="0"/>
              <a:t>b</a:t>
            </a:r>
            <a:r>
              <a:rPr lang="en-US" smtClean="0"/>
              <a:t> : impacts the output image’s overall brightness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40" y="854541"/>
            <a:ext cx="2596113" cy="910463"/>
          </a:xfrm>
        </p:spPr>
        <p:txBody>
          <a:bodyPr/>
          <a:lstStyle/>
          <a:p>
            <a:r>
              <a:rPr lang="en-US" smtClean="0"/>
              <a:t>Example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325579" y="680483"/>
            <a:ext cx="8011712" cy="1594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077557" y="4076534"/>
            <a:ext cx="8752612" cy="213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9284" y="2334059"/>
            <a:ext cx="7931888" cy="170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Contrast Manipulation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5187412" cy="2926080"/>
          </a:xfrm>
        </p:spPr>
        <p:txBody>
          <a:bodyPr>
            <a:normAutofit fontScale="92500" lnSpcReduction="20000"/>
          </a:bodyPr>
          <a:lstStyle/>
          <a:p>
            <a:r>
              <a:rPr lang="en-US" smtClean="0"/>
              <a:t>Contrast manipulation:</a:t>
            </a:r>
          </a:p>
          <a:p>
            <a:pPr lvl="1"/>
            <a:r>
              <a:rPr lang="en-US" smtClean="0"/>
              <a:t> f &lt; m are compressed toward darker values in the output image</a:t>
            </a:r>
          </a:p>
          <a:p>
            <a:pPr lvl="1"/>
            <a:r>
              <a:rPr lang="en-US" smtClean="0"/>
              <a:t>f &gt; m are mapped to brighter pixel values in the resulting image</a:t>
            </a:r>
          </a:p>
          <a:p>
            <a:r>
              <a:rPr lang="en-US" smtClean="0"/>
              <a:t>autocontrast function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41041" y="2180839"/>
            <a:ext cx="3946082" cy="205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3494" y="5400234"/>
            <a:ext cx="3285682" cy="83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74958" y="4476320"/>
            <a:ext cx="3658485" cy="1701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>
                <a:latin typeface="COM"/>
              </a:rPr>
              <a:t>Imcontrast: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creates an Adjust Contrast tool in a separate figure that is associated with the grayscale image in the current figure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use to adjust the black-to-white mapping used to display the image</a:t>
            </a:r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68662" y="2530366"/>
            <a:ext cx="4718050" cy="190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7189" y="4455178"/>
            <a:ext cx="3028478" cy="1632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Negative (</a:t>
            </a:r>
            <a:r>
              <a:rPr lang="en-US" i="1" smtClean="0"/>
              <a:t>contrast reverse)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7" y="2560320"/>
            <a:ext cx="4997849" cy="3310128"/>
          </a:xfrm>
        </p:spPr>
        <p:txBody>
          <a:bodyPr/>
          <a:lstStyle/>
          <a:p>
            <a:pPr>
              <a:buNone/>
            </a:pPr>
            <a:r>
              <a:rPr lang="en-US" i="1" smtClean="0"/>
              <a:t>	g = −f + Lmax</a:t>
            </a:r>
            <a:endParaRPr lang="en-US" smtClean="0"/>
          </a:p>
          <a:p>
            <a:r>
              <a:rPr lang="en-US" smtClean="0"/>
              <a:t>In matlab:</a:t>
            </a:r>
          </a:p>
          <a:p>
            <a:pPr>
              <a:buNone/>
            </a:pPr>
            <a:r>
              <a:rPr lang="en-US" smtClean="0"/>
              <a:t>	IM2 = </a:t>
            </a:r>
            <a:r>
              <a:rPr lang="en-US" b="1" smtClean="0"/>
              <a:t>imcomplement</a:t>
            </a:r>
            <a:r>
              <a:rPr lang="en-US" smtClean="0"/>
              <a:t>(IM)</a:t>
            </a:r>
            <a:br>
              <a:rPr lang="en-US" smtClean="0"/>
            </a:br>
            <a:endParaRPr lang="en-US" smtClean="0"/>
          </a:p>
          <a:p>
            <a:pPr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77670" y="2977118"/>
            <a:ext cx="4718050" cy="2476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Power Law (Gamma) Transformations</a:t>
            </a:r>
            <a:endParaRPr lang="en-US"/>
          </a:p>
        </p:txBody>
      </p:sp>
      <p:graphicFrame>
        <p:nvGraphicFramePr>
          <p:cNvPr id="5" name="Content Placeholder 4"/>
          <p:cNvGraphicFramePr>
            <a:graphicFrameLocks noChangeAspect="1"/>
          </p:cNvGraphicFramePr>
          <p:nvPr>
            <p:ph sz="half" idx="1"/>
          </p:nvPr>
        </p:nvGraphicFramePr>
        <p:xfrm>
          <a:off x="1476102" y="2468881"/>
          <a:ext cx="1854926" cy="781139"/>
        </p:xfrm>
        <a:graphic>
          <a:graphicData uri="http://schemas.openxmlformats.org/presentationml/2006/ole">
            <p:oleObj spid="_x0000_s7170" name="Equation" r:id="rId3" imgW="482400" imgH="203040" progId="Equation.3">
              <p:embed/>
            </p:oleObj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98087" y="2874783"/>
            <a:ext cx="2558575" cy="2415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6214848" y="2560638"/>
            <a:ext cx="465180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44583" y="5073130"/>
            <a:ext cx="5577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/>
              <a:t>Matlab:</a:t>
            </a:r>
          </a:p>
          <a:p>
            <a:r>
              <a:rPr lang="en-US" sz="3200" smtClean="0"/>
              <a:t> </a:t>
            </a: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g = imadjust(f,[],[],gamma);</a:t>
            </a:r>
            <a:endParaRPr lang="en-US" sz="2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Log Transformations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i="1" smtClean="0">
                <a:latin typeface="Courier New" pitchFamily="49" charset="0"/>
                <a:cs typeface="Courier New" pitchFamily="49" charset="0"/>
              </a:rPr>
              <a:t>s = c ・ log(1 + r)</a:t>
            </a:r>
          </a:p>
          <a:p>
            <a:pPr>
              <a:buNone/>
            </a:pPr>
            <a:endParaRPr lang="en-US"/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2973186"/>
            <a:ext cx="4718050" cy="248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Piecewise Linear Transformations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5929" y="2601687"/>
            <a:ext cx="804862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SPECIFYING THE TRANSFORMATION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See the examples 8.5, 8.6</a:t>
            </a:r>
          </a:p>
          <a:p>
            <a:pPr>
              <a:buNone/>
            </a:pPr>
            <a:r>
              <a:rPr lang="en-US" smtClean="0"/>
              <a:t> 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Hands 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TUTORIAL 8.1 &lt;page 163&gt;</a:t>
            </a:r>
          </a:p>
          <a:p>
            <a:r>
              <a:rPr lang="en-US" b="1" smtClean="0"/>
              <a:t>PROBLEMS &lt;page 169&gt;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624840"/>
            <a:ext cx="10226037" cy="525102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sv-SE" dirty="0" smtClean="0"/>
              <a:t>x = 0:255; c = 255 / log(256);</a:t>
            </a:r>
          </a:p>
          <a:p>
            <a:pPr>
              <a:buNone/>
            </a:pPr>
            <a:r>
              <a:rPr lang="en-US" b="1" dirty="0" smtClean="0">
                <a:solidFill>
                  <a:srgbClr val="002060"/>
                </a:solidFill>
              </a:rPr>
              <a:t>y = c * log(x + 1);</a:t>
            </a:r>
          </a:p>
          <a:p>
            <a:pPr>
              <a:buNone/>
            </a:pPr>
            <a:r>
              <a:rPr lang="en-US" dirty="0" smtClean="0"/>
              <a:t>figure, subplot(2,2,1), plot(y),title('Log Mapping Function'), axis tight, axis </a:t>
            </a:r>
            <a:r>
              <a:rPr lang="en-US" dirty="0" smtClean="0"/>
              <a:t>square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 = </a:t>
            </a:r>
            <a:r>
              <a:rPr lang="en-US" dirty="0" err="1" smtClean="0"/>
              <a:t>imread</a:t>
            </a:r>
            <a:r>
              <a:rPr lang="en-US" dirty="0" smtClean="0"/>
              <a:t>('face.jpg');</a:t>
            </a:r>
          </a:p>
          <a:p>
            <a:pPr>
              <a:buNone/>
            </a:pPr>
            <a:r>
              <a:rPr lang="en-US" dirty="0" err="1" smtClean="0"/>
              <a:t>I_log</a:t>
            </a:r>
            <a:r>
              <a:rPr lang="en-US" dirty="0" smtClean="0"/>
              <a:t> = uint8(y(I + 1));</a:t>
            </a:r>
          </a:p>
          <a:p>
            <a:pPr>
              <a:buNone/>
            </a:pPr>
            <a:r>
              <a:rPr lang="en-US" dirty="0" smtClean="0"/>
              <a:t>subplot(2,2,2), </a:t>
            </a:r>
            <a:r>
              <a:rPr lang="en-US" dirty="0" err="1" smtClean="0"/>
              <a:t>imshow</a:t>
            </a:r>
            <a:r>
              <a:rPr lang="en-US" dirty="0" smtClean="0"/>
              <a:t>(I), title('Original Image');</a:t>
            </a:r>
          </a:p>
          <a:p>
            <a:pPr>
              <a:buNone/>
            </a:pPr>
            <a:r>
              <a:rPr lang="en-US" dirty="0" smtClean="0"/>
              <a:t>subplot(2,2,3), </a:t>
            </a:r>
            <a:r>
              <a:rPr lang="en-US" dirty="0" err="1" smtClean="0"/>
              <a:t>imshow</a:t>
            </a:r>
            <a:r>
              <a:rPr lang="en-US" dirty="0" smtClean="0"/>
              <a:t>(</a:t>
            </a:r>
            <a:r>
              <a:rPr lang="en-US" dirty="0" err="1" smtClean="0"/>
              <a:t>I_log</a:t>
            </a:r>
            <a:r>
              <a:rPr lang="en-US" dirty="0" smtClean="0"/>
              <a:t>), title('Adjusted Image');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13031</TotalTime>
  <Words>306</Words>
  <Application>Microsoft Office PowerPoint</Application>
  <PresentationFormat>Custom</PresentationFormat>
  <Paragraphs>52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CHAPTER 5- Image sensing and acquisition</vt:lpstr>
      <vt:lpstr>Equation</vt:lpstr>
      <vt:lpstr>CHAPTER 8</vt:lpstr>
      <vt:lpstr>WHAT WILL WE LEARN?</vt:lpstr>
      <vt:lpstr>Image enhancement in the spatial domain</vt:lpstr>
      <vt:lpstr>SPATIAL TRANSFORMATIONS</vt:lpstr>
      <vt:lpstr>Linear point transformations</vt:lpstr>
      <vt:lpstr>Example</vt:lpstr>
      <vt:lpstr>Contrast Manipulation</vt:lpstr>
      <vt:lpstr>In MATLAB</vt:lpstr>
      <vt:lpstr>Negative (contrast reverse)</vt:lpstr>
      <vt:lpstr>Power Law (Gamma) Transformations</vt:lpstr>
      <vt:lpstr>Log Transformations</vt:lpstr>
      <vt:lpstr>Piecewise Linear Transformations</vt:lpstr>
      <vt:lpstr>SPECIFYING THE TRANSFORMATION FUNCTION</vt:lpstr>
      <vt:lpstr>Hands on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Thuy Nguyen</dc:creator>
  <cp:lastModifiedBy>thuy</cp:lastModifiedBy>
  <cp:revision>204</cp:revision>
  <dcterms:created xsi:type="dcterms:W3CDTF">2017-05-14T08:00:14Z</dcterms:created>
  <dcterms:modified xsi:type="dcterms:W3CDTF">2018-04-23T04:08:01Z</dcterms:modified>
</cp:coreProperties>
</file>